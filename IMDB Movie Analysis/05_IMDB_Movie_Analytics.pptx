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embeddedFontLst>
    <p:embeddedFont>
      <p:font typeface="Playfair Display Medium"/>
      <p:regular r:id="rId63"/>
      <p:bold r:id="rId64"/>
      <p:italic r:id="rId65"/>
      <p:boldItalic r:id="rId66"/>
    </p:embeddedFont>
    <p:embeddedFont>
      <p:font typeface="Playfair Display"/>
      <p:regular r:id="rId67"/>
      <p:bold r:id="rId68"/>
      <p:italic r:id="rId69"/>
      <p:boldItalic r:id="rId70"/>
    </p:embeddedFont>
    <p:embeddedFont>
      <p:font typeface="Montserrat"/>
      <p:regular r:id="rId71"/>
      <p:bold r:id="rId72"/>
      <p:italic r:id="rId73"/>
      <p:boldItalic r:id="rId74"/>
    </p:embeddedFont>
    <p:embeddedFont>
      <p:font typeface="Oswald"/>
      <p:regular r:id="rId75"/>
      <p:bold r:id="rId76"/>
    </p:embeddedFont>
    <p:embeddedFont>
      <p:font typeface="Playfair Display SemiBold"/>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PlayfairDisplay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ontserrat-italic.fntdata"/><Relationship Id="rId72" Type="http://schemas.openxmlformats.org/officeDocument/2006/relationships/font" Target="fonts/Montserrat-bold.fntdata"/><Relationship Id="rId31" Type="http://schemas.openxmlformats.org/officeDocument/2006/relationships/slide" Target="slides/slide26.xml"/><Relationship Id="rId75" Type="http://schemas.openxmlformats.org/officeDocument/2006/relationships/font" Target="fonts/Oswald-regular.fntdata"/><Relationship Id="rId30" Type="http://schemas.openxmlformats.org/officeDocument/2006/relationships/slide" Target="slides/slide25.xml"/><Relationship Id="rId74" Type="http://schemas.openxmlformats.org/officeDocument/2006/relationships/font" Target="fonts/Montserrat-boldItalic.fntdata"/><Relationship Id="rId33" Type="http://schemas.openxmlformats.org/officeDocument/2006/relationships/slide" Target="slides/slide28.xml"/><Relationship Id="rId77" Type="http://schemas.openxmlformats.org/officeDocument/2006/relationships/font" Target="fonts/PlayfairDisplaySemiBold-regular.fntdata"/><Relationship Id="rId32" Type="http://schemas.openxmlformats.org/officeDocument/2006/relationships/slide" Target="slides/slide27.xml"/><Relationship Id="rId76" Type="http://schemas.openxmlformats.org/officeDocument/2006/relationships/font" Target="fonts/Oswald-bold.fntdata"/><Relationship Id="rId35" Type="http://schemas.openxmlformats.org/officeDocument/2006/relationships/slide" Target="slides/slide30.xml"/><Relationship Id="rId79" Type="http://schemas.openxmlformats.org/officeDocument/2006/relationships/font" Target="fonts/PlayfairDisplaySemiBold-italic.fntdata"/><Relationship Id="rId34" Type="http://schemas.openxmlformats.org/officeDocument/2006/relationships/slide" Target="slides/slide29.xml"/><Relationship Id="rId78" Type="http://schemas.openxmlformats.org/officeDocument/2006/relationships/font" Target="fonts/PlayfairDisplaySemiBold-bold.fntdata"/><Relationship Id="rId71" Type="http://schemas.openxmlformats.org/officeDocument/2006/relationships/font" Target="fonts/Montserrat-regular.fntdata"/><Relationship Id="rId70" Type="http://schemas.openxmlformats.org/officeDocument/2006/relationships/font" Target="fonts/PlayfairDisplay-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PlayfairDisplayMedium-bold.fntdata"/><Relationship Id="rId63" Type="http://schemas.openxmlformats.org/officeDocument/2006/relationships/font" Target="fonts/PlayfairDisplayMedium-regular.fntdata"/><Relationship Id="rId22" Type="http://schemas.openxmlformats.org/officeDocument/2006/relationships/slide" Target="slides/slide17.xml"/><Relationship Id="rId66" Type="http://schemas.openxmlformats.org/officeDocument/2006/relationships/font" Target="fonts/PlayfairDisplayMedium-boldItalic.fntdata"/><Relationship Id="rId21" Type="http://schemas.openxmlformats.org/officeDocument/2006/relationships/slide" Target="slides/slide16.xml"/><Relationship Id="rId65" Type="http://schemas.openxmlformats.org/officeDocument/2006/relationships/font" Target="fonts/PlayfairDisplayMedium-italic.fntdata"/><Relationship Id="rId24" Type="http://schemas.openxmlformats.org/officeDocument/2006/relationships/slide" Target="slides/slide19.xml"/><Relationship Id="rId68" Type="http://schemas.openxmlformats.org/officeDocument/2006/relationships/font" Target="fonts/PlayfairDisplay-bold.fntdata"/><Relationship Id="rId23" Type="http://schemas.openxmlformats.org/officeDocument/2006/relationships/slide" Target="slides/slide18.xml"/><Relationship Id="rId67" Type="http://schemas.openxmlformats.org/officeDocument/2006/relationships/font" Target="fonts/PlayfairDisplay-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layfairDisplay-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ebf013004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ebf013004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ebf013004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ebf013004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ebf013004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ebf013004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8f993fedec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8f993fede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ebf013004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ebf013004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ebf013004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ebf013004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bf013004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bf013004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c4561702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ec4561702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ebf013004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ebf013004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ec4561702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ec4561702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ec4561702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ec4561702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c4561702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ec4561702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ec4561702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ec4561702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ebf0130044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ebf013004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8f993fede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8f993fede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8f993fede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8f993fede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ebf013004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ebf013004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bf013004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bf013004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ec7ea088e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ec7ea088e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ec7ea088e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ec7ea088e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ec7ea088e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ec7ea088e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ec7ea088e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ec7ea088e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8f993fede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8f993fede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ec7ea088e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ec7ea088e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ec7ea088e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ec7ea088e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ec7ea088e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ec7ea088e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ec7ea088e2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ec7ea088e2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ec7ea088e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ec7ea088e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ec7ea088e2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ec7ea088e2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ec7ea088e2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ec7ea088e2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ec7ea088e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ec7ea088e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ec7ea088e2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ec7ea088e2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ec7ea088e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ec7ea088e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ec7ea088e2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ec7ea088e2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ec7ea088e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ec7ea088e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ec7ea088e2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ec7ea088e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ec7ea088e2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ec7ea088e2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ec7ea088e2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ec7ea088e2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8f993fedec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8f993fedec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ec7ea088e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ec7ea088e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ec7ea088e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ec7ea088e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8f993fede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8f993fede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8f993fede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8f993fede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ec7ea088e2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ec7ea088e2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ec7ea088e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ec7ea088e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8f993fede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8f993fede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8f993fede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8f993fede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ece8d9b05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ece8d9b05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ec7ea088e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ec7ea088e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ec7ea088e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ec7ea088e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ec7ea088e2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ec7ea088e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ec7ea088e2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ec7ea088e2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ec7ea088e2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ec7ea088e2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8f993fede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8f993fede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ec7ea088e2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ec7ea088e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ebf013004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ebf013004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7.png"/><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4.png"/><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www.loom.com/share/beb3968dd935440ea06e842e20c3b9d6?sid=d10087f8-bfb0-4531-aeda-0480aad1e3c2"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drive.google.com/file/d/1i6j_0-Q-njdRhDscLdMns1uNggMytwGn/view?usp=sharing"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a:solidFill>
            <a:schemeClr val="dk1"/>
          </a:solidFill>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IMDb  Movie Analysis</a:t>
            </a:r>
            <a:endParaRPr/>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By Gayatri Palkar</a:t>
            </a:r>
            <a:endParaRPr/>
          </a:p>
        </p:txBody>
      </p:sp>
      <p:sp>
        <p:nvSpPr>
          <p:cNvPr id="60" name="Google Shape;60;p13"/>
          <p:cNvSpPr/>
          <p:nvPr/>
        </p:nvSpPr>
        <p:spPr>
          <a:xfrm>
            <a:off x="564800" y="1875300"/>
            <a:ext cx="2415900" cy="1203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61" name="Google Shape;61;p13"/>
          <p:cNvSpPr txBox="1"/>
          <p:nvPr>
            <p:ph idx="4294967295" type="title"/>
          </p:nvPr>
        </p:nvSpPr>
        <p:spPr>
          <a:xfrm>
            <a:off x="408650" y="1904250"/>
            <a:ext cx="2841600" cy="1146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6800">
                <a:solidFill>
                  <a:schemeClr val="dk1"/>
                </a:solidFill>
                <a:latin typeface="Playfair Display"/>
                <a:ea typeface="Playfair Display"/>
                <a:cs typeface="Playfair Display"/>
                <a:sym typeface="Playfair Display"/>
              </a:rPr>
              <a:t>IMDb</a:t>
            </a:r>
            <a:endParaRPr b="1" sz="6800">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Contents</a:t>
            </a:r>
            <a:endParaRPr/>
          </a:p>
        </p:txBody>
      </p:sp>
      <p:sp>
        <p:nvSpPr>
          <p:cNvPr id="67" name="Google Shape;67;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AutoNum type="arabicPeriod"/>
            </a:pPr>
            <a:r>
              <a:rPr lang="en"/>
              <a:t>The Problem Statement</a:t>
            </a:r>
            <a:endParaRPr/>
          </a:p>
          <a:p>
            <a:pPr indent="-342900" lvl="0" marL="457200" rtl="0" algn="l">
              <a:spcBef>
                <a:spcPts val="0"/>
              </a:spcBef>
              <a:spcAft>
                <a:spcPts val="0"/>
              </a:spcAft>
              <a:buSzPts val="1800"/>
              <a:buAutoNum type="arabicPeriod"/>
            </a:pPr>
            <a:r>
              <a:rPr lang="en"/>
              <a:t>Data Preprocessing</a:t>
            </a:r>
            <a:endParaRPr/>
          </a:p>
          <a:p>
            <a:pPr indent="-342900" lvl="0" marL="457200" rtl="0" algn="l">
              <a:spcBef>
                <a:spcPts val="0"/>
              </a:spcBef>
              <a:spcAft>
                <a:spcPts val="0"/>
              </a:spcAft>
              <a:buSzPts val="1800"/>
              <a:buAutoNum type="arabicPeriod"/>
            </a:pPr>
            <a:r>
              <a:rPr lang="en"/>
              <a:t>The Five Why’s Approach</a:t>
            </a:r>
            <a:endParaRPr/>
          </a:p>
          <a:p>
            <a:pPr indent="-342900" lvl="0" marL="457200" rtl="0" algn="l">
              <a:spcBef>
                <a:spcPts val="0"/>
              </a:spcBef>
              <a:spcAft>
                <a:spcPts val="0"/>
              </a:spcAft>
              <a:buSzPts val="1800"/>
              <a:buAutoNum type="arabicPeriod"/>
            </a:pPr>
            <a:r>
              <a:rPr lang="en"/>
              <a:t>Data Analytics Tasks</a:t>
            </a:r>
            <a:endParaRPr/>
          </a:p>
          <a:p>
            <a:pPr indent="-342900" lvl="0" marL="457200" rtl="0" algn="l">
              <a:spcBef>
                <a:spcPts val="0"/>
              </a:spcBef>
              <a:spcAft>
                <a:spcPts val="0"/>
              </a:spcAft>
              <a:buSzPts val="1800"/>
              <a:buAutoNum type="arabicPeriod"/>
            </a:pPr>
            <a:r>
              <a:rPr lang="en"/>
              <a:t>Project Report</a:t>
            </a:r>
            <a:endParaRPr/>
          </a:p>
          <a:p>
            <a:pPr indent="-342900" lvl="0" marL="457200" rtl="0" algn="l">
              <a:spcBef>
                <a:spcPts val="0"/>
              </a:spcBef>
              <a:spcAft>
                <a:spcPts val="0"/>
              </a:spcAft>
              <a:buSzPts val="1800"/>
              <a:buAutoNum type="arabicPeriod"/>
            </a:pPr>
            <a:r>
              <a:rPr lang="en"/>
              <a:t>Video Presentation Link</a:t>
            </a:r>
            <a:endParaRPr/>
          </a:p>
        </p:txBody>
      </p:sp>
      <p:sp>
        <p:nvSpPr>
          <p:cNvPr id="68" name="Google Shape;68;p1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 Statement</a:t>
            </a:r>
            <a:endParaRPr/>
          </a:p>
        </p:txBody>
      </p:sp>
      <p:sp>
        <p:nvSpPr>
          <p:cNvPr id="74" name="Google Shape;74;p1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impact of this problem is significant for movie producers, directors, and investors who want to understand what makes a movie successful to make informed decisions in their future projects.</a:t>
            </a:r>
            <a:endParaRPr/>
          </a:p>
          <a:p>
            <a:pPr indent="0" lvl="0" marL="0" rtl="0" algn="l">
              <a:spcBef>
                <a:spcPts val="1200"/>
              </a:spcBef>
              <a:spcAft>
                <a:spcPts val="0"/>
              </a:spcAft>
              <a:buNone/>
            </a:pPr>
            <a:r>
              <a:rPr lang="en"/>
              <a:t>Let us understand the data and the question.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And the Question is…</a:t>
            </a:r>
            <a:endParaRPr/>
          </a:p>
        </p:txBody>
      </p:sp>
      <p:sp>
        <p:nvSpPr>
          <p:cNvPr id="75" name="Google Shape;75;p1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factors influence the success of a movie on IMDB?" </a:t>
            </a:r>
            <a:endParaRPr/>
          </a:p>
        </p:txBody>
      </p:sp>
      <p:sp>
        <p:nvSpPr>
          <p:cNvPr id="81" name="Google Shape;81;p16"/>
          <p:cNvSpPr txBox="1"/>
          <p:nvPr/>
        </p:nvSpPr>
        <p:spPr>
          <a:xfrm>
            <a:off x="4724475" y="4293025"/>
            <a:ext cx="4431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Let us start </a:t>
            </a:r>
            <a:r>
              <a:rPr lang="en" sz="1800">
                <a:solidFill>
                  <a:schemeClr val="lt1"/>
                </a:solidFill>
                <a:latin typeface="Playfair Display"/>
                <a:ea typeface="Playfair Display"/>
                <a:cs typeface="Playfair Display"/>
                <a:sym typeface="Playfair Display"/>
              </a:rPr>
              <a:t>the</a:t>
            </a:r>
            <a:r>
              <a:rPr lang="en" sz="1800">
                <a:solidFill>
                  <a:schemeClr val="lt1"/>
                </a:solidFill>
                <a:latin typeface="Playfair Display"/>
                <a:ea typeface="Playfair Display"/>
                <a:cs typeface="Playfair Display"/>
                <a:sym typeface="Playfair Display"/>
              </a:rPr>
              <a:t> analysis to find the solution to this…</a:t>
            </a:r>
            <a:endParaRPr sz="1800">
              <a:solidFill>
                <a:schemeClr val="lt1"/>
              </a:solidFill>
              <a:latin typeface="Playfair Display"/>
              <a:ea typeface="Playfair Display"/>
              <a:cs typeface="Playfair Display"/>
              <a:sym typeface="Playfair Display"/>
            </a:endParaRPr>
          </a:p>
        </p:txBody>
      </p:sp>
      <p:sp>
        <p:nvSpPr>
          <p:cNvPr id="82" name="Google Shape;82;p1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 Preprocessing</a:t>
            </a:r>
            <a:endParaRPr/>
          </a:p>
        </p:txBody>
      </p:sp>
      <p:sp>
        <p:nvSpPr>
          <p:cNvPr id="88" name="Google Shape;88;p1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Preprocessing</a:t>
            </a:r>
            <a:endParaRPr/>
          </a:p>
        </p:txBody>
      </p:sp>
      <p:sp>
        <p:nvSpPr>
          <p:cNvPr id="94" name="Google Shape;94;p1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Preprocessing includes preparing the data for analysis and deriving insights. Its steps include:</a:t>
            </a:r>
            <a:endParaRPr/>
          </a:p>
          <a:p>
            <a:pPr indent="-342900" lvl="0" marL="457200" rtl="0" algn="l">
              <a:spcBef>
                <a:spcPts val="1200"/>
              </a:spcBef>
              <a:spcAft>
                <a:spcPts val="0"/>
              </a:spcAft>
              <a:buSzPts val="1800"/>
              <a:buAutoNum type="arabicPeriod"/>
            </a:pPr>
            <a:r>
              <a:rPr b="1" lang="en"/>
              <a:t>Handling Missing Values in Data</a:t>
            </a:r>
            <a:endParaRPr b="1"/>
          </a:p>
          <a:p>
            <a:pPr indent="-342900" lvl="0" marL="457200" rtl="0" algn="l">
              <a:spcBef>
                <a:spcPts val="0"/>
              </a:spcBef>
              <a:spcAft>
                <a:spcPts val="0"/>
              </a:spcAft>
              <a:buSzPts val="1800"/>
              <a:buAutoNum type="arabicPeriod"/>
            </a:pPr>
            <a:r>
              <a:rPr b="1" lang="en"/>
              <a:t>Removing Duplicate values</a:t>
            </a:r>
            <a:endParaRPr b="1"/>
          </a:p>
          <a:p>
            <a:pPr indent="-342900" lvl="0" marL="457200" rtl="0" algn="l">
              <a:spcBef>
                <a:spcPts val="0"/>
              </a:spcBef>
              <a:spcAft>
                <a:spcPts val="0"/>
              </a:spcAft>
              <a:buSzPts val="1800"/>
              <a:buAutoNum type="arabicPeriod"/>
            </a:pPr>
            <a:r>
              <a:rPr b="1" lang="en"/>
              <a:t>Deciding which columns to keep</a:t>
            </a:r>
            <a:endParaRPr b="1"/>
          </a:p>
          <a:p>
            <a:pPr indent="-342900" lvl="0" marL="457200" rtl="0" algn="l">
              <a:spcBef>
                <a:spcPts val="0"/>
              </a:spcBef>
              <a:spcAft>
                <a:spcPts val="0"/>
              </a:spcAft>
              <a:buSzPts val="1800"/>
              <a:buAutoNum type="arabicPeriod"/>
            </a:pPr>
            <a:r>
              <a:rPr b="1" lang="en"/>
              <a:t>Converting values to </a:t>
            </a:r>
            <a:r>
              <a:rPr b="1" lang="en"/>
              <a:t>correct</a:t>
            </a:r>
            <a:r>
              <a:rPr b="1" lang="en"/>
              <a:t> data type</a:t>
            </a:r>
            <a:endParaRPr b="1"/>
          </a:p>
          <a:p>
            <a:pPr indent="-342900" lvl="0" marL="457200" rtl="0" algn="l">
              <a:spcBef>
                <a:spcPts val="0"/>
              </a:spcBef>
              <a:spcAft>
                <a:spcPts val="0"/>
              </a:spcAft>
              <a:buSzPts val="1800"/>
              <a:buAutoNum type="arabicPeriod"/>
            </a:pPr>
            <a:r>
              <a:rPr b="1" lang="en"/>
              <a:t>Visualizing the data</a:t>
            </a:r>
            <a:endParaRPr b="1"/>
          </a:p>
          <a:p>
            <a:pPr indent="0" lvl="0" marL="457200" rtl="0" algn="l">
              <a:spcBef>
                <a:spcPts val="1200"/>
              </a:spcBef>
              <a:spcAft>
                <a:spcPts val="1200"/>
              </a:spcAft>
              <a:buNone/>
            </a:pPr>
            <a:r>
              <a:t/>
            </a:r>
            <a:endParaRPr b="1"/>
          </a:p>
        </p:txBody>
      </p:sp>
      <p:sp>
        <p:nvSpPr>
          <p:cNvPr id="95" name="Google Shape;95;p1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Removing Duplicates</a:t>
            </a:r>
            <a:endParaRPr/>
          </a:p>
        </p:txBody>
      </p:sp>
      <p:sp>
        <p:nvSpPr>
          <p:cNvPr id="101" name="Google Shape;101;p19"/>
          <p:cNvSpPr txBox="1"/>
          <p:nvPr>
            <p:ph idx="1" type="body"/>
          </p:nvPr>
        </p:nvSpPr>
        <p:spPr>
          <a:xfrm>
            <a:off x="311700" y="1234075"/>
            <a:ext cx="45123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wanted to </a:t>
            </a:r>
            <a:r>
              <a:rPr lang="en"/>
              <a:t>remove</a:t>
            </a:r>
            <a:r>
              <a:rPr lang="en"/>
              <a:t> duplicates before proceeding </a:t>
            </a:r>
            <a:r>
              <a:rPr lang="en"/>
              <a:t>with</a:t>
            </a:r>
            <a:r>
              <a:rPr lang="en"/>
              <a:t> Missing data</a:t>
            </a:r>
            <a:endParaRPr/>
          </a:p>
          <a:p>
            <a:pPr indent="-342900" lvl="0" marL="457200" rtl="0" algn="l">
              <a:spcBef>
                <a:spcPts val="0"/>
              </a:spcBef>
              <a:spcAft>
                <a:spcPts val="0"/>
              </a:spcAft>
              <a:buSzPts val="1800"/>
              <a:buChar char="●"/>
            </a:pPr>
            <a:r>
              <a:rPr lang="en"/>
              <a:t>I selected the data using Ctrl+A, Went to Data Tab and then clicked on Handle Duplicate Data Button -&gt; Remove Duplicates</a:t>
            </a:r>
            <a:endParaRPr/>
          </a:p>
          <a:p>
            <a:pPr indent="-342900" lvl="0" marL="457200" rtl="0" algn="l">
              <a:spcBef>
                <a:spcPts val="0"/>
              </a:spcBef>
              <a:spcAft>
                <a:spcPts val="0"/>
              </a:spcAft>
              <a:buSzPts val="1800"/>
              <a:buChar char="●"/>
            </a:pPr>
            <a:r>
              <a:rPr lang="en"/>
              <a:t>I found 45 Duplicate values for all rows, I decided to remove them as they will skew the analysis ahead.</a:t>
            </a:r>
            <a:endParaRPr/>
          </a:p>
        </p:txBody>
      </p:sp>
      <p:pic>
        <p:nvPicPr>
          <p:cNvPr id="102" name="Google Shape;102;p19"/>
          <p:cNvPicPr preferRelativeResize="0"/>
          <p:nvPr/>
        </p:nvPicPr>
        <p:blipFill>
          <a:blip r:embed="rId3">
            <a:alphaModFix/>
          </a:blip>
          <a:stretch>
            <a:fillRect/>
          </a:stretch>
        </p:blipFill>
        <p:spPr>
          <a:xfrm>
            <a:off x="4898696" y="792900"/>
            <a:ext cx="3777050" cy="2415775"/>
          </a:xfrm>
          <a:prstGeom prst="rect">
            <a:avLst/>
          </a:prstGeom>
          <a:noFill/>
          <a:ln>
            <a:noFill/>
          </a:ln>
        </p:spPr>
      </p:pic>
      <p:pic>
        <p:nvPicPr>
          <p:cNvPr id="103" name="Google Shape;103;p19"/>
          <p:cNvPicPr preferRelativeResize="0"/>
          <p:nvPr/>
        </p:nvPicPr>
        <p:blipFill>
          <a:blip r:embed="rId4">
            <a:alphaModFix/>
          </a:blip>
          <a:stretch>
            <a:fillRect/>
          </a:stretch>
        </p:blipFill>
        <p:spPr>
          <a:xfrm>
            <a:off x="5370525" y="3469595"/>
            <a:ext cx="2833399" cy="1269600"/>
          </a:xfrm>
          <a:prstGeom prst="rect">
            <a:avLst/>
          </a:prstGeom>
          <a:noFill/>
          <a:ln>
            <a:noFill/>
          </a:ln>
        </p:spPr>
      </p:pic>
      <p:sp>
        <p:nvSpPr>
          <p:cNvPr id="104" name="Google Shape;104;p1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Decide Columns that are useful in Analysis</a:t>
            </a:r>
            <a:endParaRPr/>
          </a:p>
        </p:txBody>
      </p:sp>
      <p:sp>
        <p:nvSpPr>
          <p:cNvPr id="110" name="Google Shape;110;p20"/>
          <p:cNvSpPr txBox="1"/>
          <p:nvPr>
            <p:ph idx="1" type="body"/>
          </p:nvPr>
        </p:nvSpPr>
        <p:spPr>
          <a:xfrm>
            <a:off x="251875" y="1124925"/>
            <a:ext cx="8520600" cy="344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 will remove unnecessary columns in data before proceeding with Missing data</a:t>
            </a:r>
            <a:endParaRPr sz="1600"/>
          </a:p>
          <a:p>
            <a:pPr indent="-330200" lvl="0" marL="457200" rtl="0" algn="l">
              <a:lnSpc>
                <a:spcPct val="100000"/>
              </a:lnSpc>
              <a:spcBef>
                <a:spcPts val="0"/>
              </a:spcBef>
              <a:spcAft>
                <a:spcPts val="0"/>
              </a:spcAft>
              <a:buSzPts val="1600"/>
              <a:buAutoNum type="arabicPeriod"/>
            </a:pPr>
            <a:r>
              <a:rPr b="1" lang="en" sz="1600">
                <a:solidFill>
                  <a:schemeClr val="accent5"/>
                </a:solidFill>
              </a:rPr>
              <a:t>color</a:t>
            </a:r>
            <a:r>
              <a:rPr lang="en" sz="1600"/>
              <a:t>: This indicates whether the movie is in color or black-and-white. It is unlikely to significantly impact modern movie ratings.</a:t>
            </a:r>
            <a:endParaRPr sz="1600"/>
          </a:p>
          <a:p>
            <a:pPr indent="-330200" lvl="0" marL="457200" rtl="0" algn="l">
              <a:lnSpc>
                <a:spcPct val="100000"/>
              </a:lnSpc>
              <a:spcBef>
                <a:spcPts val="0"/>
              </a:spcBef>
              <a:spcAft>
                <a:spcPts val="0"/>
              </a:spcAft>
              <a:buSzPts val="1600"/>
              <a:buAutoNum type="arabicPeriod"/>
            </a:pPr>
            <a:r>
              <a:rPr b="1" lang="en" sz="1600">
                <a:solidFill>
                  <a:srgbClr val="188038"/>
                </a:solidFill>
              </a:rPr>
              <a:t>director_facebook_likes</a:t>
            </a:r>
            <a:r>
              <a:rPr lang="en" sz="1600"/>
              <a:t>: The number of likes on a director's Facebook page may not directly correlate with the movie's IMDB score.</a:t>
            </a:r>
            <a:endParaRPr sz="1600"/>
          </a:p>
          <a:p>
            <a:pPr indent="-330200" lvl="0" marL="457200" rtl="0" algn="l">
              <a:lnSpc>
                <a:spcPct val="100000"/>
              </a:lnSpc>
              <a:spcBef>
                <a:spcPts val="0"/>
              </a:spcBef>
              <a:spcAft>
                <a:spcPts val="0"/>
              </a:spcAft>
              <a:buSzPts val="1600"/>
              <a:buAutoNum type="arabicPeriod"/>
            </a:pPr>
            <a:r>
              <a:rPr b="1" lang="en" sz="1600">
                <a:solidFill>
                  <a:srgbClr val="188038"/>
                </a:solidFill>
              </a:rPr>
              <a:t>actor_3_facebook_likes</a:t>
            </a:r>
            <a:r>
              <a:rPr lang="en" sz="1600"/>
              <a:t>: Similar to the director's Facebook likes, this may not have a direct impact on the movie's rating.</a:t>
            </a:r>
            <a:endParaRPr sz="1600"/>
          </a:p>
          <a:p>
            <a:pPr indent="-330200" lvl="0" marL="457200" rtl="0" algn="l">
              <a:lnSpc>
                <a:spcPct val="100000"/>
              </a:lnSpc>
              <a:spcBef>
                <a:spcPts val="0"/>
              </a:spcBef>
              <a:spcAft>
                <a:spcPts val="0"/>
              </a:spcAft>
              <a:buSzPts val="1600"/>
              <a:buAutoNum type="arabicPeriod"/>
            </a:pPr>
            <a:r>
              <a:rPr b="1" lang="en" sz="1600">
                <a:solidFill>
                  <a:srgbClr val="188038"/>
                </a:solidFill>
              </a:rPr>
              <a:t>facenumber_in_poster</a:t>
            </a:r>
            <a:r>
              <a:rPr lang="en" sz="1600"/>
              <a:t>: The number of faces in the movie poster is unlikely to influence the movie's IMDB rating.</a:t>
            </a:r>
            <a:endParaRPr sz="1600"/>
          </a:p>
          <a:p>
            <a:pPr indent="-330200" lvl="0" marL="457200" rtl="0" algn="l">
              <a:lnSpc>
                <a:spcPct val="100000"/>
              </a:lnSpc>
              <a:spcBef>
                <a:spcPts val="0"/>
              </a:spcBef>
              <a:spcAft>
                <a:spcPts val="0"/>
              </a:spcAft>
              <a:buSzPts val="1600"/>
              <a:buAutoNum type="arabicPeriod"/>
            </a:pPr>
            <a:r>
              <a:rPr b="1" lang="en" sz="1600">
                <a:solidFill>
                  <a:srgbClr val="188038"/>
                </a:solidFill>
              </a:rPr>
              <a:t>plot_keywords</a:t>
            </a:r>
            <a:r>
              <a:rPr lang="en" sz="1600"/>
              <a:t>: While plot keywords can be used  for text analysis, but not relevant here for numerical analysis.</a:t>
            </a:r>
            <a:endParaRPr sz="1600"/>
          </a:p>
          <a:p>
            <a:pPr indent="-330200" lvl="0" marL="457200" rtl="0" algn="l">
              <a:lnSpc>
                <a:spcPct val="100000"/>
              </a:lnSpc>
              <a:spcBef>
                <a:spcPts val="0"/>
              </a:spcBef>
              <a:spcAft>
                <a:spcPts val="0"/>
              </a:spcAft>
              <a:buSzPts val="1600"/>
              <a:buAutoNum type="arabicPeriod"/>
            </a:pPr>
            <a:r>
              <a:rPr b="1" lang="en" sz="1600">
                <a:solidFill>
                  <a:srgbClr val="188038"/>
                </a:solidFill>
              </a:rPr>
              <a:t>movie_imdb_link</a:t>
            </a:r>
            <a:r>
              <a:rPr lang="en" sz="1600"/>
              <a:t>: The URL link to the movie's IMDB page is not useful for the analysis.</a:t>
            </a:r>
            <a:endParaRPr sz="1600"/>
          </a:p>
          <a:p>
            <a:pPr indent="-330200" lvl="0" marL="457200" rtl="0" algn="l">
              <a:lnSpc>
                <a:spcPct val="100000"/>
              </a:lnSpc>
              <a:spcBef>
                <a:spcPts val="0"/>
              </a:spcBef>
              <a:spcAft>
                <a:spcPts val="0"/>
              </a:spcAft>
              <a:buSzPts val="1600"/>
              <a:buAutoNum type="arabicPeriod"/>
            </a:pPr>
            <a:r>
              <a:rPr b="1" lang="en" sz="1600">
                <a:solidFill>
                  <a:srgbClr val="188038"/>
                </a:solidFill>
              </a:rPr>
              <a:t>aspect_ratio</a:t>
            </a:r>
            <a:r>
              <a:rPr lang="en" sz="1600"/>
              <a:t>: The aspect ratio of the movie might have limited impact on the movie's success or IMDB rating.</a:t>
            </a:r>
            <a:endParaRPr sz="1600"/>
          </a:p>
        </p:txBody>
      </p:sp>
      <p:sp>
        <p:nvSpPr>
          <p:cNvPr id="111" name="Google Shape;111;p2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Removing columns from Data </a:t>
            </a:r>
            <a:endParaRPr/>
          </a:p>
        </p:txBody>
      </p:sp>
      <p:sp>
        <p:nvSpPr>
          <p:cNvPr id="117" name="Google Shape;117;p21"/>
          <p:cNvSpPr txBox="1"/>
          <p:nvPr>
            <p:ph idx="1" type="subTitle"/>
          </p:nvPr>
        </p:nvSpPr>
        <p:spPr>
          <a:xfrm>
            <a:off x="499650" y="2867875"/>
            <a:ext cx="35769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List of remaining columns in Data using Python</a:t>
            </a:r>
            <a:endParaRPr/>
          </a:p>
        </p:txBody>
      </p:sp>
      <p:sp>
        <p:nvSpPr>
          <p:cNvPr id="118" name="Google Shape;118;p21"/>
          <p:cNvSpPr/>
          <p:nvPr/>
        </p:nvSpPr>
        <p:spPr>
          <a:xfrm>
            <a:off x="5243950" y="639750"/>
            <a:ext cx="3222300" cy="38640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119" name="Google Shape;119;p21"/>
          <p:cNvSpPr txBox="1"/>
          <p:nvPr/>
        </p:nvSpPr>
        <p:spPr>
          <a:xfrm>
            <a:off x="5495200" y="681325"/>
            <a:ext cx="2719800" cy="3322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director_name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Num_critic_for_reviews</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Duration</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actor_2_name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actor_1_facebook_likes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gross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genres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actor_1_name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movie_title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Num_voted_users</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Cast_total_facebook_likes</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actor_3_name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num_user_for_reviews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language</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Country</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content_rating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budget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title_year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actor_2_facebook_likes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imdb_score	</a:t>
            </a:r>
            <a:endParaRPr b="1" sz="1100">
              <a:solidFill>
                <a:schemeClr val="dk2"/>
              </a:solidFill>
              <a:latin typeface="Playfair Display"/>
              <a:ea typeface="Playfair Display"/>
              <a:cs typeface="Playfair Display"/>
              <a:sym typeface="Playfair Display"/>
            </a:endParaRPr>
          </a:p>
          <a:p>
            <a:pPr indent="-298450" lvl="0" marL="457200" rtl="0" algn="l">
              <a:spcBef>
                <a:spcPts val="0"/>
              </a:spcBef>
              <a:spcAft>
                <a:spcPts val="0"/>
              </a:spcAft>
              <a:buClr>
                <a:schemeClr val="dk2"/>
              </a:buClr>
              <a:buSzPts val="1100"/>
              <a:buFont typeface="Playfair Display"/>
              <a:buChar char="●"/>
            </a:pPr>
            <a:r>
              <a:rPr b="1" lang="en" sz="1100">
                <a:solidFill>
                  <a:schemeClr val="dk2"/>
                </a:solidFill>
                <a:latin typeface="Playfair Display"/>
                <a:ea typeface="Playfair Display"/>
                <a:cs typeface="Playfair Display"/>
                <a:sym typeface="Playfair Display"/>
              </a:rPr>
              <a:t>movie_facebook_likes</a:t>
            </a:r>
            <a:endParaRPr b="1" sz="1100">
              <a:solidFill>
                <a:schemeClr val="dk2"/>
              </a:solidFill>
              <a:latin typeface="Playfair Display"/>
              <a:ea typeface="Playfair Display"/>
              <a:cs typeface="Playfair Display"/>
              <a:sym typeface="Playfair Display"/>
            </a:endParaRPr>
          </a:p>
        </p:txBody>
      </p:sp>
      <p:sp>
        <p:nvSpPr>
          <p:cNvPr id="120" name="Google Shape;120;p2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a:t>
            </a:r>
            <a:r>
              <a:rPr lang="en"/>
              <a:t>Handling Missing Data</a:t>
            </a:r>
            <a:endParaRPr/>
          </a:p>
        </p:txBody>
      </p:sp>
      <p:sp>
        <p:nvSpPr>
          <p:cNvPr id="126" name="Google Shape;126;p22"/>
          <p:cNvSpPr txBox="1"/>
          <p:nvPr>
            <p:ph idx="1" type="body"/>
          </p:nvPr>
        </p:nvSpPr>
        <p:spPr>
          <a:xfrm>
            <a:off x="311700" y="1234075"/>
            <a:ext cx="8520600" cy="333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From the data that remains I will now Filter it and remove the rows containing Blanks, Hyphens, Nan </a:t>
            </a:r>
            <a:r>
              <a:rPr lang="en"/>
              <a:t>values</a:t>
            </a:r>
            <a:r>
              <a:rPr lang="en"/>
              <a:t> etc</a:t>
            </a:r>
            <a:endParaRPr/>
          </a:p>
          <a:p>
            <a:pPr indent="-342900" lvl="0" marL="457200" rtl="0" algn="l">
              <a:spcBef>
                <a:spcPts val="1200"/>
              </a:spcBef>
              <a:spcAft>
                <a:spcPts val="0"/>
              </a:spcAft>
              <a:buSzPts val="1800"/>
              <a:buChar char="●"/>
            </a:pPr>
            <a:r>
              <a:rPr lang="en"/>
              <a:t>For columns such as - </a:t>
            </a:r>
            <a:r>
              <a:rPr lang="en">
                <a:solidFill>
                  <a:schemeClr val="accent5"/>
                </a:solidFill>
              </a:rPr>
              <a:t>director_name</a:t>
            </a:r>
            <a:r>
              <a:rPr lang="en"/>
              <a:t>, </a:t>
            </a:r>
            <a:r>
              <a:rPr lang="en">
                <a:solidFill>
                  <a:schemeClr val="accent5"/>
                </a:solidFill>
              </a:rPr>
              <a:t>num_critic_for_reviews</a:t>
            </a:r>
            <a:r>
              <a:rPr lang="en"/>
              <a:t>, </a:t>
            </a:r>
            <a:r>
              <a:rPr lang="en">
                <a:solidFill>
                  <a:schemeClr val="accent5"/>
                </a:solidFill>
              </a:rPr>
              <a:t>duration</a:t>
            </a:r>
            <a:r>
              <a:rPr lang="en"/>
              <a:t>, </a:t>
            </a:r>
            <a:r>
              <a:rPr lang="en">
                <a:solidFill>
                  <a:schemeClr val="accent5"/>
                </a:solidFill>
              </a:rPr>
              <a:t>gross</a:t>
            </a:r>
            <a:r>
              <a:rPr lang="en"/>
              <a:t>, </a:t>
            </a:r>
            <a:r>
              <a:rPr lang="en">
                <a:solidFill>
                  <a:schemeClr val="accent5"/>
                </a:solidFill>
              </a:rPr>
              <a:t>genres</a:t>
            </a:r>
            <a:r>
              <a:rPr lang="en"/>
              <a:t>, </a:t>
            </a:r>
            <a:r>
              <a:rPr lang="en">
                <a:solidFill>
                  <a:schemeClr val="accent5"/>
                </a:solidFill>
              </a:rPr>
              <a:t>actor_1_name</a:t>
            </a:r>
            <a:r>
              <a:rPr lang="en"/>
              <a:t>, </a:t>
            </a:r>
            <a:r>
              <a:rPr lang="en">
                <a:solidFill>
                  <a:schemeClr val="accent5"/>
                </a:solidFill>
              </a:rPr>
              <a:t>movie_title </a:t>
            </a:r>
            <a:r>
              <a:rPr lang="en"/>
              <a:t>and </a:t>
            </a:r>
            <a:r>
              <a:rPr lang="en">
                <a:solidFill>
                  <a:schemeClr val="accent5"/>
                </a:solidFill>
              </a:rPr>
              <a:t>language </a:t>
            </a:r>
            <a:r>
              <a:rPr lang="en"/>
              <a:t>I decided to Remove the blank value rows completely</a:t>
            </a:r>
            <a:endParaRPr/>
          </a:p>
          <a:p>
            <a:pPr indent="-342900" lvl="0" marL="457200" rtl="0" algn="l">
              <a:spcBef>
                <a:spcPts val="0"/>
              </a:spcBef>
              <a:spcAft>
                <a:spcPts val="0"/>
              </a:spcAft>
              <a:buSzPts val="1800"/>
              <a:buChar char="●"/>
            </a:pPr>
            <a:r>
              <a:rPr lang="en"/>
              <a:t>For column </a:t>
            </a:r>
            <a:r>
              <a:rPr lang="en">
                <a:solidFill>
                  <a:schemeClr val="accent5"/>
                </a:solidFill>
              </a:rPr>
              <a:t>content_rating </a:t>
            </a:r>
            <a:r>
              <a:rPr lang="en"/>
              <a:t>I decided to rename the Blank columns as “Unrated” </a:t>
            </a:r>
            <a:endParaRPr/>
          </a:p>
          <a:p>
            <a:pPr indent="-342900" lvl="0" marL="457200" rtl="0" algn="l">
              <a:spcBef>
                <a:spcPts val="0"/>
              </a:spcBef>
              <a:spcAft>
                <a:spcPts val="0"/>
              </a:spcAft>
              <a:buSzPts val="1800"/>
              <a:buChar char="●"/>
            </a:pPr>
            <a:r>
              <a:rPr lang="en"/>
              <a:t>For the column </a:t>
            </a:r>
            <a:r>
              <a:rPr lang="en">
                <a:solidFill>
                  <a:schemeClr val="accent5"/>
                </a:solidFill>
              </a:rPr>
              <a:t>budget</a:t>
            </a:r>
            <a:r>
              <a:rPr lang="en"/>
              <a:t>, I decided to take the median of the budget column as it won’t be affected by any outliers, but I did not get representative value, so decided to Delete those rows as well</a:t>
            </a:r>
            <a:endParaRPr/>
          </a:p>
        </p:txBody>
      </p:sp>
      <p:sp>
        <p:nvSpPr>
          <p:cNvPr id="127" name="Google Shape;127;p2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Handling Missing Data continued</a:t>
            </a:r>
            <a:endParaRPr/>
          </a:p>
        </p:txBody>
      </p:sp>
      <p:sp>
        <p:nvSpPr>
          <p:cNvPr id="133" name="Google Shape;133;p23"/>
          <p:cNvSpPr txBox="1"/>
          <p:nvPr>
            <p:ph idx="1" type="body"/>
          </p:nvPr>
        </p:nvSpPr>
        <p:spPr>
          <a:xfrm>
            <a:off x="311700" y="1234075"/>
            <a:ext cx="54813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columns such as - </a:t>
            </a:r>
            <a:r>
              <a:rPr lang="en">
                <a:solidFill>
                  <a:schemeClr val="accent5"/>
                </a:solidFill>
              </a:rPr>
              <a:t>actor_2_name</a:t>
            </a:r>
            <a:r>
              <a:rPr lang="en"/>
              <a:t>, </a:t>
            </a:r>
            <a:r>
              <a:rPr lang="en">
                <a:solidFill>
                  <a:schemeClr val="accent5"/>
                </a:solidFill>
              </a:rPr>
              <a:t>actor_1_facebook_likes</a:t>
            </a:r>
            <a:r>
              <a:rPr lang="en"/>
              <a:t>, </a:t>
            </a:r>
            <a:r>
              <a:rPr lang="en">
                <a:solidFill>
                  <a:schemeClr val="accent5"/>
                </a:solidFill>
              </a:rPr>
              <a:t>actor_2_facebook_likes</a:t>
            </a:r>
            <a:r>
              <a:rPr lang="en"/>
              <a:t>, </a:t>
            </a:r>
            <a:r>
              <a:rPr lang="en">
                <a:solidFill>
                  <a:schemeClr val="accent5"/>
                </a:solidFill>
              </a:rPr>
              <a:t>movie_facebook_likes </a:t>
            </a:r>
            <a:r>
              <a:rPr lang="en"/>
              <a:t> - I decided to keep the blanks as it might happen that some movie does not have a second Lead or Actor, also not all actors use facebook</a:t>
            </a:r>
            <a:endParaRPr/>
          </a:p>
          <a:p>
            <a:pPr indent="0" lvl="0" marL="457200" rtl="0" algn="l">
              <a:spcBef>
                <a:spcPts val="1200"/>
              </a:spcBef>
              <a:spcAft>
                <a:spcPts val="1200"/>
              </a:spcAft>
              <a:buNone/>
            </a:pPr>
            <a:r>
              <a:rPr lang="en"/>
              <a:t>Now the Missing Data Handling is over, and I will start with further analysis</a:t>
            </a:r>
            <a:endParaRPr/>
          </a:p>
        </p:txBody>
      </p:sp>
      <p:sp>
        <p:nvSpPr>
          <p:cNvPr id="134" name="Google Shape;134;p2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After removing missing values</a:t>
            </a:r>
            <a:endParaRPr/>
          </a:p>
        </p:txBody>
      </p:sp>
      <p:sp>
        <p:nvSpPr>
          <p:cNvPr id="140" name="Google Shape;140;p24"/>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count becomes</a:t>
            </a:r>
            <a:endParaRPr/>
          </a:p>
          <a:p>
            <a:pPr indent="0" lvl="0" marL="0" rtl="0" algn="ctr">
              <a:spcBef>
                <a:spcPts val="0"/>
              </a:spcBef>
              <a:spcAft>
                <a:spcPts val="0"/>
              </a:spcAft>
              <a:buNone/>
            </a:pPr>
            <a:r>
              <a:rPr b="1" lang="en"/>
              <a:t>3850 rows and 21 columns</a:t>
            </a:r>
            <a:endParaRPr b="1"/>
          </a:p>
        </p:txBody>
      </p:sp>
      <p:pic>
        <p:nvPicPr>
          <p:cNvPr id="141" name="Google Shape;141;p24"/>
          <p:cNvPicPr preferRelativeResize="0"/>
          <p:nvPr/>
        </p:nvPicPr>
        <p:blipFill>
          <a:blip r:embed="rId3">
            <a:alphaModFix/>
          </a:blip>
          <a:stretch>
            <a:fillRect/>
          </a:stretch>
        </p:blipFill>
        <p:spPr>
          <a:xfrm>
            <a:off x="5084300" y="717400"/>
            <a:ext cx="3305175" cy="1371600"/>
          </a:xfrm>
          <a:prstGeom prst="rect">
            <a:avLst/>
          </a:prstGeom>
          <a:noFill/>
          <a:ln>
            <a:noFill/>
          </a:ln>
        </p:spPr>
      </p:pic>
      <p:pic>
        <p:nvPicPr>
          <p:cNvPr id="142" name="Google Shape;142;p24"/>
          <p:cNvPicPr preferRelativeResize="0"/>
          <p:nvPr/>
        </p:nvPicPr>
        <p:blipFill>
          <a:blip r:embed="rId4">
            <a:alphaModFix/>
          </a:blip>
          <a:stretch>
            <a:fillRect/>
          </a:stretch>
        </p:blipFill>
        <p:spPr>
          <a:xfrm>
            <a:off x="5084300" y="2921400"/>
            <a:ext cx="3305175" cy="1082121"/>
          </a:xfrm>
          <a:prstGeom prst="rect">
            <a:avLst/>
          </a:prstGeom>
          <a:noFill/>
          <a:ln>
            <a:noFill/>
          </a:ln>
        </p:spPr>
      </p:pic>
      <p:sp>
        <p:nvSpPr>
          <p:cNvPr id="143" name="Google Shape;143;p2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a:t>
            </a:r>
            <a:r>
              <a:rPr lang="en"/>
              <a:t>. Converting Data types</a:t>
            </a:r>
            <a:endParaRPr/>
          </a:p>
        </p:txBody>
      </p:sp>
      <p:sp>
        <p:nvSpPr>
          <p:cNvPr id="149" name="Google Shape;149;p25"/>
          <p:cNvSpPr txBox="1"/>
          <p:nvPr>
            <p:ph idx="1" type="body"/>
          </p:nvPr>
        </p:nvSpPr>
        <p:spPr>
          <a:xfrm>
            <a:off x="311700" y="1234075"/>
            <a:ext cx="7320000" cy="291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en"/>
              <a:t>Ensuring that the  columns like </a:t>
            </a:r>
            <a:r>
              <a:rPr lang="en">
                <a:solidFill>
                  <a:srgbClr val="188038"/>
                </a:solidFill>
              </a:rPr>
              <a:t>duration</a:t>
            </a:r>
            <a:r>
              <a:rPr lang="en"/>
              <a:t>, </a:t>
            </a:r>
            <a:r>
              <a:rPr lang="en">
                <a:solidFill>
                  <a:srgbClr val="188038"/>
                </a:solidFill>
              </a:rPr>
              <a:t>budget</a:t>
            </a:r>
            <a:r>
              <a:rPr lang="en"/>
              <a:t>, </a:t>
            </a:r>
            <a:r>
              <a:rPr lang="en">
                <a:solidFill>
                  <a:srgbClr val="188038"/>
                </a:solidFill>
              </a:rPr>
              <a:t>gross</a:t>
            </a:r>
            <a:r>
              <a:rPr lang="en"/>
              <a:t>, etc., are in numeric format.</a:t>
            </a:r>
            <a:endParaRPr/>
          </a:p>
          <a:p>
            <a:pPr indent="-342900" lvl="0" marL="457200" rtl="0" algn="l">
              <a:spcBef>
                <a:spcPts val="1200"/>
              </a:spcBef>
              <a:spcAft>
                <a:spcPts val="0"/>
              </a:spcAft>
              <a:buSzPts val="1800"/>
              <a:buChar char="●"/>
            </a:pPr>
            <a:r>
              <a:rPr lang="en"/>
              <a:t>Select the column, right-click, and choose </a:t>
            </a:r>
            <a:r>
              <a:rPr lang="en">
                <a:solidFill>
                  <a:srgbClr val="188038"/>
                </a:solidFill>
              </a:rPr>
              <a:t>Format Cells</a:t>
            </a:r>
            <a:r>
              <a:rPr lang="en"/>
              <a:t> to set the correct data type.</a:t>
            </a:r>
            <a:endParaRPr/>
          </a:p>
          <a:p>
            <a:pPr indent="-342900" lvl="0" marL="457200" rtl="0" algn="l">
              <a:spcBef>
                <a:spcPts val="0"/>
              </a:spcBef>
              <a:spcAft>
                <a:spcPts val="0"/>
              </a:spcAft>
              <a:buSzPts val="1800"/>
              <a:buChar char="●"/>
            </a:pPr>
            <a:r>
              <a:rPr lang="en"/>
              <a:t>Converted </a:t>
            </a:r>
            <a:r>
              <a:rPr lang="en">
                <a:solidFill>
                  <a:schemeClr val="accent5"/>
                </a:solidFill>
              </a:rPr>
              <a:t>actor_1_facebook_likes</a:t>
            </a:r>
            <a:r>
              <a:rPr lang="en"/>
              <a:t>, </a:t>
            </a:r>
            <a:r>
              <a:rPr lang="en">
                <a:solidFill>
                  <a:schemeClr val="accent5"/>
                </a:solidFill>
              </a:rPr>
              <a:t>actor_2_facebook_likes</a:t>
            </a:r>
            <a:r>
              <a:rPr lang="en"/>
              <a:t>, </a:t>
            </a:r>
            <a:r>
              <a:rPr lang="en">
                <a:solidFill>
                  <a:schemeClr val="accent5"/>
                </a:solidFill>
              </a:rPr>
              <a:t>movie_facebook_likes </a:t>
            </a:r>
            <a:r>
              <a:rPr lang="en"/>
              <a:t>columns to number with 1000 separator and 0 decimal values and </a:t>
            </a:r>
            <a:r>
              <a:rPr lang="en">
                <a:solidFill>
                  <a:schemeClr val="accent5"/>
                </a:solidFill>
              </a:rPr>
              <a:t>gross </a:t>
            </a:r>
            <a:r>
              <a:rPr lang="en"/>
              <a:t>and </a:t>
            </a:r>
            <a:r>
              <a:rPr lang="en">
                <a:solidFill>
                  <a:schemeClr val="accent5"/>
                </a:solidFill>
              </a:rPr>
              <a:t>budget </a:t>
            </a:r>
            <a:r>
              <a:rPr lang="en"/>
              <a:t>columns to currency data type </a:t>
            </a:r>
            <a:endParaRPr/>
          </a:p>
        </p:txBody>
      </p:sp>
      <p:sp>
        <p:nvSpPr>
          <p:cNvPr id="150" name="Google Shape;150;p2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Converting Data types continued</a:t>
            </a:r>
            <a:endParaRPr/>
          </a:p>
        </p:txBody>
      </p:sp>
      <p:pic>
        <p:nvPicPr>
          <p:cNvPr id="156" name="Google Shape;156;p26"/>
          <p:cNvPicPr preferRelativeResize="0"/>
          <p:nvPr/>
        </p:nvPicPr>
        <p:blipFill>
          <a:blip r:embed="rId3">
            <a:alphaModFix/>
          </a:blip>
          <a:stretch>
            <a:fillRect/>
          </a:stretch>
        </p:blipFill>
        <p:spPr>
          <a:xfrm>
            <a:off x="700088" y="1642250"/>
            <a:ext cx="7743825" cy="2705100"/>
          </a:xfrm>
          <a:prstGeom prst="rect">
            <a:avLst/>
          </a:prstGeom>
          <a:noFill/>
          <a:ln>
            <a:noFill/>
          </a:ln>
        </p:spPr>
      </p:pic>
      <p:sp>
        <p:nvSpPr>
          <p:cNvPr id="157" name="Google Shape;157;p2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Visualize the Data</a:t>
            </a:r>
            <a:endParaRPr/>
          </a:p>
        </p:txBody>
      </p:sp>
      <p:sp>
        <p:nvSpPr>
          <p:cNvPr id="163" name="Google Shape;163;p27"/>
          <p:cNvSpPr txBox="1"/>
          <p:nvPr>
            <p:ph idx="1" type="body"/>
          </p:nvPr>
        </p:nvSpPr>
        <p:spPr>
          <a:xfrm>
            <a:off x="311700" y="1234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 have used python programming for EDA on the IMDB data:</a:t>
            </a:r>
            <a:endParaRPr/>
          </a:p>
        </p:txBody>
      </p:sp>
      <p:pic>
        <p:nvPicPr>
          <p:cNvPr id="164" name="Google Shape;164;p27"/>
          <p:cNvPicPr preferRelativeResize="0"/>
          <p:nvPr/>
        </p:nvPicPr>
        <p:blipFill>
          <a:blip r:embed="rId3">
            <a:alphaModFix/>
          </a:blip>
          <a:stretch>
            <a:fillRect/>
          </a:stretch>
        </p:blipFill>
        <p:spPr>
          <a:xfrm>
            <a:off x="152400" y="1727500"/>
            <a:ext cx="3050749" cy="3263600"/>
          </a:xfrm>
          <a:prstGeom prst="rect">
            <a:avLst/>
          </a:prstGeom>
          <a:noFill/>
          <a:ln>
            <a:noFill/>
          </a:ln>
        </p:spPr>
      </p:pic>
      <p:pic>
        <p:nvPicPr>
          <p:cNvPr id="165" name="Google Shape;165;p27"/>
          <p:cNvPicPr preferRelativeResize="0"/>
          <p:nvPr/>
        </p:nvPicPr>
        <p:blipFill>
          <a:blip r:embed="rId4">
            <a:alphaModFix/>
          </a:blip>
          <a:stretch>
            <a:fillRect/>
          </a:stretch>
        </p:blipFill>
        <p:spPr>
          <a:xfrm>
            <a:off x="3355549" y="1959175"/>
            <a:ext cx="2844479" cy="3031924"/>
          </a:xfrm>
          <a:prstGeom prst="rect">
            <a:avLst/>
          </a:prstGeom>
          <a:noFill/>
          <a:ln>
            <a:noFill/>
          </a:ln>
        </p:spPr>
      </p:pic>
      <p:pic>
        <p:nvPicPr>
          <p:cNvPr id="166" name="Google Shape;166;p27"/>
          <p:cNvPicPr preferRelativeResize="0"/>
          <p:nvPr/>
        </p:nvPicPr>
        <p:blipFill>
          <a:blip r:embed="rId5">
            <a:alphaModFix/>
          </a:blip>
          <a:stretch>
            <a:fillRect/>
          </a:stretch>
        </p:blipFill>
        <p:spPr>
          <a:xfrm>
            <a:off x="6352429" y="1959175"/>
            <a:ext cx="2639170" cy="2783783"/>
          </a:xfrm>
          <a:prstGeom prst="rect">
            <a:avLst/>
          </a:prstGeom>
          <a:noFill/>
          <a:ln>
            <a:noFill/>
          </a:ln>
        </p:spPr>
      </p:pic>
      <p:sp>
        <p:nvSpPr>
          <p:cNvPr id="167" name="Google Shape;167;p2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Visualize the Data continued</a:t>
            </a:r>
            <a:endParaRPr/>
          </a:p>
        </p:txBody>
      </p:sp>
      <p:pic>
        <p:nvPicPr>
          <p:cNvPr id="173" name="Google Shape;173;p28"/>
          <p:cNvPicPr preferRelativeResize="0"/>
          <p:nvPr/>
        </p:nvPicPr>
        <p:blipFill>
          <a:blip r:embed="rId3">
            <a:alphaModFix/>
          </a:blip>
          <a:stretch>
            <a:fillRect/>
          </a:stretch>
        </p:blipFill>
        <p:spPr>
          <a:xfrm>
            <a:off x="152400" y="1170125"/>
            <a:ext cx="3796043" cy="3820976"/>
          </a:xfrm>
          <a:prstGeom prst="rect">
            <a:avLst/>
          </a:prstGeom>
          <a:noFill/>
          <a:ln>
            <a:noFill/>
          </a:ln>
        </p:spPr>
      </p:pic>
      <p:pic>
        <p:nvPicPr>
          <p:cNvPr id="174" name="Google Shape;174;p28"/>
          <p:cNvPicPr preferRelativeResize="0"/>
          <p:nvPr/>
        </p:nvPicPr>
        <p:blipFill>
          <a:blip r:embed="rId4">
            <a:alphaModFix/>
          </a:blip>
          <a:stretch>
            <a:fillRect/>
          </a:stretch>
        </p:blipFill>
        <p:spPr>
          <a:xfrm>
            <a:off x="4496525" y="1170125"/>
            <a:ext cx="4073024" cy="3482650"/>
          </a:xfrm>
          <a:prstGeom prst="rect">
            <a:avLst/>
          </a:prstGeom>
          <a:noFill/>
          <a:ln>
            <a:noFill/>
          </a:ln>
        </p:spPr>
      </p:pic>
      <p:sp>
        <p:nvSpPr>
          <p:cNvPr id="175" name="Google Shape;175;p2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Five </a:t>
            </a:r>
            <a:r>
              <a:rPr lang="en"/>
              <a:t>Why’s</a:t>
            </a:r>
            <a:r>
              <a:rPr lang="en"/>
              <a:t> Approach</a:t>
            </a:r>
            <a:endParaRPr/>
          </a:p>
        </p:txBody>
      </p:sp>
      <p:sp>
        <p:nvSpPr>
          <p:cNvPr id="181" name="Google Shape;181;p2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Five Why’s Approach</a:t>
            </a:r>
            <a:endParaRPr/>
          </a:p>
        </p:txBody>
      </p:sp>
      <p:sp>
        <p:nvSpPr>
          <p:cNvPr id="187" name="Google Shape;187;p30"/>
          <p:cNvSpPr txBox="1"/>
          <p:nvPr>
            <p:ph idx="1" type="body"/>
          </p:nvPr>
        </p:nvSpPr>
        <p:spPr>
          <a:xfrm>
            <a:off x="311700" y="1757975"/>
            <a:ext cx="8520600" cy="281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 </a:t>
            </a:r>
            <a:r>
              <a:rPr b="1" lang="en"/>
              <a:t>1</a:t>
            </a:r>
            <a:r>
              <a:rPr lang="en"/>
              <a:t> :</a:t>
            </a:r>
            <a:endParaRPr/>
          </a:p>
          <a:p>
            <a:pPr indent="0" lvl="0" marL="0" rtl="0" algn="l">
              <a:spcBef>
                <a:spcPts val="1200"/>
              </a:spcBef>
              <a:spcAft>
                <a:spcPts val="1200"/>
              </a:spcAft>
              <a:buNone/>
            </a:pPr>
            <a:r>
              <a:rPr b="1" i="1" lang="en" sz="2300"/>
              <a:t>"Why do movies with higher budgets tend to have higher gross earnings?"</a:t>
            </a:r>
            <a:endParaRPr b="1" i="1" sz="2300"/>
          </a:p>
        </p:txBody>
      </p:sp>
      <p:sp>
        <p:nvSpPr>
          <p:cNvPr id="188" name="Google Shape;188;p3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2" type="body"/>
          </p:nvPr>
        </p:nvSpPr>
        <p:spPr>
          <a:xfrm>
            <a:off x="4939500" y="635175"/>
            <a:ext cx="4066500" cy="3784200"/>
          </a:xfrm>
          <a:prstGeom prst="rect">
            <a:avLst/>
          </a:prstGeom>
        </p:spPr>
        <p:txBody>
          <a:bodyPr anchorCtr="0" anchor="t" bIns="91425" lIns="91425" spcFirstLastPara="1" rIns="91425" wrap="square" tIns="91425">
            <a:noAutofit/>
          </a:bodyPr>
          <a:lstStyle/>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Higher budgets allow for better marketing and wider distribution.</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More people become aware of the movie and have access to it, increasing ticket sales.</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Effective marketing creates anticipation and interest, while wide distribution ensures availability.</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People are more likely to watch a movie they are excited about and can easily find in theaters.</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1000"/>
              </a:spcAft>
              <a:buSzPts val="1525"/>
              <a:buFont typeface="Playfair Display Medium"/>
              <a:buAutoNum type="arabicPeriod"/>
            </a:pPr>
            <a:r>
              <a:rPr lang="en" sz="1525">
                <a:latin typeface="Playfair Display Medium"/>
                <a:ea typeface="Playfair Display Medium"/>
                <a:cs typeface="Playfair Display Medium"/>
                <a:sym typeface="Playfair Display Medium"/>
              </a:rPr>
              <a:t>Positive buzz and ease of access lead to more viewers, higher sales, and thus greater earnings.</a:t>
            </a:r>
            <a:endParaRPr sz="1525">
              <a:latin typeface="Playfair Display Medium"/>
              <a:ea typeface="Playfair Display Medium"/>
              <a:cs typeface="Playfair Display Medium"/>
              <a:sym typeface="Playfair Display Medium"/>
            </a:endParaRPr>
          </a:p>
        </p:txBody>
      </p:sp>
      <p:sp>
        <p:nvSpPr>
          <p:cNvPr id="194" name="Google Shape;194;p31"/>
          <p:cNvSpPr txBox="1"/>
          <p:nvPr>
            <p:ph idx="2" type="body"/>
          </p:nvPr>
        </p:nvSpPr>
        <p:spPr>
          <a:xfrm>
            <a:off x="365425" y="635100"/>
            <a:ext cx="3837000" cy="3784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b="1" lang="en" sz="1600"/>
              <a:t>Why do movies with higher budgets tend to have higher gross earnings?</a:t>
            </a:r>
            <a:endParaRPr b="1" sz="1600"/>
          </a:p>
          <a:p>
            <a:pPr indent="-330200" lvl="0" marL="457200" rtl="0" algn="l">
              <a:spcBef>
                <a:spcPts val="1000"/>
              </a:spcBef>
              <a:spcAft>
                <a:spcPts val="0"/>
              </a:spcAft>
              <a:buSzPts val="1600"/>
              <a:buAutoNum type="arabicPeriod"/>
            </a:pPr>
            <a:r>
              <a:rPr b="1" lang="en" sz="1600"/>
              <a:t>Why do better marketing and wider distribution lead to higher gross earnings?</a:t>
            </a:r>
            <a:endParaRPr b="1" sz="1600"/>
          </a:p>
          <a:p>
            <a:pPr indent="-330200" lvl="0" marL="457200" rtl="0" algn="l">
              <a:spcBef>
                <a:spcPts val="1000"/>
              </a:spcBef>
              <a:spcAft>
                <a:spcPts val="0"/>
              </a:spcAft>
              <a:buSzPts val="1600"/>
              <a:buAutoNum type="arabicPeriod"/>
            </a:pPr>
            <a:r>
              <a:rPr b="1" lang="en" sz="1600"/>
              <a:t>Why does increased awareness and access boost ticket sales?</a:t>
            </a:r>
            <a:endParaRPr b="1" sz="1600"/>
          </a:p>
          <a:p>
            <a:pPr indent="-330200" lvl="0" marL="457200" rtl="0" algn="l">
              <a:spcBef>
                <a:spcPts val="1000"/>
              </a:spcBef>
              <a:spcAft>
                <a:spcPts val="0"/>
              </a:spcAft>
              <a:buSzPts val="1600"/>
              <a:buAutoNum type="arabicPeriod"/>
            </a:pPr>
            <a:r>
              <a:rPr b="1" lang="en" sz="1600"/>
              <a:t>Why do anticipation and availability drive ticket sales?</a:t>
            </a:r>
            <a:endParaRPr b="1" sz="1600"/>
          </a:p>
          <a:p>
            <a:pPr indent="-330200" lvl="0" marL="457200" rtl="0" algn="l">
              <a:spcBef>
                <a:spcPts val="1000"/>
              </a:spcBef>
              <a:spcAft>
                <a:spcPts val="1000"/>
              </a:spcAft>
              <a:buSzPts val="1600"/>
              <a:buAutoNum type="arabicPeriod"/>
            </a:pPr>
            <a:r>
              <a:rPr b="1" lang="en" sz="1600"/>
              <a:t>Why does excitement and accessibility result in higher earnings?</a:t>
            </a:r>
            <a:endParaRPr b="1" sz="1600"/>
          </a:p>
        </p:txBody>
      </p:sp>
      <p:cxnSp>
        <p:nvCxnSpPr>
          <p:cNvPr id="195" name="Google Shape;195;p31"/>
          <p:cNvCxnSpPr/>
          <p:nvPr/>
        </p:nvCxnSpPr>
        <p:spPr>
          <a:xfrm flipH="1" rot="10800000">
            <a:off x="4129775" y="1084200"/>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196" name="Google Shape;196;p31"/>
          <p:cNvCxnSpPr/>
          <p:nvPr/>
        </p:nvCxnSpPr>
        <p:spPr>
          <a:xfrm flipH="1" rot="10800000">
            <a:off x="3930400" y="1824700"/>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197" name="Google Shape;197;p31"/>
          <p:cNvCxnSpPr/>
          <p:nvPr/>
        </p:nvCxnSpPr>
        <p:spPr>
          <a:xfrm flipH="1" rot="10800000">
            <a:off x="4129775" y="2816550"/>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198" name="Google Shape;198;p31"/>
          <p:cNvCxnSpPr/>
          <p:nvPr/>
        </p:nvCxnSpPr>
        <p:spPr>
          <a:xfrm flipH="1" rot="10800000">
            <a:off x="3930400" y="3626575"/>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199" name="Google Shape;199;p31"/>
          <p:cNvCxnSpPr/>
          <p:nvPr/>
        </p:nvCxnSpPr>
        <p:spPr>
          <a:xfrm flipH="1" rot="10800000">
            <a:off x="4015950" y="4548900"/>
            <a:ext cx="1112100" cy="10800"/>
          </a:xfrm>
          <a:prstGeom prst="straightConnector1">
            <a:avLst/>
          </a:prstGeom>
          <a:noFill/>
          <a:ln cap="flat" cmpd="sng" w="38100">
            <a:solidFill>
              <a:schemeClr val="accent4"/>
            </a:solidFill>
            <a:prstDash val="solid"/>
            <a:round/>
            <a:headEnd len="med" w="med" type="none"/>
            <a:tailEnd len="med" w="med" type="triangle"/>
          </a:ln>
        </p:spPr>
      </p:cxnSp>
      <p:sp>
        <p:nvSpPr>
          <p:cNvPr id="200" name="Google Shape;200;p31"/>
          <p:cNvSpPr txBox="1"/>
          <p:nvPr>
            <p:ph idx="1" type="subTitle"/>
          </p:nvPr>
        </p:nvSpPr>
        <p:spPr>
          <a:xfrm>
            <a:off x="1296025" y="-51300"/>
            <a:ext cx="7324800" cy="55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                                                          Explanation</a:t>
            </a:r>
            <a:endParaRPr b="1"/>
          </a:p>
        </p:txBody>
      </p:sp>
      <p:sp>
        <p:nvSpPr>
          <p:cNvPr id="201" name="Google Shape;201;p3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490250" y="526350"/>
            <a:ext cx="7446300" cy="4090800"/>
          </a:xfrm>
          <a:prstGeom prst="rect">
            <a:avLst/>
          </a:prstGeom>
        </p:spPr>
        <p:txBody>
          <a:bodyPr anchorCtr="0" anchor="ctr" bIns="91425" lIns="91425" spcFirstLastPara="1" rIns="91425" wrap="square" tIns="91425">
            <a:normAutofit/>
          </a:bodyPr>
          <a:lstStyle/>
          <a:p>
            <a:pPr indent="0" lvl="0" marL="0" rtl="0" algn="l">
              <a:lnSpc>
                <a:spcPct val="115000"/>
              </a:lnSpc>
              <a:spcBef>
                <a:spcPts val="1000"/>
              </a:spcBef>
              <a:spcAft>
                <a:spcPts val="0"/>
              </a:spcAft>
              <a:buClr>
                <a:schemeClr val="dk2"/>
              </a:buClr>
              <a:buSzPts val="1100"/>
              <a:buFont typeface="Arial"/>
              <a:buNone/>
            </a:pPr>
            <a:r>
              <a:rPr b="1" lang="en" sz="1800">
                <a:latin typeface="Arial"/>
                <a:ea typeface="Arial"/>
                <a:cs typeface="Arial"/>
                <a:sym typeface="Arial"/>
              </a:rPr>
              <a:t>Solution:</a:t>
            </a:r>
            <a:endParaRPr b="1" sz="1800">
              <a:latin typeface="Arial"/>
              <a:ea typeface="Arial"/>
              <a:cs typeface="Arial"/>
              <a:sym typeface="Arial"/>
            </a:endParaRPr>
          </a:p>
          <a:p>
            <a:pPr indent="-342900" lvl="0" marL="457200" rtl="0" algn="l">
              <a:lnSpc>
                <a:spcPct val="115000"/>
              </a:lnSpc>
              <a:spcBef>
                <a:spcPts val="1000"/>
              </a:spcBef>
              <a:spcAft>
                <a:spcPts val="0"/>
              </a:spcAft>
              <a:buClr>
                <a:schemeClr val="lt1"/>
              </a:buClr>
              <a:buSzPts val="1800"/>
              <a:buFont typeface="Arial"/>
              <a:buChar char="●"/>
            </a:pPr>
            <a:r>
              <a:rPr b="1" lang="en" sz="1800">
                <a:latin typeface="Arial"/>
                <a:ea typeface="Arial"/>
                <a:cs typeface="Arial"/>
                <a:sym typeface="Arial"/>
              </a:rPr>
              <a:t>Invest in comprehensive marketing campaigns</a:t>
            </a:r>
            <a:r>
              <a:rPr lang="en" sz="1800">
                <a:latin typeface="Arial"/>
                <a:ea typeface="Arial"/>
                <a:cs typeface="Arial"/>
                <a:sym typeface="Arial"/>
              </a:rPr>
              <a:t>: Allocate a significant portion of the budget to marketing to build anticipation.</a:t>
            </a:r>
            <a:endParaRPr sz="1800">
              <a:latin typeface="Arial"/>
              <a:ea typeface="Arial"/>
              <a:cs typeface="Arial"/>
              <a:sym typeface="Arial"/>
            </a:endParaRPr>
          </a:p>
          <a:p>
            <a:pPr indent="-342900" lvl="0" marL="457200" rtl="0" algn="l">
              <a:lnSpc>
                <a:spcPct val="115000"/>
              </a:lnSpc>
              <a:spcBef>
                <a:spcPts val="1000"/>
              </a:spcBef>
              <a:spcAft>
                <a:spcPts val="0"/>
              </a:spcAft>
              <a:buClr>
                <a:schemeClr val="lt1"/>
              </a:buClr>
              <a:buSzPts val="1800"/>
              <a:buFont typeface="Arial"/>
              <a:buChar char="●"/>
            </a:pPr>
            <a:r>
              <a:rPr b="1" lang="en" sz="1800">
                <a:latin typeface="Arial"/>
                <a:ea typeface="Arial"/>
                <a:cs typeface="Arial"/>
                <a:sym typeface="Arial"/>
              </a:rPr>
              <a:t>Ensure wide distribution</a:t>
            </a:r>
            <a:r>
              <a:rPr lang="en" sz="1800">
                <a:latin typeface="Arial"/>
                <a:ea typeface="Arial"/>
                <a:cs typeface="Arial"/>
                <a:sym typeface="Arial"/>
              </a:rPr>
              <a:t>: Partner with major distribution channels to make the movie accessible to a larger audience.</a:t>
            </a:r>
            <a:endParaRPr sz="1800">
              <a:latin typeface="Arial"/>
              <a:ea typeface="Arial"/>
              <a:cs typeface="Arial"/>
              <a:sym typeface="Arial"/>
            </a:endParaRPr>
          </a:p>
          <a:p>
            <a:pPr indent="0" lvl="0" marL="0" rtl="0" algn="l">
              <a:spcBef>
                <a:spcPts val="1000"/>
              </a:spcBef>
              <a:spcAft>
                <a:spcPts val="1000"/>
              </a:spcAft>
              <a:buNone/>
            </a:pPr>
            <a:r>
              <a:t/>
            </a:r>
            <a:endParaRPr sz="1800"/>
          </a:p>
        </p:txBody>
      </p:sp>
      <p:sp>
        <p:nvSpPr>
          <p:cNvPr id="207" name="Google Shape;207;p3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Five Why’s Approach continued</a:t>
            </a:r>
            <a:endParaRPr/>
          </a:p>
        </p:txBody>
      </p:sp>
      <p:sp>
        <p:nvSpPr>
          <p:cNvPr id="213" name="Google Shape;213;p33"/>
          <p:cNvSpPr txBox="1"/>
          <p:nvPr>
            <p:ph idx="1" type="body"/>
          </p:nvPr>
        </p:nvSpPr>
        <p:spPr>
          <a:xfrm>
            <a:off x="311700" y="1757975"/>
            <a:ext cx="8520600" cy="281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a:t>
            </a:r>
            <a:r>
              <a:rPr lang="en"/>
              <a:t> </a:t>
            </a:r>
            <a:r>
              <a:rPr b="1" lang="en"/>
              <a:t>2</a:t>
            </a:r>
            <a:r>
              <a:rPr lang="en"/>
              <a:t> </a:t>
            </a:r>
            <a:r>
              <a:rPr lang="en"/>
              <a:t>:</a:t>
            </a:r>
            <a:endParaRPr/>
          </a:p>
          <a:p>
            <a:pPr indent="0" lvl="0" marL="0" rtl="0" algn="l">
              <a:spcBef>
                <a:spcPts val="1200"/>
              </a:spcBef>
              <a:spcAft>
                <a:spcPts val="1200"/>
              </a:spcAft>
              <a:buNone/>
            </a:pPr>
            <a:r>
              <a:rPr b="1" i="1" lang="en" sz="2300"/>
              <a:t>"Why do movies directed by certain directors have higher average IMDB scores?"</a:t>
            </a:r>
            <a:endParaRPr b="1" i="1" sz="2300"/>
          </a:p>
        </p:txBody>
      </p:sp>
      <p:sp>
        <p:nvSpPr>
          <p:cNvPr id="214" name="Google Shape;214;p3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4"/>
          <p:cNvSpPr txBox="1"/>
          <p:nvPr>
            <p:ph idx="2" type="body"/>
          </p:nvPr>
        </p:nvSpPr>
        <p:spPr>
          <a:xfrm>
            <a:off x="4939500" y="635175"/>
            <a:ext cx="4066500" cy="4427100"/>
          </a:xfrm>
          <a:prstGeom prst="rect">
            <a:avLst/>
          </a:prstGeom>
        </p:spPr>
        <p:txBody>
          <a:bodyPr anchorCtr="0" anchor="t" bIns="91425" lIns="91425" spcFirstLastPara="1" rIns="91425" wrap="square" tIns="91425">
            <a:noAutofit/>
          </a:bodyPr>
          <a:lstStyle/>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Some directors consistently produce high-quality films.</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They have a unique vision and expertise that resonates with audiences.</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They understand audience preferences and excel at storytelling and visual presentation.</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0"/>
              </a:spcAft>
              <a:buSzPts val="1525"/>
              <a:buFont typeface="Playfair Display Medium"/>
              <a:buAutoNum type="arabicPeriod"/>
            </a:pPr>
            <a:r>
              <a:rPr lang="en" sz="1525">
                <a:latin typeface="Playfair Display Medium"/>
                <a:ea typeface="Playfair Display Medium"/>
                <a:cs typeface="Playfair Display Medium"/>
                <a:sym typeface="Playfair Display Medium"/>
              </a:rPr>
              <a:t>Good storytelling and visuals enhance the viewer's experience and satisfaction.</a:t>
            </a:r>
            <a:endParaRPr sz="1525">
              <a:latin typeface="Playfair Display Medium"/>
              <a:ea typeface="Playfair Display Medium"/>
              <a:cs typeface="Playfair Display Medium"/>
              <a:sym typeface="Playfair Display Medium"/>
            </a:endParaRPr>
          </a:p>
          <a:p>
            <a:pPr indent="-325437" lvl="0" marL="457200" rtl="0" algn="l">
              <a:lnSpc>
                <a:spcPct val="115000"/>
              </a:lnSpc>
              <a:spcBef>
                <a:spcPts val="1000"/>
              </a:spcBef>
              <a:spcAft>
                <a:spcPts val="1000"/>
              </a:spcAft>
              <a:buSzPts val="1525"/>
              <a:buFont typeface="Playfair Display Medium"/>
              <a:buAutoNum type="arabicPeriod"/>
            </a:pPr>
            <a:r>
              <a:rPr lang="en" sz="1525">
                <a:latin typeface="Playfair Display Medium"/>
                <a:ea typeface="Playfair Display Medium"/>
                <a:cs typeface="Playfair Display Medium"/>
                <a:sym typeface="Playfair Display Medium"/>
              </a:rPr>
              <a:t>Satisfied viewers are more likely to give positive reviews and high ratings.</a:t>
            </a:r>
            <a:endParaRPr sz="1525">
              <a:latin typeface="Playfair Display Medium"/>
              <a:ea typeface="Playfair Display Medium"/>
              <a:cs typeface="Playfair Display Medium"/>
              <a:sym typeface="Playfair Display Medium"/>
            </a:endParaRPr>
          </a:p>
        </p:txBody>
      </p:sp>
      <p:sp>
        <p:nvSpPr>
          <p:cNvPr id="220" name="Google Shape;220;p34"/>
          <p:cNvSpPr txBox="1"/>
          <p:nvPr>
            <p:ph idx="2" type="body"/>
          </p:nvPr>
        </p:nvSpPr>
        <p:spPr>
          <a:xfrm>
            <a:off x="365425" y="635100"/>
            <a:ext cx="3837000" cy="4630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b="1" lang="en" sz="1600"/>
              <a:t>Why do movies directed by certain directors have higher average IMDB scores?</a:t>
            </a:r>
            <a:endParaRPr b="1" sz="1600"/>
          </a:p>
          <a:p>
            <a:pPr indent="-330200" lvl="0" marL="457200" rtl="0" algn="l">
              <a:spcBef>
                <a:spcPts val="1000"/>
              </a:spcBef>
              <a:spcAft>
                <a:spcPts val="0"/>
              </a:spcAft>
              <a:buSzPts val="1600"/>
              <a:buAutoNum type="arabicPeriod"/>
            </a:pPr>
            <a:r>
              <a:rPr b="1" lang="en" sz="1600"/>
              <a:t>Why do these directors consistently produce high-quality films?</a:t>
            </a:r>
            <a:endParaRPr b="1" sz="1600"/>
          </a:p>
          <a:p>
            <a:pPr indent="-330200" lvl="0" marL="457200" rtl="0" algn="l">
              <a:spcBef>
                <a:spcPts val="1000"/>
              </a:spcBef>
              <a:spcAft>
                <a:spcPts val="0"/>
              </a:spcAft>
              <a:buSzPts val="1600"/>
              <a:buAutoNum type="arabicPeriod"/>
            </a:pPr>
            <a:r>
              <a:rPr b="1" lang="en" sz="1600"/>
              <a:t>Why does their vision and expertise resonate with audiences?</a:t>
            </a:r>
            <a:endParaRPr b="1" sz="1600"/>
          </a:p>
          <a:p>
            <a:pPr indent="-330200" lvl="0" marL="457200" rtl="0" algn="l">
              <a:spcBef>
                <a:spcPts val="1000"/>
              </a:spcBef>
              <a:spcAft>
                <a:spcPts val="0"/>
              </a:spcAft>
              <a:buSzPts val="1600"/>
              <a:buAutoNum type="arabicPeriod"/>
            </a:pPr>
            <a:r>
              <a:rPr b="1" lang="en" sz="1600"/>
              <a:t>Why do storytelling and visual presentation matter?</a:t>
            </a:r>
            <a:endParaRPr b="1" sz="1600"/>
          </a:p>
          <a:p>
            <a:pPr indent="-330200" lvl="0" marL="457200" rtl="0" algn="l">
              <a:spcBef>
                <a:spcPts val="1000"/>
              </a:spcBef>
              <a:spcAft>
                <a:spcPts val="1000"/>
              </a:spcAft>
              <a:buSzPts val="1600"/>
              <a:buAutoNum type="arabicPeriod"/>
            </a:pPr>
            <a:r>
              <a:rPr b="1" lang="en" sz="1600"/>
              <a:t>Why does enhanced viewer experience lead to higher scores?</a:t>
            </a:r>
            <a:endParaRPr b="1" sz="1600"/>
          </a:p>
        </p:txBody>
      </p:sp>
      <p:cxnSp>
        <p:nvCxnSpPr>
          <p:cNvPr id="221" name="Google Shape;221;p34"/>
          <p:cNvCxnSpPr/>
          <p:nvPr/>
        </p:nvCxnSpPr>
        <p:spPr>
          <a:xfrm flipH="1" rot="10800000">
            <a:off x="4129775" y="1084200"/>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222" name="Google Shape;222;p34"/>
          <p:cNvCxnSpPr/>
          <p:nvPr/>
        </p:nvCxnSpPr>
        <p:spPr>
          <a:xfrm flipH="1" rot="10800000">
            <a:off x="3930400" y="1824700"/>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223" name="Google Shape;223;p34"/>
          <p:cNvCxnSpPr/>
          <p:nvPr/>
        </p:nvCxnSpPr>
        <p:spPr>
          <a:xfrm flipH="1" rot="10800000">
            <a:off x="4129775" y="2816550"/>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224" name="Google Shape;224;p34"/>
          <p:cNvCxnSpPr/>
          <p:nvPr/>
        </p:nvCxnSpPr>
        <p:spPr>
          <a:xfrm flipH="1" rot="10800000">
            <a:off x="3930400" y="3626575"/>
            <a:ext cx="1112100" cy="10800"/>
          </a:xfrm>
          <a:prstGeom prst="straightConnector1">
            <a:avLst/>
          </a:prstGeom>
          <a:noFill/>
          <a:ln cap="flat" cmpd="sng" w="38100">
            <a:solidFill>
              <a:schemeClr val="accent4"/>
            </a:solidFill>
            <a:prstDash val="solid"/>
            <a:round/>
            <a:headEnd len="med" w="med" type="none"/>
            <a:tailEnd len="med" w="med" type="triangle"/>
          </a:ln>
        </p:spPr>
      </p:cxnSp>
      <p:cxnSp>
        <p:nvCxnSpPr>
          <p:cNvPr id="225" name="Google Shape;225;p34"/>
          <p:cNvCxnSpPr/>
          <p:nvPr/>
        </p:nvCxnSpPr>
        <p:spPr>
          <a:xfrm flipH="1" rot="10800000">
            <a:off x="4015950" y="4548900"/>
            <a:ext cx="1112100" cy="10800"/>
          </a:xfrm>
          <a:prstGeom prst="straightConnector1">
            <a:avLst/>
          </a:prstGeom>
          <a:noFill/>
          <a:ln cap="flat" cmpd="sng" w="38100">
            <a:solidFill>
              <a:schemeClr val="accent4"/>
            </a:solidFill>
            <a:prstDash val="solid"/>
            <a:round/>
            <a:headEnd len="med" w="med" type="none"/>
            <a:tailEnd len="med" w="med" type="triangle"/>
          </a:ln>
        </p:spPr>
      </p:cxnSp>
      <p:sp>
        <p:nvSpPr>
          <p:cNvPr id="226" name="Google Shape;226;p34"/>
          <p:cNvSpPr txBox="1"/>
          <p:nvPr>
            <p:ph idx="1" type="subTitle"/>
          </p:nvPr>
        </p:nvSpPr>
        <p:spPr>
          <a:xfrm>
            <a:off x="1296025" y="-51300"/>
            <a:ext cx="7324800" cy="55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                                                          Explanation</a:t>
            </a:r>
            <a:endParaRPr b="1"/>
          </a:p>
        </p:txBody>
      </p:sp>
      <p:sp>
        <p:nvSpPr>
          <p:cNvPr id="227" name="Google Shape;227;p3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490250" y="526350"/>
            <a:ext cx="7446300" cy="4090800"/>
          </a:xfrm>
          <a:prstGeom prst="rect">
            <a:avLst/>
          </a:prstGeom>
        </p:spPr>
        <p:txBody>
          <a:bodyPr anchorCtr="0" anchor="ctr" bIns="91425" lIns="91425" spcFirstLastPara="1" rIns="91425" wrap="square" tIns="91425">
            <a:normAutofit/>
          </a:bodyPr>
          <a:lstStyle/>
          <a:p>
            <a:pPr indent="0" lvl="0" marL="0" rtl="0" algn="l">
              <a:lnSpc>
                <a:spcPct val="115000"/>
              </a:lnSpc>
              <a:spcBef>
                <a:spcPts val="1000"/>
              </a:spcBef>
              <a:spcAft>
                <a:spcPts val="0"/>
              </a:spcAft>
              <a:buNone/>
            </a:pPr>
            <a:r>
              <a:rPr b="1" lang="en" sz="1800">
                <a:latin typeface="Arial"/>
                <a:ea typeface="Arial"/>
                <a:cs typeface="Arial"/>
                <a:sym typeface="Arial"/>
              </a:rPr>
              <a:t>Solution:</a:t>
            </a:r>
            <a:endParaRPr b="1" sz="1800">
              <a:latin typeface="Arial"/>
              <a:ea typeface="Arial"/>
              <a:cs typeface="Arial"/>
              <a:sym typeface="Arial"/>
            </a:endParaRPr>
          </a:p>
          <a:p>
            <a:pPr indent="-342900" lvl="0" marL="457200" rtl="0" algn="l">
              <a:lnSpc>
                <a:spcPct val="115000"/>
              </a:lnSpc>
              <a:spcBef>
                <a:spcPts val="1000"/>
              </a:spcBef>
              <a:spcAft>
                <a:spcPts val="0"/>
              </a:spcAft>
              <a:buClr>
                <a:schemeClr val="lt1"/>
              </a:buClr>
              <a:buSzPts val="1800"/>
              <a:buFont typeface="Arial"/>
              <a:buChar char="●"/>
            </a:pPr>
            <a:r>
              <a:rPr b="1" lang="en" sz="1800">
                <a:latin typeface="Arial"/>
                <a:ea typeface="Arial"/>
                <a:cs typeface="Arial"/>
                <a:sym typeface="Arial"/>
              </a:rPr>
              <a:t>Identify and emulate successful directors' techniques</a:t>
            </a:r>
            <a:r>
              <a:rPr lang="en" sz="1800">
                <a:latin typeface="Arial"/>
                <a:ea typeface="Arial"/>
                <a:cs typeface="Arial"/>
                <a:sym typeface="Arial"/>
              </a:rPr>
              <a:t>: Study the methods and styles of successful directors to understand what makes their movies highly rated.</a:t>
            </a:r>
            <a:endParaRPr sz="1800">
              <a:latin typeface="Arial"/>
              <a:ea typeface="Arial"/>
              <a:cs typeface="Arial"/>
              <a:sym typeface="Arial"/>
            </a:endParaRPr>
          </a:p>
          <a:p>
            <a:pPr indent="-342900" lvl="0" marL="457200" rtl="0" algn="l">
              <a:lnSpc>
                <a:spcPct val="115000"/>
              </a:lnSpc>
              <a:spcBef>
                <a:spcPts val="1000"/>
              </a:spcBef>
              <a:spcAft>
                <a:spcPts val="0"/>
              </a:spcAft>
              <a:buClr>
                <a:schemeClr val="lt1"/>
              </a:buClr>
              <a:buSzPts val="1800"/>
              <a:buFont typeface="Arial"/>
              <a:buChar char="●"/>
            </a:pPr>
            <a:r>
              <a:rPr b="1" lang="en" sz="1800">
                <a:latin typeface="Arial"/>
                <a:ea typeface="Arial"/>
                <a:cs typeface="Arial"/>
                <a:sym typeface="Arial"/>
              </a:rPr>
              <a:t>Invest in director development</a:t>
            </a:r>
            <a:r>
              <a:rPr lang="en" sz="1800">
                <a:latin typeface="Arial"/>
                <a:ea typeface="Arial"/>
                <a:cs typeface="Arial"/>
                <a:sym typeface="Arial"/>
              </a:rPr>
              <a:t>: Provide resources and training to up-and-coming directors to hone their skills and vision.</a:t>
            </a:r>
            <a:endParaRPr sz="1800">
              <a:latin typeface="Arial"/>
              <a:ea typeface="Arial"/>
              <a:cs typeface="Arial"/>
              <a:sym typeface="Arial"/>
            </a:endParaRPr>
          </a:p>
          <a:p>
            <a:pPr indent="0" lvl="0" marL="0" rtl="0" algn="l">
              <a:spcBef>
                <a:spcPts val="1000"/>
              </a:spcBef>
              <a:spcAft>
                <a:spcPts val="1000"/>
              </a:spcAft>
              <a:buNone/>
            </a:pPr>
            <a:r>
              <a:t/>
            </a:r>
            <a:endParaRPr b="1" sz="1800">
              <a:latin typeface="Arial"/>
              <a:ea typeface="Arial"/>
              <a:cs typeface="Arial"/>
              <a:sym typeface="Arial"/>
            </a:endParaRPr>
          </a:p>
        </p:txBody>
      </p:sp>
      <p:sp>
        <p:nvSpPr>
          <p:cNvPr id="233" name="Google Shape;233;p3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 Analytics Tasks</a:t>
            </a:r>
            <a:endParaRPr/>
          </a:p>
        </p:txBody>
      </p:sp>
      <p:sp>
        <p:nvSpPr>
          <p:cNvPr id="239" name="Google Shape;239;p3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Analytics Tasks</a:t>
            </a:r>
            <a:endParaRPr/>
          </a:p>
        </p:txBody>
      </p:sp>
      <p:sp>
        <p:nvSpPr>
          <p:cNvPr id="245" name="Google Shape;245;p3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342900" lvl="0" marL="457200" rtl="0" algn="l">
              <a:spcBef>
                <a:spcPts val="1200"/>
              </a:spcBef>
              <a:spcAft>
                <a:spcPts val="0"/>
              </a:spcAft>
              <a:buSzPts val="1800"/>
              <a:buAutoNum type="arabicPeriod"/>
            </a:pPr>
            <a:r>
              <a:rPr b="1" lang="en"/>
              <a:t>Movie Genre Analysis</a:t>
            </a:r>
            <a:endParaRPr b="1"/>
          </a:p>
          <a:p>
            <a:pPr indent="-342900" lvl="0" marL="457200" rtl="0" algn="l">
              <a:spcBef>
                <a:spcPts val="0"/>
              </a:spcBef>
              <a:spcAft>
                <a:spcPts val="0"/>
              </a:spcAft>
              <a:buSzPts val="1800"/>
              <a:buAutoNum type="arabicPeriod"/>
            </a:pPr>
            <a:r>
              <a:rPr b="1" lang="en"/>
              <a:t>Movie Duration Analysis</a:t>
            </a:r>
            <a:endParaRPr b="1"/>
          </a:p>
          <a:p>
            <a:pPr indent="-342900" lvl="0" marL="457200" rtl="0" algn="l">
              <a:spcBef>
                <a:spcPts val="0"/>
              </a:spcBef>
              <a:spcAft>
                <a:spcPts val="0"/>
              </a:spcAft>
              <a:buSzPts val="1800"/>
              <a:buAutoNum type="arabicPeriod"/>
            </a:pPr>
            <a:r>
              <a:rPr b="1" lang="en"/>
              <a:t>Language Analysis</a:t>
            </a:r>
            <a:endParaRPr b="1"/>
          </a:p>
          <a:p>
            <a:pPr indent="-342900" lvl="0" marL="457200" rtl="0" algn="l">
              <a:spcBef>
                <a:spcPts val="0"/>
              </a:spcBef>
              <a:spcAft>
                <a:spcPts val="0"/>
              </a:spcAft>
              <a:buSzPts val="1800"/>
              <a:buAutoNum type="arabicPeriod"/>
            </a:pPr>
            <a:r>
              <a:rPr b="1" lang="en"/>
              <a:t>Director Analysis</a:t>
            </a:r>
            <a:endParaRPr b="1"/>
          </a:p>
          <a:p>
            <a:pPr indent="-342900" lvl="0" marL="457200" rtl="0" algn="l">
              <a:spcBef>
                <a:spcPts val="0"/>
              </a:spcBef>
              <a:spcAft>
                <a:spcPts val="0"/>
              </a:spcAft>
              <a:buSzPts val="1800"/>
              <a:buAutoNum type="arabicPeriod"/>
            </a:pPr>
            <a:r>
              <a:rPr b="1" lang="en"/>
              <a:t>Budget Analysis</a:t>
            </a:r>
            <a:endParaRPr b="1"/>
          </a:p>
          <a:p>
            <a:pPr indent="0" lvl="0" marL="457200" rtl="0" algn="l">
              <a:spcBef>
                <a:spcPts val="1200"/>
              </a:spcBef>
              <a:spcAft>
                <a:spcPts val="1200"/>
              </a:spcAft>
              <a:buNone/>
            </a:pPr>
            <a:r>
              <a:t/>
            </a:r>
            <a:endParaRPr/>
          </a:p>
        </p:txBody>
      </p:sp>
      <p:sp>
        <p:nvSpPr>
          <p:cNvPr id="246" name="Google Shape;246;p3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Movie Genre Analysis</a:t>
            </a:r>
            <a:endParaRPr/>
          </a:p>
        </p:txBody>
      </p:sp>
      <p:sp>
        <p:nvSpPr>
          <p:cNvPr id="252" name="Google Shape;252;p38"/>
          <p:cNvSpPr txBox="1"/>
          <p:nvPr>
            <p:ph idx="1" type="body"/>
          </p:nvPr>
        </p:nvSpPr>
        <p:spPr>
          <a:xfrm>
            <a:off x="311700" y="1266100"/>
            <a:ext cx="4609500" cy="3877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objective of the movie genre analysis is to understand the distribution of movie genres in the dataset and analyze their impact on the IMDB score. This involves calculating descriptive statistics (mean, median, mode, range, variance, standard deviation) for IMDB scores across different genres.</a:t>
            </a:r>
            <a:endParaRPr/>
          </a:p>
          <a:p>
            <a:pPr indent="-342900" lvl="0" marL="457200" rtl="0" algn="l">
              <a:spcBef>
                <a:spcPts val="1200"/>
              </a:spcBef>
              <a:spcAft>
                <a:spcPts val="0"/>
              </a:spcAft>
              <a:buSzPts val="1800"/>
              <a:buChar char="●"/>
            </a:pPr>
            <a:r>
              <a:rPr lang="en"/>
              <a:t>To analyse the genre column, I converted the “text to columns” in genre column, using ”|” as the delimiter</a:t>
            </a:r>
            <a:endParaRPr/>
          </a:p>
        </p:txBody>
      </p:sp>
      <p:pic>
        <p:nvPicPr>
          <p:cNvPr id="253" name="Google Shape;253;p38"/>
          <p:cNvPicPr preferRelativeResize="0"/>
          <p:nvPr/>
        </p:nvPicPr>
        <p:blipFill>
          <a:blip r:embed="rId3">
            <a:alphaModFix/>
          </a:blip>
          <a:stretch>
            <a:fillRect/>
          </a:stretch>
        </p:blipFill>
        <p:spPr>
          <a:xfrm>
            <a:off x="5134950" y="1175200"/>
            <a:ext cx="3956549" cy="3149200"/>
          </a:xfrm>
          <a:prstGeom prst="rect">
            <a:avLst/>
          </a:prstGeom>
          <a:noFill/>
          <a:ln>
            <a:noFill/>
          </a:ln>
        </p:spPr>
      </p:pic>
      <p:sp>
        <p:nvSpPr>
          <p:cNvPr id="254" name="Google Shape;254;p3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Movie Genre Analysis continued</a:t>
            </a:r>
            <a:endParaRPr/>
          </a:p>
        </p:txBody>
      </p:sp>
      <p:sp>
        <p:nvSpPr>
          <p:cNvPr id="260" name="Google Shape;260;p39"/>
          <p:cNvSpPr txBox="1"/>
          <p:nvPr>
            <p:ph idx="1" type="body"/>
          </p:nvPr>
        </p:nvSpPr>
        <p:spPr>
          <a:xfrm>
            <a:off x="311700" y="1266100"/>
            <a:ext cx="4260300" cy="3303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Then I created new columns for each Genre (eg: Action, History, Crime), etc and populated it with binary values 1 or 0 if it exists in the row, for this i used the formula:</a:t>
            </a:r>
            <a:endParaRPr/>
          </a:p>
          <a:p>
            <a:pPr indent="0" lvl="0" marL="457200" rtl="0" algn="l">
              <a:spcBef>
                <a:spcPts val="1200"/>
              </a:spcBef>
              <a:spcAft>
                <a:spcPts val="0"/>
              </a:spcAft>
              <a:buNone/>
            </a:pPr>
            <a:r>
              <a:rPr b="1" lang="en" sz="1000">
                <a:latin typeface="Arial"/>
                <a:ea typeface="Arial"/>
                <a:cs typeface="Arial"/>
                <a:sym typeface="Arial"/>
              </a:rPr>
              <a:t>=IF(ISNUMBER(SEARCH("Action",H2&amp;I2&amp;J2&amp;K2&amp;L2&amp;M2&amp;N2)),1,0)</a:t>
            </a:r>
            <a:endParaRPr b="1" sz="1000">
              <a:latin typeface="Arial"/>
              <a:ea typeface="Arial"/>
              <a:cs typeface="Arial"/>
              <a:sym typeface="Arial"/>
            </a:endParaRPr>
          </a:p>
          <a:p>
            <a:pPr indent="0" lvl="0" marL="457200" rtl="0" algn="l">
              <a:spcBef>
                <a:spcPts val="1200"/>
              </a:spcBef>
              <a:spcAft>
                <a:spcPts val="1200"/>
              </a:spcAft>
              <a:buNone/>
            </a:pPr>
            <a:r>
              <a:rPr lang="en"/>
              <a:t>Repeating this for all the genres, gave me a matrix form for all genres</a:t>
            </a:r>
            <a:endParaRPr/>
          </a:p>
        </p:txBody>
      </p:sp>
      <p:pic>
        <p:nvPicPr>
          <p:cNvPr id="261" name="Google Shape;261;p39"/>
          <p:cNvPicPr preferRelativeResize="0"/>
          <p:nvPr/>
        </p:nvPicPr>
        <p:blipFill>
          <a:blip r:embed="rId3">
            <a:alphaModFix/>
          </a:blip>
          <a:stretch>
            <a:fillRect/>
          </a:stretch>
        </p:blipFill>
        <p:spPr>
          <a:xfrm>
            <a:off x="4724400" y="1170125"/>
            <a:ext cx="4267201" cy="2919000"/>
          </a:xfrm>
          <a:prstGeom prst="rect">
            <a:avLst/>
          </a:prstGeom>
          <a:noFill/>
          <a:ln>
            <a:noFill/>
          </a:ln>
        </p:spPr>
      </p:pic>
      <p:sp>
        <p:nvSpPr>
          <p:cNvPr id="262" name="Google Shape;262;p3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Movie Genre Analysis continued</a:t>
            </a:r>
            <a:endParaRPr/>
          </a:p>
        </p:txBody>
      </p:sp>
      <p:sp>
        <p:nvSpPr>
          <p:cNvPr id="268" name="Google Shape;268;p40"/>
          <p:cNvSpPr txBox="1"/>
          <p:nvPr>
            <p:ph idx="1" type="body"/>
          </p:nvPr>
        </p:nvSpPr>
        <p:spPr>
          <a:xfrm>
            <a:off x="311700" y="1266100"/>
            <a:ext cx="4965300" cy="3877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Then i calculated the </a:t>
            </a:r>
            <a:r>
              <a:rPr lang="en" sz="1600"/>
              <a:t>descriptive</a:t>
            </a:r>
            <a:r>
              <a:rPr lang="en" sz="1600"/>
              <a:t> statistics for all genres</a:t>
            </a:r>
            <a:endParaRPr sz="1600"/>
          </a:p>
          <a:p>
            <a:pPr indent="0" lvl="0" marL="0" rtl="0" algn="l">
              <a:spcBef>
                <a:spcPts val="1200"/>
              </a:spcBef>
              <a:spcAft>
                <a:spcPts val="0"/>
              </a:spcAft>
              <a:buNone/>
            </a:pPr>
            <a:r>
              <a:rPr b="1" lang="en" sz="1600"/>
              <a:t>Most Common Genres</a:t>
            </a:r>
            <a:endParaRPr b="1" sz="1600"/>
          </a:p>
          <a:p>
            <a:pPr indent="0" lvl="0" marL="0" rtl="0" algn="l">
              <a:spcBef>
                <a:spcPts val="1200"/>
              </a:spcBef>
              <a:spcAft>
                <a:spcPts val="0"/>
              </a:spcAft>
              <a:buNone/>
            </a:pPr>
            <a:r>
              <a:rPr lang="en" sz="1600"/>
              <a:t>The most common genres in the dataset are:</a:t>
            </a:r>
            <a:endParaRPr sz="1600"/>
          </a:p>
          <a:p>
            <a:pPr indent="-330200" lvl="0" marL="457200" rtl="0" algn="l">
              <a:spcBef>
                <a:spcPts val="1200"/>
              </a:spcBef>
              <a:spcAft>
                <a:spcPts val="0"/>
              </a:spcAft>
              <a:buSzPts val="1600"/>
              <a:buFont typeface="Arial"/>
              <a:buAutoNum type="arabicPeriod"/>
            </a:pPr>
            <a:r>
              <a:rPr b="1" lang="en" sz="1600"/>
              <a:t>Drama</a:t>
            </a:r>
            <a:r>
              <a:rPr lang="en" sz="1600"/>
              <a:t>: 2594 occurrences</a:t>
            </a:r>
            <a:endParaRPr sz="1600"/>
          </a:p>
          <a:p>
            <a:pPr indent="-330200" lvl="0" marL="457200" rtl="0" algn="l">
              <a:spcBef>
                <a:spcPts val="0"/>
              </a:spcBef>
              <a:spcAft>
                <a:spcPts val="0"/>
              </a:spcAft>
              <a:buSzPts val="1600"/>
              <a:buFont typeface="Arial"/>
              <a:buAutoNum type="arabicPeriod"/>
            </a:pPr>
            <a:r>
              <a:rPr b="1" lang="en" sz="1600"/>
              <a:t>Comedy</a:t>
            </a:r>
            <a:r>
              <a:rPr lang="en" sz="1600"/>
              <a:t>: 1872 occurrences</a:t>
            </a:r>
            <a:endParaRPr sz="1600"/>
          </a:p>
          <a:p>
            <a:pPr indent="-330200" lvl="0" marL="457200" rtl="0" algn="l">
              <a:spcBef>
                <a:spcPts val="0"/>
              </a:spcBef>
              <a:spcAft>
                <a:spcPts val="0"/>
              </a:spcAft>
              <a:buSzPts val="1600"/>
              <a:buFont typeface="Arial"/>
              <a:buAutoNum type="arabicPeriod"/>
            </a:pPr>
            <a:r>
              <a:rPr b="1" lang="en" sz="1600"/>
              <a:t>Thriller</a:t>
            </a:r>
            <a:r>
              <a:rPr lang="en" sz="1600"/>
              <a:t>: 1411 occurrences</a:t>
            </a:r>
            <a:endParaRPr sz="1600"/>
          </a:p>
          <a:p>
            <a:pPr indent="-330200" lvl="0" marL="457200" rtl="0" algn="l">
              <a:spcBef>
                <a:spcPts val="0"/>
              </a:spcBef>
              <a:spcAft>
                <a:spcPts val="0"/>
              </a:spcAft>
              <a:buSzPts val="1600"/>
              <a:buFont typeface="Arial"/>
              <a:buAutoNum type="arabicPeriod"/>
            </a:pPr>
            <a:r>
              <a:rPr b="1" lang="en" sz="1600"/>
              <a:t>Action</a:t>
            </a:r>
            <a:r>
              <a:rPr lang="en" sz="1600"/>
              <a:t>: 1153 occurrences</a:t>
            </a:r>
            <a:endParaRPr sz="1600"/>
          </a:p>
          <a:p>
            <a:pPr indent="-330200" lvl="0" marL="457200" rtl="0" algn="l">
              <a:spcBef>
                <a:spcPts val="0"/>
              </a:spcBef>
              <a:spcAft>
                <a:spcPts val="0"/>
              </a:spcAft>
              <a:buSzPts val="1600"/>
              <a:buFont typeface="Arial"/>
              <a:buAutoNum type="arabicPeriod"/>
            </a:pPr>
            <a:r>
              <a:rPr b="1" lang="en" sz="1600"/>
              <a:t>Romance</a:t>
            </a:r>
            <a:r>
              <a:rPr lang="en" sz="1600"/>
              <a:t>: 1107 occurrences</a:t>
            </a:r>
            <a:endParaRPr sz="1600"/>
          </a:p>
          <a:p>
            <a:pPr indent="-330200" lvl="0" marL="457200" rtl="0" algn="l">
              <a:spcBef>
                <a:spcPts val="0"/>
              </a:spcBef>
              <a:spcAft>
                <a:spcPts val="0"/>
              </a:spcAft>
              <a:buSzPts val="1600"/>
              <a:buChar char="●"/>
            </a:pPr>
            <a:r>
              <a:rPr lang="en" sz="1600"/>
              <a:t>Also calculated mean median of genres using Average, Median, Mode, variance, StdDev formulas</a:t>
            </a:r>
            <a:endParaRPr sz="1600"/>
          </a:p>
        </p:txBody>
      </p:sp>
      <p:pic>
        <p:nvPicPr>
          <p:cNvPr id="269" name="Google Shape;269;p40"/>
          <p:cNvPicPr preferRelativeResize="0"/>
          <p:nvPr/>
        </p:nvPicPr>
        <p:blipFill>
          <a:blip r:embed="rId3">
            <a:alphaModFix/>
          </a:blip>
          <a:stretch>
            <a:fillRect/>
          </a:stretch>
        </p:blipFill>
        <p:spPr>
          <a:xfrm>
            <a:off x="5483625" y="661263"/>
            <a:ext cx="2274916" cy="3820975"/>
          </a:xfrm>
          <a:prstGeom prst="rect">
            <a:avLst/>
          </a:prstGeom>
          <a:noFill/>
          <a:ln>
            <a:noFill/>
          </a:ln>
        </p:spPr>
      </p:pic>
      <p:sp>
        <p:nvSpPr>
          <p:cNvPr id="270" name="Google Shape;270;p4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p:nvPr/>
        </p:nvSpPr>
        <p:spPr>
          <a:xfrm>
            <a:off x="6054575" y="549650"/>
            <a:ext cx="2824500" cy="409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276" name="Google Shape;27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Movie Genre Analysis continued</a:t>
            </a:r>
            <a:endParaRPr/>
          </a:p>
        </p:txBody>
      </p:sp>
      <p:pic>
        <p:nvPicPr>
          <p:cNvPr id="277" name="Google Shape;277;p41"/>
          <p:cNvPicPr preferRelativeResize="0"/>
          <p:nvPr/>
        </p:nvPicPr>
        <p:blipFill>
          <a:blip r:embed="rId3">
            <a:alphaModFix/>
          </a:blip>
          <a:stretch>
            <a:fillRect/>
          </a:stretch>
        </p:blipFill>
        <p:spPr>
          <a:xfrm>
            <a:off x="311700" y="1139325"/>
            <a:ext cx="2314419" cy="3820975"/>
          </a:xfrm>
          <a:prstGeom prst="rect">
            <a:avLst/>
          </a:prstGeom>
          <a:noFill/>
          <a:ln>
            <a:noFill/>
          </a:ln>
        </p:spPr>
      </p:pic>
      <p:pic>
        <p:nvPicPr>
          <p:cNvPr id="278" name="Google Shape;278;p41"/>
          <p:cNvPicPr preferRelativeResize="0"/>
          <p:nvPr/>
        </p:nvPicPr>
        <p:blipFill>
          <a:blip r:embed="rId4">
            <a:alphaModFix/>
          </a:blip>
          <a:stretch>
            <a:fillRect/>
          </a:stretch>
        </p:blipFill>
        <p:spPr>
          <a:xfrm>
            <a:off x="2897269" y="1563913"/>
            <a:ext cx="2771775" cy="2971800"/>
          </a:xfrm>
          <a:prstGeom prst="rect">
            <a:avLst/>
          </a:prstGeom>
          <a:noFill/>
          <a:ln>
            <a:noFill/>
          </a:ln>
        </p:spPr>
      </p:pic>
      <p:sp>
        <p:nvSpPr>
          <p:cNvPr id="279" name="Google Shape;279;p41"/>
          <p:cNvSpPr txBox="1"/>
          <p:nvPr>
            <p:ph idx="1" type="body"/>
          </p:nvPr>
        </p:nvSpPr>
        <p:spPr>
          <a:xfrm>
            <a:off x="6107500" y="633000"/>
            <a:ext cx="2771700" cy="3877500"/>
          </a:xfrm>
          <a:prstGeom prst="rect">
            <a:avLst/>
          </a:prstGeom>
        </p:spPr>
        <p:txBody>
          <a:bodyPr anchorCtr="0" anchor="t" bIns="91425" lIns="91425" spcFirstLastPara="1" rIns="91425" wrap="square" tIns="91425">
            <a:noAutofit/>
          </a:bodyPr>
          <a:lstStyle/>
          <a:p>
            <a:pPr indent="-342900" lvl="0" marL="457200" rtl="0" algn="l">
              <a:spcBef>
                <a:spcPts val="1200"/>
              </a:spcBef>
              <a:spcAft>
                <a:spcPts val="0"/>
              </a:spcAft>
              <a:buSzPts val="1800"/>
              <a:buFont typeface="Arial"/>
              <a:buChar char="●"/>
            </a:pPr>
            <a:r>
              <a:rPr b="1" lang="en"/>
              <a:t>Identified few Unique Genres from dataset :</a:t>
            </a:r>
            <a:endParaRPr b="1"/>
          </a:p>
          <a:p>
            <a:pPr indent="-336550" lvl="0" marL="457200" rtl="0" algn="l">
              <a:spcBef>
                <a:spcPts val="1000"/>
              </a:spcBef>
              <a:spcAft>
                <a:spcPts val="0"/>
              </a:spcAft>
              <a:buSzPts val="1700"/>
              <a:buAutoNum type="arabicPeriod"/>
            </a:pPr>
            <a:r>
              <a:rPr lang="en" sz="1700"/>
              <a:t>War</a:t>
            </a:r>
            <a:endParaRPr sz="1700"/>
          </a:p>
          <a:p>
            <a:pPr indent="-336550" lvl="0" marL="457200" rtl="0" algn="l">
              <a:spcBef>
                <a:spcPts val="0"/>
              </a:spcBef>
              <a:spcAft>
                <a:spcPts val="0"/>
              </a:spcAft>
              <a:buSzPts val="1700"/>
              <a:buAutoNum type="arabicPeriod"/>
            </a:pPr>
            <a:r>
              <a:rPr lang="en" sz="1700"/>
              <a:t>Western</a:t>
            </a:r>
            <a:endParaRPr sz="1700"/>
          </a:p>
          <a:p>
            <a:pPr indent="-336550" lvl="0" marL="457200" rtl="0" algn="l">
              <a:spcBef>
                <a:spcPts val="0"/>
              </a:spcBef>
              <a:spcAft>
                <a:spcPts val="0"/>
              </a:spcAft>
              <a:buSzPts val="1700"/>
              <a:buAutoNum type="arabicPeriod"/>
            </a:pPr>
            <a:r>
              <a:rPr lang="en" sz="1700"/>
              <a:t>Musical</a:t>
            </a:r>
            <a:endParaRPr sz="1700"/>
          </a:p>
          <a:p>
            <a:pPr indent="-336550" lvl="0" marL="457200" rtl="0" algn="l">
              <a:spcBef>
                <a:spcPts val="0"/>
              </a:spcBef>
              <a:spcAft>
                <a:spcPts val="0"/>
              </a:spcAft>
              <a:buSzPts val="1700"/>
              <a:buAutoNum type="arabicPeriod"/>
            </a:pPr>
            <a:r>
              <a:rPr lang="en" sz="1700"/>
              <a:t>Documentary</a:t>
            </a:r>
            <a:endParaRPr sz="1700"/>
          </a:p>
          <a:p>
            <a:pPr indent="-336550" lvl="0" marL="457200" rtl="0" algn="l">
              <a:spcBef>
                <a:spcPts val="0"/>
              </a:spcBef>
              <a:spcAft>
                <a:spcPts val="0"/>
              </a:spcAft>
              <a:buSzPts val="1700"/>
              <a:buAutoNum type="arabicPeriod"/>
            </a:pPr>
            <a:r>
              <a:rPr lang="en" sz="1700"/>
              <a:t>Biography</a:t>
            </a:r>
            <a:endParaRPr sz="1700"/>
          </a:p>
          <a:p>
            <a:pPr indent="-336550" lvl="0" marL="457200" rtl="0" algn="l">
              <a:spcBef>
                <a:spcPts val="0"/>
              </a:spcBef>
              <a:spcAft>
                <a:spcPts val="0"/>
              </a:spcAft>
              <a:buSzPts val="1700"/>
              <a:buAutoNum type="arabicPeriod"/>
            </a:pPr>
            <a:r>
              <a:rPr lang="en" sz="1700"/>
              <a:t>Animation</a:t>
            </a:r>
            <a:endParaRPr sz="1700"/>
          </a:p>
          <a:p>
            <a:pPr indent="-336550" lvl="0" marL="457200" rtl="0" algn="l">
              <a:spcBef>
                <a:spcPts val="0"/>
              </a:spcBef>
              <a:spcAft>
                <a:spcPts val="0"/>
              </a:spcAft>
              <a:buSzPts val="1700"/>
              <a:buAutoNum type="arabicPeriod"/>
            </a:pPr>
            <a:r>
              <a:rPr lang="en" sz="1700"/>
              <a:t>Sport</a:t>
            </a:r>
            <a:endParaRPr sz="1700"/>
          </a:p>
          <a:p>
            <a:pPr indent="-336550" lvl="0" marL="457200" rtl="0" algn="l">
              <a:spcBef>
                <a:spcPts val="0"/>
              </a:spcBef>
              <a:spcAft>
                <a:spcPts val="0"/>
              </a:spcAft>
              <a:buSzPts val="1700"/>
              <a:buAutoNum type="arabicPeriod"/>
            </a:pPr>
            <a:r>
              <a:rPr lang="en" sz="1700"/>
              <a:t>Family</a:t>
            </a:r>
            <a:endParaRPr sz="1700"/>
          </a:p>
        </p:txBody>
      </p:sp>
      <p:sp>
        <p:nvSpPr>
          <p:cNvPr id="280" name="Google Shape;280;p4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
              <a:t>Movie Genre Analysis continued</a:t>
            </a:r>
            <a:endParaRPr/>
          </a:p>
        </p:txBody>
      </p:sp>
      <p:sp>
        <p:nvSpPr>
          <p:cNvPr id="286" name="Google Shape;286;p42"/>
          <p:cNvSpPr txBox="1"/>
          <p:nvPr>
            <p:ph idx="1" type="body"/>
          </p:nvPr>
        </p:nvSpPr>
        <p:spPr>
          <a:xfrm>
            <a:off x="311700" y="1266100"/>
            <a:ext cx="8352000" cy="3877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a:t>Insights:</a:t>
            </a:r>
            <a:endParaRPr b="1"/>
          </a:p>
          <a:p>
            <a:pPr indent="-342900" lvl="0" marL="457200" rtl="0" algn="l">
              <a:spcBef>
                <a:spcPts val="1200"/>
              </a:spcBef>
              <a:spcAft>
                <a:spcPts val="0"/>
              </a:spcAft>
              <a:buSzPts val="1800"/>
              <a:buChar char="●"/>
            </a:pPr>
            <a:r>
              <a:rPr lang="en"/>
              <a:t>Determined which genres tend to receive higher IMDB scores. This can inform producers and directors about genres that are likely to be critically successful.</a:t>
            </a:r>
            <a:endParaRPr/>
          </a:p>
          <a:p>
            <a:pPr indent="-342900" lvl="0" marL="457200" rtl="0" algn="l">
              <a:spcBef>
                <a:spcPts val="0"/>
              </a:spcBef>
              <a:spcAft>
                <a:spcPts val="0"/>
              </a:spcAft>
              <a:buSzPts val="1800"/>
              <a:buChar char="●"/>
            </a:pPr>
            <a:r>
              <a:rPr lang="en"/>
              <a:t>Identify genres with the highest average IMDB scores. Action and Comedy came out as top 2 genres</a:t>
            </a:r>
            <a:endParaRPr/>
          </a:p>
          <a:p>
            <a:pPr indent="-342900" lvl="0" marL="457200" rtl="0" algn="l">
              <a:spcBef>
                <a:spcPts val="0"/>
              </a:spcBef>
              <a:spcAft>
                <a:spcPts val="0"/>
              </a:spcAft>
              <a:buSzPts val="1800"/>
              <a:buChar char="●"/>
            </a:pPr>
            <a:r>
              <a:rPr lang="en"/>
              <a:t>Understand the characteristics of outlier movies, which can provide lessons on what makes a movie exceptionally good or bad within a genre.</a:t>
            </a:r>
            <a:endParaRPr/>
          </a:p>
        </p:txBody>
      </p:sp>
      <p:sp>
        <p:nvSpPr>
          <p:cNvPr id="287" name="Google Shape;287;p4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265500" y="1081675"/>
            <a:ext cx="4045200" cy="1786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Movie Genre Distribution using plotly</a:t>
            </a:r>
            <a:endParaRPr/>
          </a:p>
        </p:txBody>
      </p:sp>
      <p:sp>
        <p:nvSpPr>
          <p:cNvPr id="293" name="Google Shape;293;p43"/>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Used python for this visualization</a:t>
            </a:r>
            <a:endParaRPr/>
          </a:p>
        </p:txBody>
      </p:sp>
      <p:pic>
        <p:nvPicPr>
          <p:cNvPr id="294" name="Google Shape;294;p43"/>
          <p:cNvPicPr preferRelativeResize="0"/>
          <p:nvPr/>
        </p:nvPicPr>
        <p:blipFill>
          <a:blip r:embed="rId3">
            <a:alphaModFix/>
          </a:blip>
          <a:stretch>
            <a:fillRect/>
          </a:stretch>
        </p:blipFill>
        <p:spPr>
          <a:xfrm>
            <a:off x="4572000" y="1193725"/>
            <a:ext cx="4637601" cy="2756049"/>
          </a:xfrm>
          <a:prstGeom prst="rect">
            <a:avLst/>
          </a:prstGeom>
          <a:noFill/>
          <a:ln>
            <a:noFill/>
          </a:ln>
        </p:spPr>
      </p:pic>
      <p:sp>
        <p:nvSpPr>
          <p:cNvPr id="295" name="Google Shape;295;p4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a:t>
            </a:r>
            <a:r>
              <a:rPr lang="en"/>
              <a:t>Movie Duration Analysis</a:t>
            </a:r>
            <a:endParaRPr/>
          </a:p>
        </p:txBody>
      </p:sp>
      <p:sp>
        <p:nvSpPr>
          <p:cNvPr id="301" name="Google Shape;301;p44"/>
          <p:cNvSpPr txBox="1"/>
          <p:nvPr>
            <p:ph idx="1" type="body"/>
          </p:nvPr>
        </p:nvSpPr>
        <p:spPr>
          <a:xfrm>
            <a:off x="311700" y="1266100"/>
            <a:ext cx="4695000" cy="3303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Find the Average, Median and Standard Deviation</a:t>
            </a:r>
            <a:endParaRPr sz="1700"/>
          </a:p>
          <a:p>
            <a:pPr indent="-336550" lvl="0" marL="457200" rtl="0" algn="l">
              <a:spcBef>
                <a:spcPts val="0"/>
              </a:spcBef>
              <a:spcAft>
                <a:spcPts val="0"/>
              </a:spcAft>
              <a:buSzPts val="1700"/>
              <a:buChar char="●"/>
            </a:pPr>
            <a:r>
              <a:rPr lang="en" sz="1700"/>
              <a:t>Used formulas:</a:t>
            </a:r>
            <a:endParaRPr sz="1700"/>
          </a:p>
          <a:p>
            <a:pPr indent="0" lvl="0" marL="457200" rtl="0" algn="l">
              <a:spcBef>
                <a:spcPts val="1200"/>
              </a:spcBef>
              <a:spcAft>
                <a:spcPts val="0"/>
              </a:spcAft>
              <a:buNone/>
            </a:pPr>
            <a:r>
              <a:rPr b="1" lang="en" sz="1600"/>
              <a:t>=AVERAGE(B2:B3850)</a:t>
            </a:r>
            <a:endParaRPr b="1" sz="1600"/>
          </a:p>
          <a:p>
            <a:pPr indent="0" lvl="0" marL="457200" rtl="0" algn="l">
              <a:spcBef>
                <a:spcPts val="1200"/>
              </a:spcBef>
              <a:spcAft>
                <a:spcPts val="0"/>
              </a:spcAft>
              <a:buNone/>
            </a:pPr>
            <a:r>
              <a:rPr b="1" lang="en" sz="1600"/>
              <a:t>=MEDIAN(B2:B3850)</a:t>
            </a:r>
            <a:endParaRPr b="1" sz="1600"/>
          </a:p>
          <a:p>
            <a:pPr indent="0" lvl="0" marL="457200" rtl="0" algn="l">
              <a:spcBef>
                <a:spcPts val="1200"/>
              </a:spcBef>
              <a:spcAft>
                <a:spcPts val="0"/>
              </a:spcAft>
              <a:buNone/>
            </a:pPr>
            <a:r>
              <a:rPr b="1" lang="en" sz="1600"/>
              <a:t>=STDEV.S(B2:B3850)</a:t>
            </a:r>
            <a:endParaRPr b="1" sz="1600"/>
          </a:p>
          <a:p>
            <a:pPr indent="0" lvl="0" marL="914400" rtl="0" algn="l">
              <a:spcBef>
                <a:spcPts val="1200"/>
              </a:spcBef>
              <a:spcAft>
                <a:spcPts val="1200"/>
              </a:spcAft>
              <a:buNone/>
            </a:pPr>
            <a:r>
              <a:t/>
            </a:r>
            <a:endParaRPr sz="1600"/>
          </a:p>
        </p:txBody>
      </p:sp>
      <p:pic>
        <p:nvPicPr>
          <p:cNvPr id="302" name="Google Shape;302;p44"/>
          <p:cNvPicPr preferRelativeResize="0"/>
          <p:nvPr/>
        </p:nvPicPr>
        <p:blipFill>
          <a:blip r:embed="rId3">
            <a:alphaModFix/>
          </a:blip>
          <a:stretch>
            <a:fillRect/>
          </a:stretch>
        </p:blipFill>
        <p:spPr>
          <a:xfrm>
            <a:off x="5159100" y="1170125"/>
            <a:ext cx="3819525" cy="2952750"/>
          </a:xfrm>
          <a:prstGeom prst="rect">
            <a:avLst/>
          </a:prstGeom>
          <a:noFill/>
          <a:ln>
            <a:noFill/>
          </a:ln>
        </p:spPr>
      </p:pic>
      <p:sp>
        <p:nvSpPr>
          <p:cNvPr id="303" name="Google Shape;303;p4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Movie Duration Analysis continued</a:t>
            </a:r>
            <a:endParaRPr/>
          </a:p>
        </p:txBody>
      </p:sp>
      <p:pic>
        <p:nvPicPr>
          <p:cNvPr id="309" name="Google Shape;309;p45"/>
          <p:cNvPicPr preferRelativeResize="0"/>
          <p:nvPr/>
        </p:nvPicPr>
        <p:blipFill>
          <a:blip r:embed="rId3">
            <a:alphaModFix/>
          </a:blip>
          <a:stretch>
            <a:fillRect/>
          </a:stretch>
        </p:blipFill>
        <p:spPr>
          <a:xfrm>
            <a:off x="2769222" y="1167423"/>
            <a:ext cx="6191413" cy="3892425"/>
          </a:xfrm>
          <a:prstGeom prst="rect">
            <a:avLst/>
          </a:prstGeom>
          <a:noFill/>
          <a:ln>
            <a:noFill/>
          </a:ln>
        </p:spPr>
      </p:pic>
      <p:sp>
        <p:nvSpPr>
          <p:cNvPr id="310" name="Google Shape;310;p45"/>
          <p:cNvSpPr txBox="1"/>
          <p:nvPr>
            <p:ph idx="1" type="body"/>
          </p:nvPr>
        </p:nvSpPr>
        <p:spPr>
          <a:xfrm>
            <a:off x="311700" y="1266100"/>
            <a:ext cx="2310300" cy="3303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n" sz="1400"/>
              <a:t>Steps</a:t>
            </a:r>
            <a:endParaRPr b="1" sz="1400"/>
          </a:p>
          <a:p>
            <a:pPr indent="-317500" lvl="0" marL="457200" rtl="0" algn="l">
              <a:spcBef>
                <a:spcPts val="0"/>
              </a:spcBef>
              <a:spcAft>
                <a:spcPts val="0"/>
              </a:spcAft>
              <a:buSzPts val="1400"/>
              <a:buAutoNum type="arabicPeriod"/>
            </a:pPr>
            <a:r>
              <a:rPr lang="en" sz="1400"/>
              <a:t>Copy imdb score and duration columns in new sheet</a:t>
            </a:r>
            <a:endParaRPr sz="1400"/>
          </a:p>
          <a:p>
            <a:pPr indent="-317500" lvl="0" marL="457200" rtl="0" algn="l">
              <a:spcBef>
                <a:spcPts val="0"/>
              </a:spcBef>
              <a:spcAft>
                <a:spcPts val="0"/>
              </a:spcAft>
              <a:buSzPts val="1400"/>
              <a:buAutoNum type="arabicPeriod"/>
            </a:pPr>
            <a:r>
              <a:rPr lang="en" sz="1400"/>
              <a:t>Select all data Ctrl+A</a:t>
            </a:r>
            <a:endParaRPr sz="1400"/>
          </a:p>
          <a:p>
            <a:pPr indent="-317500" lvl="0" marL="457200" rtl="0" algn="l">
              <a:spcBef>
                <a:spcPts val="0"/>
              </a:spcBef>
              <a:spcAft>
                <a:spcPts val="0"/>
              </a:spcAft>
              <a:buSzPts val="1400"/>
              <a:buAutoNum type="arabicPeriod"/>
            </a:pPr>
            <a:r>
              <a:rPr lang="en" sz="1400"/>
              <a:t>Insert -&gt; Scatter Plot</a:t>
            </a:r>
            <a:endParaRPr sz="1400"/>
          </a:p>
          <a:p>
            <a:pPr indent="-317500" lvl="0" marL="457200" rtl="0" algn="l">
              <a:spcBef>
                <a:spcPts val="0"/>
              </a:spcBef>
              <a:spcAft>
                <a:spcPts val="0"/>
              </a:spcAft>
              <a:buSzPts val="1400"/>
              <a:buAutoNum type="arabicPeriod"/>
            </a:pPr>
            <a:r>
              <a:rPr lang="en" sz="1400"/>
              <a:t>Right Click-&gt; Add Trendline</a:t>
            </a:r>
            <a:endParaRPr sz="1400"/>
          </a:p>
          <a:p>
            <a:pPr indent="-317500" lvl="0" marL="457200" rtl="0" algn="l">
              <a:spcBef>
                <a:spcPts val="0"/>
              </a:spcBef>
              <a:spcAft>
                <a:spcPts val="0"/>
              </a:spcAft>
              <a:buSzPts val="1400"/>
              <a:buAutoNum type="arabicPeriod"/>
            </a:pPr>
            <a:r>
              <a:rPr lang="en" sz="1400"/>
              <a:t>Edit The title and x, y labels</a:t>
            </a:r>
            <a:endParaRPr sz="1400"/>
          </a:p>
        </p:txBody>
      </p:sp>
      <p:sp>
        <p:nvSpPr>
          <p:cNvPr id="311" name="Google Shape;311;p4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Movie Duration Analysis continued</a:t>
            </a:r>
            <a:endParaRPr/>
          </a:p>
        </p:txBody>
      </p:sp>
      <p:sp>
        <p:nvSpPr>
          <p:cNvPr id="317" name="Google Shape;317;p46"/>
          <p:cNvSpPr txBox="1"/>
          <p:nvPr>
            <p:ph idx="1" type="body"/>
          </p:nvPr>
        </p:nvSpPr>
        <p:spPr>
          <a:xfrm>
            <a:off x="311700" y="1266100"/>
            <a:ext cx="8520600" cy="3303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0"/>
              </a:spcAft>
              <a:buNone/>
            </a:pPr>
            <a:r>
              <a:rPr b="1" lang="en">
                <a:latin typeface="Arial"/>
                <a:ea typeface="Arial"/>
                <a:cs typeface="Arial"/>
                <a:sym typeface="Arial"/>
              </a:rPr>
              <a:t>Insights: </a:t>
            </a:r>
            <a:endParaRPr b="1">
              <a:latin typeface="Arial"/>
              <a:ea typeface="Arial"/>
              <a:cs typeface="Arial"/>
              <a:sym typeface="Arial"/>
            </a:endParaRPr>
          </a:p>
          <a:p>
            <a:pPr indent="-342900" lvl="0" marL="457200" rtl="0" algn="l">
              <a:spcBef>
                <a:spcPts val="1200"/>
              </a:spcBef>
              <a:spcAft>
                <a:spcPts val="0"/>
              </a:spcAft>
              <a:buSzPts val="1800"/>
              <a:buFont typeface="Arial"/>
              <a:buChar char="●"/>
            </a:pPr>
            <a:r>
              <a:rPr lang="en">
                <a:latin typeface="Arial"/>
                <a:ea typeface="Arial"/>
                <a:cs typeface="Arial"/>
                <a:sym typeface="Arial"/>
              </a:rPr>
              <a:t>The upward-sloping trendline indicates a positive linear relationship between movie duration and IMDB scores. This means that, on average, longer movies tend to receive higher IMDB scores. This relationship suggests that longer movies may be perceived as having higher quality or more content depth, leading to better audience and critic ratings.</a:t>
            </a:r>
            <a:endParaRPr>
              <a:latin typeface="Arial"/>
              <a:ea typeface="Arial"/>
              <a:cs typeface="Arial"/>
              <a:sym typeface="Arial"/>
            </a:endParaRPr>
          </a:p>
          <a:p>
            <a:pPr indent="0" lvl="0" marL="0" rtl="0" algn="l">
              <a:spcBef>
                <a:spcPts val="1200"/>
              </a:spcBef>
              <a:spcAft>
                <a:spcPts val="1200"/>
              </a:spcAft>
              <a:buNone/>
            </a:pPr>
            <a:r>
              <a:t/>
            </a:r>
            <a:endParaRPr/>
          </a:p>
        </p:txBody>
      </p:sp>
      <p:sp>
        <p:nvSpPr>
          <p:cNvPr id="318" name="Google Shape;318;p4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Movie Duration Analysis continued</a:t>
            </a:r>
            <a:endParaRPr/>
          </a:p>
        </p:txBody>
      </p:sp>
      <p:sp>
        <p:nvSpPr>
          <p:cNvPr id="324" name="Google Shape;324;p47"/>
          <p:cNvSpPr txBox="1"/>
          <p:nvPr>
            <p:ph idx="1" type="body"/>
          </p:nvPr>
        </p:nvSpPr>
        <p:spPr>
          <a:xfrm>
            <a:off x="311700" y="1266100"/>
            <a:ext cx="8520600" cy="3303000"/>
          </a:xfrm>
          <a:prstGeom prst="rect">
            <a:avLst/>
          </a:prstGeom>
        </p:spPr>
        <p:txBody>
          <a:bodyPr anchorCtr="0" anchor="t" bIns="91425" lIns="91425" spcFirstLastPara="1" rIns="91425" wrap="square" tIns="91425">
            <a:normAutofit lnSpcReduction="20000"/>
          </a:bodyPr>
          <a:lstStyle/>
          <a:p>
            <a:pPr indent="-336550" lvl="0" marL="457200" rtl="0" algn="l">
              <a:spcBef>
                <a:spcPts val="0"/>
              </a:spcBef>
              <a:spcAft>
                <a:spcPts val="0"/>
              </a:spcAft>
              <a:buSzPts val="1700"/>
              <a:buChar char="●"/>
            </a:pPr>
            <a:r>
              <a:rPr lang="en" sz="1700"/>
              <a:t>The average duration of movies in the dataset is approximately 110 minutes. This suggests that the typical movie length in the dataset is </a:t>
            </a:r>
            <a:r>
              <a:rPr lang="en" sz="1700">
                <a:solidFill>
                  <a:schemeClr val="accent5"/>
                </a:solidFill>
              </a:rPr>
              <a:t>around 1 hour and 50 minutes</a:t>
            </a:r>
            <a:r>
              <a:rPr lang="en" sz="1700"/>
              <a:t>, which is a common length for feature films.Continued if required</a:t>
            </a:r>
            <a:endParaRPr sz="1700"/>
          </a:p>
          <a:p>
            <a:pPr indent="-336550" lvl="0" marL="457200" rtl="0" algn="l">
              <a:spcBef>
                <a:spcPts val="1000"/>
              </a:spcBef>
              <a:spcAft>
                <a:spcPts val="0"/>
              </a:spcAft>
              <a:buSzPts val="1700"/>
              <a:buChar char="●"/>
            </a:pPr>
            <a:r>
              <a:rPr lang="en" sz="1700"/>
              <a:t>The median duration, slightly lower than the mean, indicates that half of the movies have a duration shorter than </a:t>
            </a:r>
            <a:r>
              <a:rPr lang="en" sz="1700">
                <a:solidFill>
                  <a:schemeClr val="accent5"/>
                </a:solidFill>
              </a:rPr>
              <a:t>106 minutes. </a:t>
            </a:r>
            <a:r>
              <a:rPr lang="en" sz="1700"/>
              <a:t>This suggests a slight skew towards longer movies, but overall, the distribution of movie durations is fairly balanced around this central value.</a:t>
            </a:r>
            <a:endParaRPr sz="1700"/>
          </a:p>
          <a:p>
            <a:pPr indent="-336550" lvl="0" marL="457200" rtl="0" algn="l">
              <a:spcBef>
                <a:spcPts val="1000"/>
              </a:spcBef>
              <a:spcAft>
                <a:spcPts val="1000"/>
              </a:spcAft>
              <a:buSzPts val="1700"/>
              <a:buChar char="●"/>
            </a:pPr>
            <a:r>
              <a:rPr lang="en" sz="1700"/>
              <a:t>The standard deviation indicates that most movie durations fall within approximately </a:t>
            </a:r>
            <a:r>
              <a:rPr lang="en" sz="1700">
                <a:solidFill>
                  <a:schemeClr val="accent5"/>
                </a:solidFill>
              </a:rPr>
              <a:t>23 minutes</a:t>
            </a:r>
            <a:r>
              <a:rPr lang="en" sz="1700"/>
              <a:t> of the mean duration. This shows that while there is some variability in movie lengths, the majority of movies are within a relatively narrow range around the mean.</a:t>
            </a:r>
            <a:endParaRPr sz="1700"/>
          </a:p>
        </p:txBody>
      </p:sp>
      <p:sp>
        <p:nvSpPr>
          <p:cNvPr id="325" name="Google Shape;325;p4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Language Analysis</a:t>
            </a:r>
            <a:endParaRPr/>
          </a:p>
        </p:txBody>
      </p:sp>
      <p:sp>
        <p:nvSpPr>
          <p:cNvPr id="331" name="Google Shape;331;p48"/>
          <p:cNvSpPr txBox="1"/>
          <p:nvPr>
            <p:ph idx="1" type="body"/>
          </p:nvPr>
        </p:nvSpPr>
        <p:spPr>
          <a:xfrm>
            <a:off x="311700" y="1266100"/>
            <a:ext cx="4747200" cy="330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Here we e</a:t>
            </a:r>
            <a:r>
              <a:rPr lang="en" sz="1700"/>
              <a:t>xamine the impact of language on movie ratings.</a:t>
            </a:r>
            <a:endParaRPr sz="1700"/>
          </a:p>
          <a:p>
            <a:pPr indent="0" lvl="0" marL="0" rtl="0" algn="l">
              <a:spcBef>
                <a:spcPts val="1200"/>
              </a:spcBef>
              <a:spcAft>
                <a:spcPts val="0"/>
              </a:spcAft>
              <a:buNone/>
            </a:pPr>
            <a:r>
              <a:rPr lang="en" sz="1700"/>
              <a:t>For this I first created a new column having only all </a:t>
            </a:r>
            <a:r>
              <a:rPr lang="en" sz="1700"/>
              <a:t>the unique values from Languages column</a:t>
            </a:r>
            <a:endParaRPr sz="1700"/>
          </a:p>
          <a:p>
            <a:pPr indent="0" lvl="0" marL="0" rtl="0" algn="l">
              <a:spcBef>
                <a:spcPts val="1200"/>
              </a:spcBef>
              <a:spcAft>
                <a:spcPts val="0"/>
              </a:spcAft>
              <a:buNone/>
            </a:pPr>
            <a:r>
              <a:rPr lang="en" sz="1700"/>
              <a:t>Then used the countif, Mean, median and standard deviation formula on this column</a:t>
            </a:r>
            <a:endParaRPr sz="1700"/>
          </a:p>
          <a:p>
            <a:pPr indent="0" lvl="0" marL="0" rtl="0" algn="l">
              <a:spcBef>
                <a:spcPts val="1200"/>
              </a:spcBef>
              <a:spcAft>
                <a:spcPts val="1200"/>
              </a:spcAft>
              <a:buNone/>
            </a:pPr>
            <a:r>
              <a:t/>
            </a:r>
            <a:endParaRPr sz="1700"/>
          </a:p>
        </p:txBody>
      </p:sp>
      <p:sp>
        <p:nvSpPr>
          <p:cNvPr id="332" name="Google Shape;332;p48"/>
          <p:cNvSpPr/>
          <p:nvPr/>
        </p:nvSpPr>
        <p:spPr>
          <a:xfrm rot="10800000">
            <a:off x="558200" y="4099825"/>
            <a:ext cx="8116200" cy="962400"/>
          </a:xfrm>
          <a:prstGeom prst="wedgeRoundRectCallout">
            <a:avLst>
              <a:gd fmla="val -21147" name="adj1"/>
              <a:gd fmla="val 87778" name="adj2"/>
              <a:gd fmla="val 0" name="adj3"/>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333" name="Google Shape;333;p48"/>
          <p:cNvSpPr txBox="1"/>
          <p:nvPr/>
        </p:nvSpPr>
        <p:spPr>
          <a:xfrm>
            <a:off x="675825" y="4121275"/>
            <a:ext cx="1379400" cy="9624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English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Mandarin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Aboriginal</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Spanish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French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Danish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Portuguese</a:t>
            </a:r>
            <a:endParaRPr b="1" sz="700">
              <a:solidFill>
                <a:schemeClr val="dk2"/>
              </a:solidFill>
              <a:latin typeface="Playfair Display"/>
              <a:ea typeface="Playfair Display"/>
              <a:cs typeface="Playfair Display"/>
              <a:sym typeface="Playfair Display"/>
            </a:endParaRPr>
          </a:p>
          <a:p>
            <a:pPr indent="0" lvl="0" marL="457200" rtl="0" algn="l">
              <a:spcBef>
                <a:spcPts val="0"/>
              </a:spcBef>
              <a:spcAft>
                <a:spcPts val="0"/>
              </a:spcAft>
              <a:buNone/>
            </a:pPr>
            <a:r>
              <a:t/>
            </a:r>
            <a:endParaRPr b="1" sz="700">
              <a:solidFill>
                <a:schemeClr val="dk2"/>
              </a:solidFill>
              <a:latin typeface="Playfair Display"/>
              <a:ea typeface="Playfair Display"/>
              <a:cs typeface="Playfair Display"/>
              <a:sym typeface="Playfair Display"/>
            </a:endParaRPr>
          </a:p>
          <a:p>
            <a:pPr indent="0" lvl="0" marL="457200" rtl="0" algn="l">
              <a:spcBef>
                <a:spcPts val="0"/>
              </a:spcBef>
              <a:spcAft>
                <a:spcPts val="0"/>
              </a:spcAft>
              <a:buNone/>
            </a:pPr>
            <a:r>
              <a:t/>
            </a:r>
            <a:endParaRPr b="1" sz="700">
              <a:solidFill>
                <a:schemeClr val="dk2"/>
              </a:solidFill>
              <a:latin typeface="Playfair Display"/>
              <a:ea typeface="Playfair Display"/>
              <a:cs typeface="Playfair Display"/>
              <a:sym typeface="Playfair Display"/>
            </a:endParaRPr>
          </a:p>
        </p:txBody>
      </p:sp>
      <p:sp>
        <p:nvSpPr>
          <p:cNvPr id="334" name="Google Shape;334;p48"/>
          <p:cNvSpPr txBox="1"/>
          <p:nvPr/>
        </p:nvSpPr>
        <p:spPr>
          <a:xfrm>
            <a:off x="2220413" y="4099825"/>
            <a:ext cx="1379400" cy="9624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Filipino</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Maya</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Kazakh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Telugu</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Cantonese</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Persian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Swedish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Russian</a:t>
            </a:r>
            <a:endParaRPr b="1" sz="700">
              <a:solidFill>
                <a:schemeClr val="dk2"/>
              </a:solidFill>
              <a:latin typeface="Playfair Display"/>
              <a:ea typeface="Playfair Display"/>
              <a:cs typeface="Playfair Display"/>
              <a:sym typeface="Playfair Display"/>
            </a:endParaRPr>
          </a:p>
        </p:txBody>
      </p:sp>
      <p:sp>
        <p:nvSpPr>
          <p:cNvPr id="335" name="Google Shape;335;p48"/>
          <p:cNvSpPr txBox="1"/>
          <p:nvPr/>
        </p:nvSpPr>
        <p:spPr>
          <a:xfrm>
            <a:off x="3765000" y="4099675"/>
            <a:ext cx="1379400" cy="8769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Japanese</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Aramaic</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Italian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Dutch</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Dari</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German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Czech</a:t>
            </a:r>
            <a:endParaRPr b="1" sz="700">
              <a:solidFill>
                <a:schemeClr val="dk2"/>
              </a:solidFill>
              <a:latin typeface="Playfair Display"/>
              <a:ea typeface="Playfair Display"/>
              <a:cs typeface="Playfair Display"/>
              <a:sym typeface="Playfair Display"/>
            </a:endParaRPr>
          </a:p>
          <a:p>
            <a:pPr indent="-273050" lvl="1" marL="914400" rtl="0" algn="l">
              <a:spcBef>
                <a:spcPts val="0"/>
              </a:spcBef>
              <a:spcAft>
                <a:spcPts val="0"/>
              </a:spcAft>
              <a:buClr>
                <a:schemeClr val="dk2"/>
              </a:buClr>
              <a:buSzPts val="700"/>
              <a:buFont typeface="Playfair Display"/>
              <a:buChar char="○"/>
            </a:pPr>
            <a:r>
              <a:t/>
            </a:r>
            <a:endParaRPr b="1" sz="700">
              <a:solidFill>
                <a:schemeClr val="dk2"/>
              </a:solidFill>
              <a:latin typeface="Playfair Display"/>
              <a:ea typeface="Playfair Display"/>
              <a:cs typeface="Playfair Display"/>
              <a:sym typeface="Playfair Display"/>
            </a:endParaRPr>
          </a:p>
        </p:txBody>
      </p:sp>
      <p:sp>
        <p:nvSpPr>
          <p:cNvPr id="336" name="Google Shape;336;p48"/>
          <p:cNvSpPr txBox="1"/>
          <p:nvPr/>
        </p:nvSpPr>
        <p:spPr>
          <a:xfrm>
            <a:off x="5545100" y="4014025"/>
            <a:ext cx="1379400" cy="8769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Mongolian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Thai</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Bosnian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Korean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Hungarian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Hindi</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Icelandic</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Norwegian</a:t>
            </a:r>
            <a:endParaRPr b="1" sz="700">
              <a:solidFill>
                <a:schemeClr val="dk2"/>
              </a:solidFill>
              <a:latin typeface="Playfair Display"/>
              <a:ea typeface="Playfair Display"/>
              <a:cs typeface="Playfair Display"/>
              <a:sym typeface="Playfair Display"/>
            </a:endParaRPr>
          </a:p>
          <a:p>
            <a:pPr indent="-273050" lvl="1" marL="914400" rtl="0" algn="l">
              <a:spcBef>
                <a:spcPts val="0"/>
              </a:spcBef>
              <a:spcAft>
                <a:spcPts val="0"/>
              </a:spcAft>
              <a:buClr>
                <a:schemeClr val="dk2"/>
              </a:buClr>
              <a:buSzPts val="700"/>
              <a:buFont typeface="Playfair Display"/>
              <a:buChar char="○"/>
            </a:pPr>
            <a:r>
              <a:t/>
            </a:r>
            <a:endParaRPr b="1" sz="700">
              <a:solidFill>
                <a:schemeClr val="dk2"/>
              </a:solidFill>
              <a:latin typeface="Playfair Display"/>
              <a:ea typeface="Playfair Display"/>
              <a:cs typeface="Playfair Display"/>
              <a:sym typeface="Playfair Display"/>
            </a:endParaRPr>
          </a:p>
        </p:txBody>
      </p:sp>
      <p:sp>
        <p:nvSpPr>
          <p:cNvPr id="337" name="Google Shape;337;p48"/>
          <p:cNvSpPr txBox="1"/>
          <p:nvPr/>
        </p:nvSpPr>
        <p:spPr>
          <a:xfrm>
            <a:off x="7102600" y="4099825"/>
            <a:ext cx="1379400" cy="8769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Zulu</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Hebrew</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Dzongkha</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Arabic</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Vietnamese</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Indonesian</a:t>
            </a:r>
            <a:endParaRPr b="1" sz="700">
              <a:solidFill>
                <a:schemeClr val="dk2"/>
              </a:solidFill>
              <a:latin typeface="Playfair Display"/>
              <a:ea typeface="Playfair Display"/>
              <a:cs typeface="Playfair Display"/>
              <a:sym typeface="Playfair Display"/>
            </a:endParaRPr>
          </a:p>
          <a:p>
            <a:pPr indent="-273050" lvl="0" marL="457200" rtl="0" algn="l">
              <a:spcBef>
                <a:spcPts val="0"/>
              </a:spcBef>
              <a:spcAft>
                <a:spcPts val="0"/>
              </a:spcAft>
              <a:buClr>
                <a:schemeClr val="dk2"/>
              </a:buClr>
              <a:buSzPts val="700"/>
              <a:buFont typeface="Playfair Display"/>
              <a:buChar char="●"/>
            </a:pPr>
            <a:r>
              <a:rPr b="1" lang="en" sz="700">
                <a:solidFill>
                  <a:schemeClr val="dk2"/>
                </a:solidFill>
                <a:latin typeface="Playfair Display"/>
                <a:ea typeface="Playfair Display"/>
                <a:cs typeface="Playfair Display"/>
                <a:sym typeface="Playfair Display"/>
              </a:rPr>
              <a:t>Romanian</a:t>
            </a:r>
            <a:endParaRPr b="1" sz="700">
              <a:solidFill>
                <a:schemeClr val="dk2"/>
              </a:solidFill>
              <a:latin typeface="Playfair Display"/>
              <a:ea typeface="Playfair Display"/>
              <a:cs typeface="Playfair Display"/>
              <a:sym typeface="Playfair Display"/>
            </a:endParaRPr>
          </a:p>
          <a:p>
            <a:pPr indent="-273050" lvl="1" marL="914400" rtl="0" algn="l">
              <a:spcBef>
                <a:spcPts val="0"/>
              </a:spcBef>
              <a:spcAft>
                <a:spcPts val="0"/>
              </a:spcAft>
              <a:buClr>
                <a:schemeClr val="dk2"/>
              </a:buClr>
              <a:buSzPts val="700"/>
              <a:buFont typeface="Playfair Display"/>
              <a:buChar char="○"/>
            </a:pPr>
            <a:r>
              <a:t/>
            </a:r>
            <a:endParaRPr b="1" sz="700">
              <a:solidFill>
                <a:schemeClr val="dk2"/>
              </a:solidFill>
              <a:latin typeface="Playfair Display"/>
              <a:ea typeface="Playfair Display"/>
              <a:cs typeface="Playfair Display"/>
              <a:sym typeface="Playfair Display"/>
            </a:endParaRPr>
          </a:p>
        </p:txBody>
      </p:sp>
      <p:pic>
        <p:nvPicPr>
          <p:cNvPr id="338" name="Google Shape;338;p48"/>
          <p:cNvPicPr preferRelativeResize="0"/>
          <p:nvPr/>
        </p:nvPicPr>
        <p:blipFill>
          <a:blip r:embed="rId3">
            <a:alphaModFix/>
          </a:blip>
          <a:stretch>
            <a:fillRect/>
          </a:stretch>
        </p:blipFill>
        <p:spPr>
          <a:xfrm>
            <a:off x="5058900" y="1394700"/>
            <a:ext cx="3780300" cy="2145411"/>
          </a:xfrm>
          <a:prstGeom prst="rect">
            <a:avLst/>
          </a:prstGeom>
          <a:noFill/>
          <a:ln>
            <a:noFill/>
          </a:ln>
          <a:effectLst>
            <a:outerShdw blurRad="57150" rotWithShape="0" algn="bl" dir="5400000" dist="19050">
              <a:srgbClr val="000000">
                <a:alpha val="50000"/>
              </a:srgbClr>
            </a:outerShdw>
          </a:effectLst>
        </p:spPr>
      </p:pic>
      <p:sp>
        <p:nvSpPr>
          <p:cNvPr id="339" name="Google Shape;339;p4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Language Analysis continued</a:t>
            </a:r>
            <a:endParaRPr/>
          </a:p>
        </p:txBody>
      </p:sp>
      <p:sp>
        <p:nvSpPr>
          <p:cNvPr id="345" name="Google Shape;345;p49"/>
          <p:cNvSpPr txBox="1"/>
          <p:nvPr>
            <p:ph idx="1" type="body"/>
          </p:nvPr>
        </p:nvSpPr>
        <p:spPr>
          <a:xfrm>
            <a:off x="311700" y="1266100"/>
            <a:ext cx="4352700" cy="3303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Finding the unique languages first, </a:t>
            </a:r>
            <a:endParaRPr/>
          </a:p>
          <a:p>
            <a:pPr indent="-342900" lvl="0" marL="457200" rtl="0" algn="l">
              <a:spcBef>
                <a:spcPts val="0"/>
              </a:spcBef>
              <a:spcAft>
                <a:spcPts val="0"/>
              </a:spcAft>
              <a:buSzPts val="1800"/>
              <a:buChar char="●"/>
            </a:pPr>
            <a:r>
              <a:rPr lang="en"/>
              <a:t>Take their count in a new column using formula:</a:t>
            </a:r>
            <a:endParaRPr/>
          </a:p>
          <a:p>
            <a:pPr indent="0" lvl="0" marL="457200" rtl="0" algn="l">
              <a:spcBef>
                <a:spcPts val="1200"/>
              </a:spcBef>
              <a:spcAft>
                <a:spcPts val="0"/>
              </a:spcAft>
              <a:buNone/>
            </a:pPr>
            <a:r>
              <a:rPr b="1" lang="en" sz="1400">
                <a:latin typeface="Arial"/>
                <a:ea typeface="Arial"/>
                <a:cs typeface="Arial"/>
                <a:sym typeface="Arial"/>
              </a:rPr>
              <a:t>=COUNTIF($B$2:$B$4110,E2)</a:t>
            </a:r>
            <a:endParaRPr b="1" sz="1400">
              <a:latin typeface="Arial"/>
              <a:ea typeface="Arial"/>
              <a:cs typeface="Arial"/>
              <a:sym typeface="Arial"/>
            </a:endParaRPr>
          </a:p>
          <a:p>
            <a:pPr indent="-342900" lvl="0" marL="457200" rtl="0" algn="l">
              <a:spcBef>
                <a:spcPts val="1200"/>
              </a:spcBef>
              <a:spcAft>
                <a:spcPts val="0"/>
              </a:spcAft>
              <a:buSzPts val="1800"/>
              <a:buChar char="●"/>
            </a:pPr>
            <a:r>
              <a:rPr lang="en"/>
              <a:t>Then find mean using formula:</a:t>
            </a:r>
            <a:endParaRPr/>
          </a:p>
          <a:p>
            <a:pPr indent="0" lvl="0" marL="457200" rtl="0" algn="l">
              <a:spcBef>
                <a:spcPts val="1200"/>
              </a:spcBef>
              <a:spcAft>
                <a:spcPts val="0"/>
              </a:spcAft>
              <a:buNone/>
            </a:pPr>
            <a:r>
              <a:rPr b="1" lang="en" sz="1300">
                <a:latin typeface="Arial"/>
                <a:ea typeface="Arial"/>
                <a:cs typeface="Arial"/>
                <a:sym typeface="Arial"/>
              </a:rPr>
              <a:t>=AVERAGEIF($B$2:$B$4110,E2,$A$2:$A$4110)</a:t>
            </a:r>
            <a:endParaRPr b="1" sz="1300">
              <a:latin typeface="Arial"/>
              <a:ea typeface="Arial"/>
              <a:cs typeface="Arial"/>
              <a:sym typeface="Arial"/>
            </a:endParaRPr>
          </a:p>
          <a:p>
            <a:pPr indent="0" lvl="0" marL="914400" rtl="0" algn="l">
              <a:spcBef>
                <a:spcPts val="1200"/>
              </a:spcBef>
              <a:spcAft>
                <a:spcPts val="1200"/>
              </a:spcAft>
              <a:buNone/>
            </a:pPr>
            <a:r>
              <a:t/>
            </a:r>
            <a:endParaRPr/>
          </a:p>
        </p:txBody>
      </p:sp>
      <p:pic>
        <p:nvPicPr>
          <p:cNvPr id="346" name="Google Shape;346;p49"/>
          <p:cNvPicPr preferRelativeResize="0"/>
          <p:nvPr/>
        </p:nvPicPr>
        <p:blipFill>
          <a:blip r:embed="rId3">
            <a:alphaModFix/>
          </a:blip>
          <a:stretch>
            <a:fillRect/>
          </a:stretch>
        </p:blipFill>
        <p:spPr>
          <a:xfrm>
            <a:off x="4849175" y="160375"/>
            <a:ext cx="3983124" cy="4912525"/>
          </a:xfrm>
          <a:prstGeom prst="rect">
            <a:avLst/>
          </a:prstGeom>
          <a:noFill/>
          <a:ln>
            <a:noFill/>
          </a:ln>
        </p:spPr>
      </p:pic>
      <p:sp>
        <p:nvSpPr>
          <p:cNvPr id="347" name="Google Shape;347;p4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Language Analysis continued</a:t>
            </a:r>
            <a:endParaRPr/>
          </a:p>
        </p:txBody>
      </p:sp>
      <p:sp>
        <p:nvSpPr>
          <p:cNvPr id="353" name="Google Shape;353;p50"/>
          <p:cNvSpPr txBox="1"/>
          <p:nvPr>
            <p:ph idx="1" type="body"/>
          </p:nvPr>
        </p:nvSpPr>
        <p:spPr>
          <a:xfrm>
            <a:off x="311700" y="1798675"/>
            <a:ext cx="4260300" cy="2770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Finding the median and Standard Deviation for the same column using formulae:</a:t>
            </a:r>
            <a:endParaRPr/>
          </a:p>
          <a:p>
            <a:pPr indent="-304800" lvl="0" marL="457200" rtl="0" algn="l">
              <a:spcBef>
                <a:spcPts val="1000"/>
              </a:spcBef>
              <a:spcAft>
                <a:spcPts val="0"/>
              </a:spcAft>
              <a:buSzPts val="1200"/>
              <a:buFont typeface="Arial"/>
              <a:buChar char="●"/>
            </a:pPr>
            <a:r>
              <a:rPr b="1" lang="en" sz="1200">
                <a:latin typeface="Arial"/>
                <a:ea typeface="Arial"/>
                <a:cs typeface="Arial"/>
                <a:sym typeface="Arial"/>
              </a:rPr>
              <a:t>=MEDIAN(IF($B$2:$B$4110=E2,$A$2:$A$4110))</a:t>
            </a:r>
            <a:endParaRPr b="1" sz="1200">
              <a:latin typeface="Arial"/>
              <a:ea typeface="Arial"/>
              <a:cs typeface="Arial"/>
              <a:sym typeface="Arial"/>
            </a:endParaRPr>
          </a:p>
          <a:p>
            <a:pPr indent="-304800" lvl="0" marL="457200" rtl="0" algn="l">
              <a:spcBef>
                <a:spcPts val="1000"/>
              </a:spcBef>
              <a:spcAft>
                <a:spcPts val="1000"/>
              </a:spcAft>
              <a:buSzPts val="1200"/>
              <a:buFont typeface="Arial"/>
              <a:buChar char="●"/>
            </a:pPr>
            <a:r>
              <a:rPr b="1" lang="en" sz="1200">
                <a:latin typeface="Arial"/>
                <a:ea typeface="Arial"/>
                <a:cs typeface="Arial"/>
                <a:sym typeface="Arial"/>
              </a:rPr>
              <a:t>=STDEV.S(IF($B$2:$B$4110=E2,$A$2:$A$4110))</a:t>
            </a:r>
            <a:endParaRPr b="1" sz="1200">
              <a:latin typeface="Arial"/>
              <a:ea typeface="Arial"/>
              <a:cs typeface="Arial"/>
              <a:sym typeface="Arial"/>
            </a:endParaRPr>
          </a:p>
        </p:txBody>
      </p:sp>
      <p:pic>
        <p:nvPicPr>
          <p:cNvPr id="354" name="Google Shape;354;p50"/>
          <p:cNvPicPr preferRelativeResize="0"/>
          <p:nvPr/>
        </p:nvPicPr>
        <p:blipFill>
          <a:blip r:embed="rId3">
            <a:alphaModFix/>
          </a:blip>
          <a:stretch>
            <a:fillRect/>
          </a:stretch>
        </p:blipFill>
        <p:spPr>
          <a:xfrm>
            <a:off x="4847600" y="2228850"/>
            <a:ext cx="3886200" cy="685800"/>
          </a:xfrm>
          <a:prstGeom prst="rect">
            <a:avLst/>
          </a:prstGeom>
          <a:noFill/>
          <a:ln>
            <a:noFill/>
          </a:ln>
        </p:spPr>
      </p:pic>
      <p:sp>
        <p:nvSpPr>
          <p:cNvPr id="355" name="Google Shape;355;p5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Language Analysis continued</a:t>
            </a:r>
            <a:endParaRPr/>
          </a:p>
        </p:txBody>
      </p:sp>
      <p:sp>
        <p:nvSpPr>
          <p:cNvPr id="361" name="Google Shape;361;p51"/>
          <p:cNvSpPr txBox="1"/>
          <p:nvPr>
            <p:ph idx="1" type="body"/>
          </p:nvPr>
        </p:nvSpPr>
        <p:spPr>
          <a:xfrm>
            <a:off x="311700" y="1266100"/>
            <a:ext cx="8520600" cy="33030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b="1" lang="en"/>
              <a:t>Mean IMDB score:</a:t>
            </a:r>
            <a:r>
              <a:rPr lang="en"/>
              <a:t> English (7.5), French (6.8), German (7.2)</a:t>
            </a:r>
            <a:endParaRPr/>
          </a:p>
          <a:p>
            <a:pPr indent="0" lvl="0" marL="457200" rtl="0" algn="l">
              <a:spcBef>
                <a:spcPts val="1000"/>
              </a:spcBef>
              <a:spcAft>
                <a:spcPts val="0"/>
              </a:spcAft>
              <a:buNone/>
            </a:pPr>
            <a:r>
              <a:rPr b="1" lang="en"/>
              <a:t>Median IMDB score:</a:t>
            </a:r>
            <a:r>
              <a:rPr lang="en"/>
              <a:t> English (7.6), French (7.0), German (7.1)</a:t>
            </a:r>
            <a:endParaRPr/>
          </a:p>
          <a:p>
            <a:pPr indent="0" lvl="0" marL="457200" rtl="0" algn="l">
              <a:spcBef>
                <a:spcPts val="1000"/>
              </a:spcBef>
              <a:spcAft>
                <a:spcPts val="0"/>
              </a:spcAft>
              <a:buNone/>
            </a:pPr>
            <a:r>
              <a:rPr b="1" lang="en"/>
              <a:t>Standard deviation: </a:t>
            </a:r>
            <a:r>
              <a:rPr lang="en"/>
              <a:t>English (1.2), French (1.5), German (1.0)</a:t>
            </a:r>
            <a:endParaRPr/>
          </a:p>
          <a:p>
            <a:pPr indent="-334327" lvl="0" marL="457200" rtl="0" algn="l">
              <a:spcBef>
                <a:spcPts val="1000"/>
              </a:spcBef>
              <a:spcAft>
                <a:spcPts val="0"/>
              </a:spcAft>
              <a:buSzPct val="100000"/>
              <a:buChar char="●"/>
            </a:pPr>
            <a:r>
              <a:rPr lang="en"/>
              <a:t>English movies tend to have the highest average IMDB scores, suggesting they are generally well-received.</a:t>
            </a:r>
            <a:endParaRPr/>
          </a:p>
          <a:p>
            <a:pPr indent="-334327" lvl="0" marL="457200" rtl="0" algn="l">
              <a:spcBef>
                <a:spcPts val="1000"/>
              </a:spcBef>
              <a:spcAft>
                <a:spcPts val="0"/>
              </a:spcAft>
              <a:buSzPct val="100000"/>
              <a:buChar char="●"/>
            </a:pPr>
            <a:r>
              <a:rPr lang="en"/>
              <a:t>The median scores are close to the mean scores, indicating a fairly symmetric distribution for all languages.</a:t>
            </a:r>
            <a:endParaRPr/>
          </a:p>
          <a:p>
            <a:pPr indent="-334327" lvl="0" marL="457200" rtl="0" algn="l">
              <a:spcBef>
                <a:spcPts val="1000"/>
              </a:spcBef>
              <a:spcAft>
                <a:spcPts val="1000"/>
              </a:spcAft>
              <a:buSzPct val="100000"/>
              <a:buChar char="●"/>
            </a:pPr>
            <a:r>
              <a:rPr lang="en"/>
              <a:t>The standard deviation for French movies is the highest, indicating a greater variability in the ratings of French movies. This could mean that while some French movies are exceptional, others might not be as well-received.</a:t>
            </a:r>
            <a:endParaRPr/>
          </a:p>
        </p:txBody>
      </p:sp>
      <p:sp>
        <p:nvSpPr>
          <p:cNvPr id="362" name="Google Shape;362;p5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Language Analysis continued</a:t>
            </a:r>
            <a:endParaRPr/>
          </a:p>
        </p:txBody>
      </p:sp>
      <p:sp>
        <p:nvSpPr>
          <p:cNvPr id="368" name="Google Shape;368;p52"/>
          <p:cNvSpPr txBox="1"/>
          <p:nvPr>
            <p:ph idx="1" type="body"/>
          </p:nvPr>
        </p:nvSpPr>
        <p:spPr>
          <a:xfrm>
            <a:off x="311700" y="1613900"/>
            <a:ext cx="8520600" cy="295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analysis helps to understand the overall trend or central tendency of the IMDB scores for movies in each language. For example, if the mean IMDB score for English-language movies is higher than for other languages, it might indicate a preference or bias in scoring.</a:t>
            </a:r>
            <a:endParaRPr/>
          </a:p>
          <a:p>
            <a:pPr indent="-342900" lvl="0" marL="457200" rtl="0" algn="l">
              <a:spcBef>
                <a:spcPts val="0"/>
              </a:spcBef>
              <a:spcAft>
                <a:spcPts val="0"/>
              </a:spcAft>
              <a:buSzPts val="1800"/>
              <a:buChar char="●"/>
            </a:pPr>
            <a:r>
              <a:rPr lang="en"/>
              <a:t>The standard deviation measures the amount of variation or dispersion in a set of values.A high standard deviation could suggest that while some movies in that language are highly rated, others are rated poorly, indicating inconsistency in movie quality.</a:t>
            </a:r>
            <a:endParaRPr/>
          </a:p>
        </p:txBody>
      </p:sp>
      <p:sp>
        <p:nvSpPr>
          <p:cNvPr id="369" name="Google Shape;369;p5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Director Analysis</a:t>
            </a:r>
            <a:endParaRPr/>
          </a:p>
        </p:txBody>
      </p:sp>
      <p:sp>
        <p:nvSpPr>
          <p:cNvPr id="375" name="Google Shape;375;p53"/>
          <p:cNvSpPr txBox="1"/>
          <p:nvPr>
            <p:ph idx="1" type="body"/>
          </p:nvPr>
        </p:nvSpPr>
        <p:spPr>
          <a:xfrm>
            <a:off x="311700" y="1266100"/>
            <a:ext cx="4260300" cy="3303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analysis will help identify the top directors based on their average IMDB score and understand their contribution to the success of movies</a:t>
            </a:r>
            <a:endParaRPr/>
          </a:p>
          <a:p>
            <a:pPr indent="-342900" lvl="0" marL="457200" rtl="0" algn="l">
              <a:spcBef>
                <a:spcPts val="0"/>
              </a:spcBef>
              <a:spcAft>
                <a:spcPts val="0"/>
              </a:spcAft>
              <a:buSzPts val="1800"/>
              <a:buChar char="●"/>
            </a:pPr>
            <a:r>
              <a:rPr lang="en"/>
              <a:t>Given is the list of top 20 directors with most number of movie count</a:t>
            </a:r>
            <a:endParaRPr/>
          </a:p>
        </p:txBody>
      </p:sp>
      <p:sp>
        <p:nvSpPr>
          <p:cNvPr id="376" name="Google Shape;376;p53"/>
          <p:cNvSpPr/>
          <p:nvPr/>
        </p:nvSpPr>
        <p:spPr>
          <a:xfrm>
            <a:off x="4974550" y="132600"/>
            <a:ext cx="4116900" cy="4630200"/>
          </a:xfrm>
          <a:prstGeom prst="verticalScroll">
            <a:avLst>
              <a:gd fmla="val 125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377" name="Google Shape;377;p53"/>
          <p:cNvSpPr txBox="1"/>
          <p:nvPr/>
        </p:nvSpPr>
        <p:spPr>
          <a:xfrm>
            <a:off x="5755150" y="784900"/>
            <a:ext cx="2667900" cy="3721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Sam Raimi</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Peter Jackson</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Ridley Scott</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Tim Burton</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Michael Bay</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Steven Spielberg</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Robert Zemeckis</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Martin Scorsese</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Oliver Stone</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Ron Howard</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Joel Schumacher</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Steven Soderbergh</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Tony Scott</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Renny Harlin</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Barry Levinson</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Clint Eastwood</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Robert Rodriguez</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Spike Lee</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John Carpenter</a:t>
            </a:r>
            <a:endParaRPr b="1" sz="1200">
              <a:solidFill>
                <a:schemeClr val="dk2"/>
              </a:solidFill>
              <a:latin typeface="Playfair Display"/>
              <a:ea typeface="Playfair Display"/>
              <a:cs typeface="Playfair Display"/>
              <a:sym typeface="Playfair Display"/>
            </a:endParaRPr>
          </a:p>
          <a:p>
            <a:pPr indent="-304800" lvl="0" marL="457200" rtl="0" algn="l">
              <a:spcBef>
                <a:spcPts val="0"/>
              </a:spcBef>
              <a:spcAft>
                <a:spcPts val="0"/>
              </a:spcAft>
              <a:buClr>
                <a:schemeClr val="dk2"/>
              </a:buClr>
              <a:buSzPts val="1200"/>
              <a:buFont typeface="Playfair Display"/>
              <a:buChar char="●"/>
            </a:pPr>
            <a:r>
              <a:rPr b="1" lang="en" sz="1200">
                <a:solidFill>
                  <a:schemeClr val="dk2"/>
                </a:solidFill>
                <a:latin typeface="Playfair Display"/>
                <a:ea typeface="Playfair Display"/>
                <a:cs typeface="Playfair Display"/>
                <a:sym typeface="Playfair Display"/>
              </a:rPr>
              <a:t>Woody Allen</a:t>
            </a:r>
            <a:endParaRPr b="1" sz="1200">
              <a:solidFill>
                <a:schemeClr val="dk2"/>
              </a:solidFill>
              <a:latin typeface="Playfair Display"/>
              <a:ea typeface="Playfair Display"/>
              <a:cs typeface="Playfair Display"/>
              <a:sym typeface="Playfair Display"/>
            </a:endParaRPr>
          </a:p>
        </p:txBody>
      </p:sp>
      <p:sp>
        <p:nvSpPr>
          <p:cNvPr id="378" name="Google Shape;378;p53"/>
          <p:cNvSpPr txBox="1"/>
          <p:nvPr/>
        </p:nvSpPr>
        <p:spPr>
          <a:xfrm>
            <a:off x="6286200" y="132600"/>
            <a:ext cx="254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5"/>
                </a:solidFill>
                <a:latin typeface="Playfair Display"/>
                <a:ea typeface="Playfair Display"/>
                <a:cs typeface="Playfair Display"/>
                <a:sym typeface="Playfair Display"/>
              </a:rPr>
              <a:t>Top 20 directors</a:t>
            </a:r>
            <a:endParaRPr b="1" sz="1800">
              <a:solidFill>
                <a:schemeClr val="accent5"/>
              </a:solidFill>
              <a:latin typeface="Playfair Display"/>
              <a:ea typeface="Playfair Display"/>
              <a:cs typeface="Playfair Display"/>
              <a:sym typeface="Playfair Display"/>
            </a:endParaRPr>
          </a:p>
        </p:txBody>
      </p:sp>
      <p:sp>
        <p:nvSpPr>
          <p:cNvPr id="379" name="Google Shape;379;p5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Director Analysis continued</a:t>
            </a:r>
            <a:endParaRPr/>
          </a:p>
        </p:txBody>
      </p:sp>
      <p:sp>
        <p:nvSpPr>
          <p:cNvPr id="385" name="Google Shape;385;p54"/>
          <p:cNvSpPr txBox="1"/>
          <p:nvPr>
            <p:ph idx="1" type="body"/>
          </p:nvPr>
        </p:nvSpPr>
        <p:spPr>
          <a:xfrm>
            <a:off x="311700" y="1266100"/>
            <a:ext cx="4074600" cy="1409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Mean, Median and Std deviation of the data wrt Directors and their count</a:t>
            </a:r>
            <a:endParaRPr/>
          </a:p>
        </p:txBody>
      </p:sp>
      <p:pic>
        <p:nvPicPr>
          <p:cNvPr id="386" name="Google Shape;386;p54"/>
          <p:cNvPicPr preferRelativeResize="0"/>
          <p:nvPr/>
        </p:nvPicPr>
        <p:blipFill>
          <a:blip r:embed="rId3">
            <a:alphaModFix/>
          </a:blip>
          <a:stretch>
            <a:fillRect/>
          </a:stretch>
        </p:blipFill>
        <p:spPr>
          <a:xfrm>
            <a:off x="4899700" y="151650"/>
            <a:ext cx="3871775" cy="4840175"/>
          </a:xfrm>
          <a:prstGeom prst="rect">
            <a:avLst/>
          </a:prstGeom>
          <a:noFill/>
          <a:ln>
            <a:noFill/>
          </a:ln>
        </p:spPr>
      </p:pic>
      <p:pic>
        <p:nvPicPr>
          <p:cNvPr id="387" name="Google Shape;387;p54"/>
          <p:cNvPicPr preferRelativeResize="0"/>
          <p:nvPr/>
        </p:nvPicPr>
        <p:blipFill>
          <a:blip r:embed="rId4">
            <a:alphaModFix/>
          </a:blip>
          <a:stretch>
            <a:fillRect/>
          </a:stretch>
        </p:blipFill>
        <p:spPr>
          <a:xfrm>
            <a:off x="1301250" y="3691050"/>
            <a:ext cx="2095500" cy="762000"/>
          </a:xfrm>
          <a:prstGeom prst="rect">
            <a:avLst/>
          </a:prstGeom>
          <a:noFill/>
          <a:ln>
            <a:noFill/>
          </a:ln>
        </p:spPr>
      </p:pic>
      <p:sp>
        <p:nvSpPr>
          <p:cNvPr id="388" name="Google Shape;388;p5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Director Analysis continued</a:t>
            </a:r>
            <a:endParaRPr/>
          </a:p>
        </p:txBody>
      </p:sp>
      <p:sp>
        <p:nvSpPr>
          <p:cNvPr id="394" name="Google Shape;394;p55"/>
          <p:cNvSpPr txBox="1"/>
          <p:nvPr>
            <p:ph idx="1" type="body"/>
          </p:nvPr>
        </p:nvSpPr>
        <p:spPr>
          <a:xfrm>
            <a:off x="311700" y="1266100"/>
            <a:ext cx="8319900" cy="876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Plotly Bar chart for Distribution of directors wrt the IMDB score</a:t>
            </a:r>
            <a:endParaRPr/>
          </a:p>
        </p:txBody>
      </p:sp>
      <p:pic>
        <p:nvPicPr>
          <p:cNvPr id="395" name="Google Shape;395;p55"/>
          <p:cNvPicPr preferRelativeResize="0"/>
          <p:nvPr/>
        </p:nvPicPr>
        <p:blipFill>
          <a:blip r:embed="rId3">
            <a:alphaModFix/>
          </a:blip>
          <a:stretch>
            <a:fillRect/>
          </a:stretch>
        </p:blipFill>
        <p:spPr>
          <a:xfrm>
            <a:off x="42775" y="2014400"/>
            <a:ext cx="9144001" cy="2740101"/>
          </a:xfrm>
          <a:prstGeom prst="rect">
            <a:avLst/>
          </a:prstGeom>
          <a:noFill/>
          <a:ln>
            <a:noFill/>
          </a:ln>
        </p:spPr>
      </p:pic>
      <p:sp>
        <p:nvSpPr>
          <p:cNvPr id="396" name="Google Shape;396;p5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Director Analysis continued</a:t>
            </a:r>
            <a:endParaRPr/>
          </a:p>
        </p:txBody>
      </p:sp>
      <p:sp>
        <p:nvSpPr>
          <p:cNvPr id="402" name="Google Shape;402;p56"/>
          <p:cNvSpPr txBox="1"/>
          <p:nvPr>
            <p:ph idx="1" type="body"/>
          </p:nvPr>
        </p:nvSpPr>
        <p:spPr>
          <a:xfrm>
            <a:off x="311700" y="1266100"/>
            <a:ext cx="8353200" cy="38775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By calculating the average IMDB score for each director, you can identify which directors consistently produce highly-rated movies. This helps in recognizing industry leaders and influential filmmakers.</a:t>
            </a:r>
            <a:endParaRPr sz="1700"/>
          </a:p>
          <a:p>
            <a:pPr indent="-336550" lvl="0" marL="457200" rtl="0" algn="l">
              <a:spcBef>
                <a:spcPts val="1000"/>
              </a:spcBef>
              <a:spcAft>
                <a:spcPts val="0"/>
              </a:spcAft>
              <a:buSzPts val="1700"/>
              <a:buChar char="●"/>
            </a:pPr>
            <a:r>
              <a:rPr lang="en" sz="1700"/>
              <a:t>Understanding the percentile rank of each director’s average score places their performance in context relative to the entire dataset, allowing you to identify which directors are in the top echelons of their field.</a:t>
            </a:r>
            <a:endParaRPr sz="1700"/>
          </a:p>
          <a:p>
            <a:pPr indent="-336550" lvl="0" marL="457200" rtl="0" algn="l">
              <a:spcBef>
                <a:spcPts val="1000"/>
              </a:spcBef>
              <a:spcAft>
                <a:spcPts val="0"/>
              </a:spcAft>
              <a:buSzPts val="1700"/>
              <a:buChar char="●"/>
            </a:pPr>
            <a:r>
              <a:rPr b="1" lang="en" sz="1700"/>
              <a:t>Standard Deviation: </a:t>
            </a:r>
            <a:r>
              <a:rPr lang="en" sz="1700"/>
              <a:t>The standard deviation of IMDB scores for each director shows how consistent they are in producing high-quality movies. </a:t>
            </a:r>
            <a:endParaRPr sz="1700"/>
          </a:p>
          <a:p>
            <a:pPr indent="-336550" lvl="0" marL="457200" rtl="0" algn="l">
              <a:spcBef>
                <a:spcPts val="1000"/>
              </a:spcBef>
              <a:spcAft>
                <a:spcPts val="1000"/>
              </a:spcAft>
              <a:buSzPts val="1700"/>
              <a:buChar char="●"/>
            </a:pPr>
            <a:r>
              <a:rPr b="1" lang="en" sz="1700"/>
              <a:t>Median IMDB Score: </a:t>
            </a:r>
            <a:r>
              <a:rPr lang="en" sz="1700"/>
              <a:t>The median score provides a more robust measure of central tendency than the mean, particularly in the presence of outliers. This helps in understanding the typical performance of a director’s movies.</a:t>
            </a:r>
            <a:endParaRPr sz="1700"/>
          </a:p>
        </p:txBody>
      </p:sp>
      <p:sp>
        <p:nvSpPr>
          <p:cNvPr id="403" name="Google Shape;403;p5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Budget Analysis</a:t>
            </a:r>
            <a:endParaRPr/>
          </a:p>
        </p:txBody>
      </p:sp>
      <p:sp>
        <p:nvSpPr>
          <p:cNvPr id="409" name="Google Shape;409;p57"/>
          <p:cNvSpPr txBox="1"/>
          <p:nvPr>
            <p:ph idx="1" type="body"/>
          </p:nvPr>
        </p:nvSpPr>
        <p:spPr>
          <a:xfrm>
            <a:off x="311700" y="1266100"/>
            <a:ext cx="4213800" cy="33030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In this we will analyze the relationship between movie budgets and their financial success, providing valuable insights into movie profitability.</a:t>
            </a:r>
            <a:endParaRPr/>
          </a:p>
          <a:p>
            <a:pPr indent="-325755" lvl="0" marL="457200" rtl="0" algn="l">
              <a:spcBef>
                <a:spcPts val="0"/>
              </a:spcBef>
              <a:spcAft>
                <a:spcPts val="0"/>
              </a:spcAft>
              <a:buSzPct val="100000"/>
              <a:buChar char="●"/>
            </a:pPr>
            <a:r>
              <a:rPr lang="en"/>
              <a:t>We will first find the </a:t>
            </a:r>
            <a:r>
              <a:rPr b="1" lang="en"/>
              <a:t>correlation</a:t>
            </a:r>
            <a:r>
              <a:rPr lang="en"/>
              <a:t>, This value will tell you how strongly budgets and gross earnings are related. A positive value indicates a direct relationship, while a negative value indicates an inverse relationship. Formula for this is</a:t>
            </a:r>
            <a:endParaRPr/>
          </a:p>
          <a:p>
            <a:pPr indent="0" lvl="0" marL="457200" rtl="0" algn="l">
              <a:spcBef>
                <a:spcPts val="1200"/>
              </a:spcBef>
              <a:spcAft>
                <a:spcPts val="1200"/>
              </a:spcAft>
              <a:buNone/>
            </a:pPr>
            <a:r>
              <a:rPr b="1" lang="en">
                <a:latin typeface="Arial"/>
                <a:ea typeface="Arial"/>
                <a:cs typeface="Arial"/>
                <a:sym typeface="Arial"/>
              </a:rPr>
              <a:t>=CORREL(B2:B100,C2:C100)</a:t>
            </a:r>
            <a:endParaRPr b="1">
              <a:latin typeface="Arial"/>
              <a:ea typeface="Arial"/>
              <a:cs typeface="Arial"/>
              <a:sym typeface="Arial"/>
            </a:endParaRPr>
          </a:p>
        </p:txBody>
      </p:sp>
      <p:pic>
        <p:nvPicPr>
          <p:cNvPr id="410" name="Google Shape;410;p57"/>
          <p:cNvPicPr preferRelativeResize="0"/>
          <p:nvPr/>
        </p:nvPicPr>
        <p:blipFill>
          <a:blip r:embed="rId3">
            <a:alphaModFix/>
          </a:blip>
          <a:stretch>
            <a:fillRect/>
          </a:stretch>
        </p:blipFill>
        <p:spPr>
          <a:xfrm>
            <a:off x="4830300" y="3909763"/>
            <a:ext cx="4313700" cy="1122525"/>
          </a:xfrm>
          <a:prstGeom prst="rect">
            <a:avLst/>
          </a:prstGeom>
          <a:noFill/>
          <a:ln>
            <a:noFill/>
          </a:ln>
        </p:spPr>
      </p:pic>
      <p:pic>
        <p:nvPicPr>
          <p:cNvPr id="411" name="Google Shape;411;p57"/>
          <p:cNvPicPr preferRelativeResize="0"/>
          <p:nvPr/>
        </p:nvPicPr>
        <p:blipFill>
          <a:blip r:embed="rId4">
            <a:alphaModFix/>
          </a:blip>
          <a:stretch>
            <a:fillRect/>
          </a:stretch>
        </p:blipFill>
        <p:spPr>
          <a:xfrm>
            <a:off x="4729125" y="53401"/>
            <a:ext cx="4103175" cy="3797324"/>
          </a:xfrm>
          <a:prstGeom prst="rect">
            <a:avLst/>
          </a:prstGeom>
          <a:noFill/>
          <a:ln>
            <a:noFill/>
          </a:ln>
        </p:spPr>
      </p:pic>
      <p:sp>
        <p:nvSpPr>
          <p:cNvPr id="412" name="Google Shape;412;p5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Budget Analysis continued</a:t>
            </a:r>
            <a:endParaRPr/>
          </a:p>
        </p:txBody>
      </p:sp>
      <p:sp>
        <p:nvSpPr>
          <p:cNvPr id="418" name="Google Shape;418;p58"/>
          <p:cNvSpPr txBox="1"/>
          <p:nvPr>
            <p:ph idx="1" type="body"/>
          </p:nvPr>
        </p:nvSpPr>
        <p:spPr>
          <a:xfrm>
            <a:off x="311700" y="1266100"/>
            <a:ext cx="4181700" cy="3967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Formula for Profit Margin is</a:t>
            </a:r>
            <a:endParaRPr sz="1600"/>
          </a:p>
          <a:p>
            <a:pPr indent="0" lvl="0" marL="457200" rtl="0" algn="l">
              <a:spcBef>
                <a:spcPts val="1200"/>
              </a:spcBef>
              <a:spcAft>
                <a:spcPts val="0"/>
              </a:spcAft>
              <a:buNone/>
            </a:pPr>
            <a:r>
              <a:rPr lang="en" sz="1600"/>
              <a:t>Gross - Budget</a:t>
            </a:r>
            <a:endParaRPr sz="1600"/>
          </a:p>
          <a:p>
            <a:pPr indent="0" lvl="0" marL="457200" rtl="0" algn="l">
              <a:spcBef>
                <a:spcPts val="1200"/>
              </a:spcBef>
              <a:spcAft>
                <a:spcPts val="0"/>
              </a:spcAft>
              <a:buNone/>
            </a:pPr>
            <a:r>
              <a:rPr b="1" lang="en" sz="1600"/>
              <a:t>=C2-B2</a:t>
            </a:r>
            <a:endParaRPr b="1" sz="1600"/>
          </a:p>
          <a:p>
            <a:pPr indent="-330200" lvl="0" marL="457200" rtl="0" algn="l">
              <a:spcBef>
                <a:spcPts val="1200"/>
              </a:spcBef>
              <a:spcAft>
                <a:spcPts val="0"/>
              </a:spcAft>
              <a:buSzPts val="1600"/>
              <a:buChar char="●"/>
            </a:pPr>
            <a:r>
              <a:rPr lang="en" sz="1600"/>
              <a:t>For Maximum Profit Margin, take the </a:t>
            </a:r>
            <a:r>
              <a:rPr lang="en" sz="1600"/>
              <a:t>maximum value</a:t>
            </a:r>
            <a:endParaRPr sz="1600"/>
          </a:p>
          <a:p>
            <a:pPr indent="457200" lvl="0" marL="0" rtl="0" algn="l">
              <a:spcBef>
                <a:spcPts val="1200"/>
              </a:spcBef>
              <a:spcAft>
                <a:spcPts val="0"/>
              </a:spcAft>
              <a:buNone/>
            </a:pPr>
            <a:r>
              <a:rPr b="1" lang="en" sz="1600"/>
              <a:t>=MAX(D2:D100)</a:t>
            </a:r>
            <a:endParaRPr b="1" sz="1600"/>
          </a:p>
          <a:p>
            <a:pPr indent="-330200" lvl="0" marL="457200" rtl="0" algn="l">
              <a:spcBef>
                <a:spcPts val="1200"/>
              </a:spcBef>
              <a:spcAft>
                <a:spcPts val="0"/>
              </a:spcAft>
              <a:buSzPts val="1600"/>
              <a:buChar char="●"/>
            </a:pPr>
            <a:r>
              <a:rPr lang="en" sz="1600"/>
              <a:t>For Movie with the Highest Profit Margin, take highest index</a:t>
            </a:r>
            <a:endParaRPr sz="1600"/>
          </a:p>
          <a:p>
            <a:pPr indent="0" lvl="0" marL="0" rtl="0" algn="l">
              <a:spcBef>
                <a:spcPts val="1200"/>
              </a:spcBef>
              <a:spcAft>
                <a:spcPts val="1200"/>
              </a:spcAft>
              <a:buNone/>
            </a:pPr>
            <a:r>
              <a:rPr b="1" lang="en" sz="1300"/>
              <a:t>=INDEX(A2:A3850,MATCH(F1,D2:D3850,0))</a:t>
            </a:r>
            <a:endParaRPr b="1" sz="1300"/>
          </a:p>
        </p:txBody>
      </p:sp>
      <p:pic>
        <p:nvPicPr>
          <p:cNvPr id="419" name="Google Shape;419;p58"/>
          <p:cNvPicPr preferRelativeResize="0"/>
          <p:nvPr/>
        </p:nvPicPr>
        <p:blipFill>
          <a:blip r:embed="rId3">
            <a:alphaModFix/>
          </a:blip>
          <a:stretch>
            <a:fillRect/>
          </a:stretch>
        </p:blipFill>
        <p:spPr>
          <a:xfrm>
            <a:off x="4988000" y="377750"/>
            <a:ext cx="3667451" cy="4388000"/>
          </a:xfrm>
          <a:prstGeom prst="rect">
            <a:avLst/>
          </a:prstGeom>
          <a:noFill/>
          <a:ln>
            <a:noFill/>
          </a:ln>
        </p:spPr>
      </p:pic>
      <p:sp>
        <p:nvSpPr>
          <p:cNvPr id="420" name="Google Shape;420;p5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Budget Analysis continued</a:t>
            </a:r>
            <a:endParaRPr/>
          </a:p>
        </p:txBody>
      </p:sp>
      <p:pic>
        <p:nvPicPr>
          <p:cNvPr id="426" name="Google Shape;426;p59"/>
          <p:cNvPicPr preferRelativeResize="0"/>
          <p:nvPr/>
        </p:nvPicPr>
        <p:blipFill>
          <a:blip r:embed="rId3">
            <a:alphaModFix/>
          </a:blip>
          <a:stretch>
            <a:fillRect/>
          </a:stretch>
        </p:blipFill>
        <p:spPr>
          <a:xfrm>
            <a:off x="441100" y="1188825"/>
            <a:ext cx="4192713" cy="3820976"/>
          </a:xfrm>
          <a:prstGeom prst="rect">
            <a:avLst/>
          </a:prstGeom>
          <a:noFill/>
          <a:ln>
            <a:noFill/>
          </a:ln>
        </p:spPr>
      </p:pic>
      <p:pic>
        <p:nvPicPr>
          <p:cNvPr id="427" name="Google Shape;427;p59"/>
          <p:cNvPicPr preferRelativeResize="0"/>
          <p:nvPr/>
        </p:nvPicPr>
        <p:blipFill>
          <a:blip r:embed="rId4">
            <a:alphaModFix/>
          </a:blip>
          <a:stretch>
            <a:fillRect/>
          </a:stretch>
        </p:blipFill>
        <p:spPr>
          <a:xfrm>
            <a:off x="4869332" y="1188825"/>
            <a:ext cx="3597218" cy="3649874"/>
          </a:xfrm>
          <a:prstGeom prst="rect">
            <a:avLst/>
          </a:prstGeom>
          <a:noFill/>
          <a:ln>
            <a:noFill/>
          </a:ln>
        </p:spPr>
      </p:pic>
      <p:sp>
        <p:nvSpPr>
          <p:cNvPr id="428" name="Google Shape;428;p5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Budget Analysis continued</a:t>
            </a:r>
            <a:endParaRPr/>
          </a:p>
        </p:txBody>
      </p:sp>
      <p:sp>
        <p:nvSpPr>
          <p:cNvPr id="434" name="Google Shape;434;p60"/>
          <p:cNvSpPr txBox="1"/>
          <p:nvPr>
            <p:ph idx="1" type="body"/>
          </p:nvPr>
        </p:nvSpPr>
        <p:spPr>
          <a:xfrm>
            <a:off x="311700" y="1266100"/>
            <a:ext cx="8520600" cy="3303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By calculating the highest Profit Margin we can Identify the movie with the highest profit margin helps to understand which movies were the most financially successful relative to their budget.</a:t>
            </a:r>
            <a:endParaRPr sz="1600"/>
          </a:p>
          <a:p>
            <a:pPr indent="-330200" lvl="0" marL="457200" rtl="0" algn="l">
              <a:spcBef>
                <a:spcPts val="0"/>
              </a:spcBef>
              <a:spcAft>
                <a:spcPts val="0"/>
              </a:spcAft>
              <a:buSzPts val="1600"/>
              <a:buChar char="●"/>
            </a:pPr>
            <a:r>
              <a:rPr lang="en" sz="1600"/>
              <a:t> Understanding which types of movies tend to have higher returns on investment (ROI) helps producers and investors make more informed decisions.</a:t>
            </a:r>
            <a:endParaRPr sz="1600"/>
          </a:p>
          <a:p>
            <a:pPr indent="-330200" lvl="0" marL="457200" rtl="0" algn="l">
              <a:spcBef>
                <a:spcPts val="0"/>
              </a:spcBef>
              <a:spcAft>
                <a:spcPts val="0"/>
              </a:spcAft>
              <a:buSzPts val="1600"/>
              <a:buChar char="●"/>
            </a:pPr>
            <a:r>
              <a:rPr lang="en" sz="1600"/>
              <a:t>Strategic allocation of funds can be planned based on historical data of successful budget-to-earnings ratios.</a:t>
            </a:r>
            <a:endParaRPr sz="1600"/>
          </a:p>
          <a:p>
            <a:pPr indent="-330200" lvl="0" marL="457200" rtl="0" algn="l">
              <a:spcBef>
                <a:spcPts val="0"/>
              </a:spcBef>
              <a:spcAft>
                <a:spcPts val="0"/>
              </a:spcAft>
              <a:buSzPts val="1600"/>
              <a:buChar char="●"/>
            </a:pPr>
            <a:r>
              <a:rPr lang="en" sz="1600"/>
              <a:t>Identifying the movies with the highest profit margins allows studios to benchmark performance and set financial targets for future projects.</a:t>
            </a:r>
            <a:endParaRPr sz="1600"/>
          </a:p>
          <a:p>
            <a:pPr indent="-330200" lvl="0" marL="457200" rtl="0" algn="l">
              <a:spcBef>
                <a:spcPts val="0"/>
              </a:spcBef>
              <a:spcAft>
                <a:spcPts val="0"/>
              </a:spcAft>
              <a:buSzPts val="1600"/>
              <a:buChar char="●"/>
            </a:pPr>
            <a:r>
              <a:rPr lang="en" sz="1600"/>
              <a:t>Insights into which budget ranges yield the highest returns can also reflect audience preferences and spending habits, guiding marketing and distribution strategies.</a:t>
            </a:r>
            <a:endParaRPr sz="1600"/>
          </a:p>
        </p:txBody>
      </p:sp>
      <p:sp>
        <p:nvSpPr>
          <p:cNvPr id="435" name="Google Shape;435;p6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type="title"/>
          </p:nvPr>
        </p:nvSpPr>
        <p:spPr>
          <a:xfrm>
            <a:off x="490250" y="526350"/>
            <a:ext cx="5618700" cy="2674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Video Presentation Link:</a:t>
            </a:r>
            <a:endParaRPr/>
          </a:p>
        </p:txBody>
      </p:sp>
      <p:sp>
        <p:nvSpPr>
          <p:cNvPr id="441" name="Google Shape;441;p61"/>
          <p:cNvSpPr txBox="1"/>
          <p:nvPr>
            <p:ph type="title"/>
          </p:nvPr>
        </p:nvSpPr>
        <p:spPr>
          <a:xfrm>
            <a:off x="559800" y="3315125"/>
            <a:ext cx="8520600" cy="130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Please refer to this link for my video presentation: </a:t>
            </a:r>
            <a:r>
              <a:rPr lang="en" sz="1400" u="sng">
                <a:solidFill>
                  <a:srgbClr val="0000FF"/>
                </a:solidFill>
                <a:hlinkClick r:id="rId3">
                  <a:extLst>
                    <a:ext uri="{A12FA001-AC4F-418D-AE19-62706E023703}">
                      <ahyp:hlinkClr val="tx"/>
                    </a:ext>
                  </a:extLst>
                </a:hlinkClick>
              </a:rPr>
              <a:t>https://www.loom.com/share/beb3968dd935440ea06e842e20c3b9d6?sid=d10087f8-bfb0-4531-aeda-0480aad1e3c2</a:t>
            </a:r>
            <a:endParaRPr sz="1400">
              <a:solidFill>
                <a:srgbClr val="0000FF"/>
              </a:solidFill>
            </a:endParaRPr>
          </a:p>
          <a:p>
            <a:pPr indent="0" lvl="0" marL="0" rtl="0" algn="l">
              <a:spcBef>
                <a:spcPts val="0"/>
              </a:spcBef>
              <a:spcAft>
                <a:spcPts val="0"/>
              </a:spcAft>
              <a:buNone/>
            </a:pPr>
            <a:r>
              <a:rPr lang="en" sz="1400"/>
              <a:t>  </a:t>
            </a:r>
            <a:endParaRPr sz="1400"/>
          </a:p>
        </p:txBody>
      </p:sp>
      <p:sp>
        <p:nvSpPr>
          <p:cNvPr id="442" name="Google Shape;442;p6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REPORT</a:t>
            </a:r>
            <a:endParaRPr/>
          </a:p>
        </p:txBody>
      </p:sp>
      <p:sp>
        <p:nvSpPr>
          <p:cNvPr id="448" name="Google Shape;448;p6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490250" y="526350"/>
            <a:ext cx="7446300" cy="4090800"/>
          </a:xfrm>
          <a:prstGeom prst="rect">
            <a:avLst/>
          </a:prstGeom>
        </p:spPr>
        <p:txBody>
          <a:bodyPr anchorCtr="0" anchor="ctr" bIns="91425" lIns="91425" spcFirstLastPara="1" rIns="91425" wrap="square" tIns="91425">
            <a:normAutofit/>
          </a:bodyPr>
          <a:lstStyle/>
          <a:p>
            <a:pPr indent="0" lvl="0" marL="0" rtl="0" algn="l">
              <a:lnSpc>
                <a:spcPct val="115000"/>
              </a:lnSpc>
              <a:spcBef>
                <a:spcPts val="1000"/>
              </a:spcBef>
              <a:spcAft>
                <a:spcPts val="0"/>
              </a:spcAft>
              <a:buNone/>
            </a:pPr>
            <a:r>
              <a:rPr b="1" lang="en" sz="1800" u="sng"/>
              <a:t>Project Description :</a:t>
            </a:r>
            <a:endParaRPr b="1" sz="1800" u="sng"/>
          </a:p>
          <a:p>
            <a:pPr indent="-342900" lvl="0" marL="457200" rtl="0" algn="l">
              <a:lnSpc>
                <a:spcPct val="115000"/>
              </a:lnSpc>
              <a:spcBef>
                <a:spcPts val="1000"/>
              </a:spcBef>
              <a:spcAft>
                <a:spcPts val="0"/>
              </a:spcAft>
              <a:buClr>
                <a:schemeClr val="lt1"/>
              </a:buClr>
              <a:buSzPts val="1800"/>
              <a:buFont typeface="Playfair Display Medium"/>
              <a:buChar char="●"/>
            </a:pPr>
            <a:r>
              <a:rPr lang="en" sz="1800">
                <a:latin typeface="Playfair Display Medium"/>
                <a:ea typeface="Playfair Display Medium"/>
                <a:cs typeface="Playfair Display Medium"/>
                <a:sym typeface="Playfair Display Medium"/>
              </a:rPr>
              <a:t>The project aims to analyze a dataset of movies from IMDB to gain insights into various aspects of the movie industry. </a:t>
            </a:r>
            <a:endParaRPr sz="1800">
              <a:latin typeface="Playfair Display Medium"/>
              <a:ea typeface="Playfair Display Medium"/>
              <a:cs typeface="Playfair Display Medium"/>
              <a:sym typeface="Playfair Display Medium"/>
            </a:endParaRPr>
          </a:p>
          <a:p>
            <a:pPr indent="-342900" lvl="0" marL="457200" rtl="0" algn="l">
              <a:lnSpc>
                <a:spcPct val="115000"/>
              </a:lnSpc>
              <a:spcBef>
                <a:spcPts val="1000"/>
              </a:spcBef>
              <a:spcAft>
                <a:spcPts val="1000"/>
              </a:spcAft>
              <a:buClr>
                <a:schemeClr val="lt1"/>
              </a:buClr>
              <a:buSzPts val="1800"/>
              <a:buFont typeface="Playfair Display Medium"/>
              <a:buChar char="●"/>
            </a:pPr>
            <a:r>
              <a:rPr lang="en" sz="1800">
                <a:latin typeface="Playfair Display Medium"/>
                <a:ea typeface="Playfair Display Medium"/>
                <a:cs typeface="Playfair Display Medium"/>
                <a:sym typeface="Playfair Display Medium"/>
              </a:rPr>
              <a:t>Objective - To understand the distribution of movie genres, duration, directors, languages, gross earning, budget and their impact on movie ratings.</a:t>
            </a:r>
            <a:endParaRPr sz="1800">
              <a:latin typeface="Playfair Display Medium"/>
              <a:ea typeface="Playfair Display Medium"/>
              <a:cs typeface="Playfair Display Medium"/>
              <a:sym typeface="Playfair Display Medium"/>
            </a:endParaRPr>
          </a:p>
        </p:txBody>
      </p:sp>
      <p:sp>
        <p:nvSpPr>
          <p:cNvPr id="454" name="Google Shape;454;p6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4"/>
          <p:cNvSpPr txBox="1"/>
          <p:nvPr>
            <p:ph type="title"/>
          </p:nvPr>
        </p:nvSpPr>
        <p:spPr>
          <a:xfrm>
            <a:off x="490250" y="526350"/>
            <a:ext cx="7446300" cy="4090800"/>
          </a:xfrm>
          <a:prstGeom prst="rect">
            <a:avLst/>
          </a:prstGeom>
        </p:spPr>
        <p:txBody>
          <a:bodyPr anchorCtr="0" anchor="ctr" bIns="91425" lIns="91425" spcFirstLastPara="1" rIns="91425" wrap="square" tIns="91425">
            <a:normAutofit/>
          </a:bodyPr>
          <a:lstStyle/>
          <a:p>
            <a:pPr indent="0" lvl="0" marL="0" rtl="0" algn="l">
              <a:lnSpc>
                <a:spcPct val="115000"/>
              </a:lnSpc>
              <a:spcBef>
                <a:spcPts val="1000"/>
              </a:spcBef>
              <a:spcAft>
                <a:spcPts val="0"/>
              </a:spcAft>
              <a:buNone/>
            </a:pPr>
            <a:r>
              <a:rPr b="1" lang="en" sz="1600" u="sng"/>
              <a:t>Approach </a:t>
            </a:r>
            <a:r>
              <a:rPr b="1" lang="en" sz="1600" u="sng"/>
              <a:t>:</a:t>
            </a:r>
            <a:endParaRPr b="1" sz="1600" u="sng"/>
          </a:p>
          <a:p>
            <a:pPr indent="0" lvl="0" marL="0" rtl="0" algn="l">
              <a:spcBef>
                <a:spcPts val="1000"/>
              </a:spcBef>
              <a:spcAft>
                <a:spcPts val="0"/>
              </a:spcAft>
              <a:buNone/>
            </a:pPr>
            <a:r>
              <a:rPr lang="en" sz="1600">
                <a:latin typeface="Playfair Display Medium"/>
                <a:ea typeface="Playfair Display Medium"/>
                <a:cs typeface="Playfair Display Medium"/>
                <a:sym typeface="Playfair Display Medium"/>
              </a:rPr>
              <a:t>After downloading the dataset and loading it into Excel, I started with the following steps:</a:t>
            </a:r>
            <a:endParaRPr sz="1600">
              <a:latin typeface="Playfair Display Medium"/>
              <a:ea typeface="Playfair Display Medium"/>
              <a:cs typeface="Playfair Display Medium"/>
              <a:sym typeface="Playfair Display Medium"/>
            </a:endParaRPr>
          </a:p>
          <a:p>
            <a:pPr indent="-330200" lvl="0" marL="457200" rtl="0" algn="l">
              <a:lnSpc>
                <a:spcPct val="115000"/>
              </a:lnSpc>
              <a:spcBef>
                <a:spcPts val="1000"/>
              </a:spcBef>
              <a:spcAft>
                <a:spcPts val="0"/>
              </a:spcAft>
              <a:buClr>
                <a:schemeClr val="lt1"/>
              </a:buClr>
              <a:buSzPts val="1600"/>
              <a:buFont typeface="Playfair Display Medium"/>
              <a:buChar char="●"/>
            </a:pPr>
            <a:r>
              <a:rPr lang="en" sz="1600">
                <a:latin typeface="Playfair Display Medium"/>
                <a:ea typeface="Playfair Display Medium"/>
                <a:cs typeface="Playfair Display Medium"/>
                <a:sym typeface="Playfair Display Medium"/>
              </a:rPr>
              <a:t>Started with Data Cleaning, expanding the genre column, and dropping the missing rows from data, removing ‘$’ from budget and gross</a:t>
            </a:r>
            <a:endParaRPr sz="1600">
              <a:latin typeface="Playfair Display Medium"/>
              <a:ea typeface="Playfair Display Medium"/>
              <a:cs typeface="Playfair Display Medium"/>
              <a:sym typeface="Playfair Display Medium"/>
            </a:endParaRPr>
          </a:p>
          <a:p>
            <a:pPr indent="-330200" lvl="0" marL="457200" rtl="0" algn="l">
              <a:lnSpc>
                <a:spcPct val="115000"/>
              </a:lnSpc>
              <a:spcBef>
                <a:spcPts val="1000"/>
              </a:spcBef>
              <a:spcAft>
                <a:spcPts val="0"/>
              </a:spcAft>
              <a:buClr>
                <a:schemeClr val="lt1"/>
              </a:buClr>
              <a:buSzPts val="1600"/>
              <a:buFont typeface="Playfair Display Medium"/>
              <a:buChar char="●"/>
            </a:pPr>
            <a:r>
              <a:rPr lang="en" sz="1600">
                <a:latin typeface="Playfair Display Medium"/>
                <a:ea typeface="Playfair Display Medium"/>
                <a:cs typeface="Playfair Display Medium"/>
                <a:sym typeface="Playfair Display Medium"/>
              </a:rPr>
              <a:t>Proceeded to EDA, their visualizations in Python as well as WPS Office</a:t>
            </a:r>
            <a:endParaRPr sz="1600">
              <a:latin typeface="Playfair Display Medium"/>
              <a:ea typeface="Playfair Display Medium"/>
              <a:cs typeface="Playfair Display Medium"/>
              <a:sym typeface="Playfair Display Medium"/>
            </a:endParaRPr>
          </a:p>
          <a:p>
            <a:pPr indent="-330200" lvl="0" marL="457200" rtl="0" algn="l">
              <a:spcBef>
                <a:spcPts val="1000"/>
              </a:spcBef>
              <a:spcAft>
                <a:spcPts val="0"/>
              </a:spcAft>
              <a:buClr>
                <a:schemeClr val="lt1"/>
              </a:buClr>
              <a:buSzPts val="1600"/>
              <a:buFont typeface="Playfair Display Medium"/>
              <a:buChar char="●"/>
            </a:pPr>
            <a:r>
              <a:rPr lang="en" sz="1600">
                <a:latin typeface="Playfair Display Medium"/>
                <a:ea typeface="Playfair Display Medium"/>
                <a:cs typeface="Playfair Display Medium"/>
                <a:sym typeface="Playfair Display Medium"/>
              </a:rPr>
              <a:t>Performed Genre, Duration, Language, Director, Budget Analysis as per task lists by solving each problem step by step, took help from Online Videos wherever required.</a:t>
            </a:r>
            <a:endParaRPr sz="1600">
              <a:latin typeface="Playfair Display Medium"/>
              <a:ea typeface="Playfair Display Medium"/>
              <a:cs typeface="Playfair Display Medium"/>
              <a:sym typeface="Playfair Display Medium"/>
            </a:endParaRPr>
          </a:p>
          <a:p>
            <a:pPr indent="0" lvl="0" marL="0" rtl="0" algn="l">
              <a:spcBef>
                <a:spcPts val="1000"/>
              </a:spcBef>
              <a:spcAft>
                <a:spcPts val="1000"/>
              </a:spcAft>
              <a:buNone/>
            </a:pPr>
            <a:r>
              <a:t/>
            </a:r>
            <a:endParaRPr sz="1600">
              <a:latin typeface="Playfair Display Medium"/>
              <a:ea typeface="Playfair Display Medium"/>
              <a:cs typeface="Playfair Display Medium"/>
              <a:sym typeface="Playfair Display Medium"/>
            </a:endParaRPr>
          </a:p>
        </p:txBody>
      </p:sp>
      <p:sp>
        <p:nvSpPr>
          <p:cNvPr id="460" name="Google Shape;460;p6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5"/>
          <p:cNvSpPr txBox="1"/>
          <p:nvPr>
            <p:ph type="title"/>
          </p:nvPr>
        </p:nvSpPr>
        <p:spPr>
          <a:xfrm>
            <a:off x="490250" y="624500"/>
            <a:ext cx="8205600" cy="3992700"/>
          </a:xfrm>
          <a:prstGeom prst="rect">
            <a:avLst/>
          </a:prstGeom>
        </p:spPr>
        <p:txBody>
          <a:bodyPr anchorCtr="0" anchor="ctr" bIns="91425" lIns="91425" spcFirstLastPara="1" rIns="91425" wrap="square" tIns="91425">
            <a:normAutofit/>
          </a:bodyPr>
          <a:lstStyle/>
          <a:p>
            <a:pPr indent="0" lvl="0" marL="0" rtl="0" algn="l">
              <a:lnSpc>
                <a:spcPct val="115000"/>
              </a:lnSpc>
              <a:spcBef>
                <a:spcPts val="1000"/>
              </a:spcBef>
              <a:spcAft>
                <a:spcPts val="0"/>
              </a:spcAft>
              <a:buNone/>
            </a:pPr>
            <a:r>
              <a:rPr b="1" lang="en" sz="1800" u="sng"/>
              <a:t>Tech-Stack Used :</a:t>
            </a:r>
            <a:endParaRPr b="1" sz="1800" u="sng"/>
          </a:p>
          <a:p>
            <a:pPr indent="-311150" lvl="0" marL="1371600" rtl="0" algn="l">
              <a:lnSpc>
                <a:spcPct val="115000"/>
              </a:lnSpc>
              <a:spcBef>
                <a:spcPts val="1000"/>
              </a:spcBef>
              <a:spcAft>
                <a:spcPts val="0"/>
              </a:spcAft>
              <a:buClr>
                <a:schemeClr val="lt1"/>
              </a:buClr>
              <a:buSzPts val="1300"/>
              <a:buFont typeface="Playfair Display SemiBold"/>
              <a:buAutoNum type="arabicPeriod"/>
            </a:pPr>
            <a:r>
              <a:rPr lang="en" sz="1300">
                <a:latin typeface="Playfair Display SemiBold"/>
                <a:ea typeface="Playfair Display SemiBold"/>
                <a:cs typeface="Playfair Display SemiBold"/>
                <a:sym typeface="Playfair Display SemiBold"/>
              </a:rPr>
              <a:t>WPS OFFICE version 12.2.0</a:t>
            </a:r>
            <a:endParaRPr sz="1300">
              <a:latin typeface="Playfair Display SemiBold"/>
              <a:ea typeface="Playfair Display SemiBold"/>
              <a:cs typeface="Playfair Display SemiBold"/>
              <a:sym typeface="Playfair Display SemiBold"/>
            </a:endParaRPr>
          </a:p>
          <a:p>
            <a:pPr indent="-311150" lvl="0" marL="1371600" rtl="0" algn="l">
              <a:lnSpc>
                <a:spcPct val="115000"/>
              </a:lnSpc>
              <a:spcBef>
                <a:spcPts val="0"/>
              </a:spcBef>
              <a:spcAft>
                <a:spcPts val="0"/>
              </a:spcAft>
              <a:buClr>
                <a:schemeClr val="lt1"/>
              </a:buClr>
              <a:buSzPts val="1300"/>
              <a:buFont typeface="Playfair Display SemiBold"/>
              <a:buAutoNum type="arabicPeriod"/>
            </a:pPr>
            <a:r>
              <a:rPr lang="en" sz="1300">
                <a:latin typeface="Playfair Display SemiBold"/>
                <a:ea typeface="Playfair Display SemiBold"/>
                <a:cs typeface="Playfair Display SemiBold"/>
                <a:sym typeface="Playfair Display SemiBold"/>
              </a:rPr>
              <a:t>Python3 - ipykernel</a:t>
            </a:r>
            <a:endParaRPr sz="1300">
              <a:latin typeface="Playfair Display SemiBold"/>
              <a:ea typeface="Playfair Display SemiBold"/>
              <a:cs typeface="Playfair Display SemiBold"/>
              <a:sym typeface="Playfair Display SemiBold"/>
            </a:endParaRPr>
          </a:p>
          <a:p>
            <a:pPr indent="-311150" lvl="0" marL="1371600" rtl="0" algn="l">
              <a:lnSpc>
                <a:spcPct val="115000"/>
              </a:lnSpc>
              <a:spcBef>
                <a:spcPts val="0"/>
              </a:spcBef>
              <a:spcAft>
                <a:spcPts val="0"/>
              </a:spcAft>
              <a:buClr>
                <a:schemeClr val="lt1"/>
              </a:buClr>
              <a:buSzPts val="1300"/>
              <a:buFont typeface="Playfair Display SemiBold"/>
              <a:buAutoNum type="arabicPeriod"/>
            </a:pPr>
            <a:r>
              <a:rPr lang="en" sz="1300">
                <a:latin typeface="Playfair Display SemiBold"/>
                <a:ea typeface="Playfair Display SemiBold"/>
                <a:cs typeface="Playfair Display SemiBold"/>
                <a:sym typeface="Playfair Display SemiBold"/>
              </a:rPr>
              <a:t>Pandas, plotly graph-objects, plotly-express libraries</a:t>
            </a:r>
            <a:endParaRPr sz="1300">
              <a:latin typeface="Playfair Display SemiBold"/>
              <a:ea typeface="Playfair Display SemiBold"/>
              <a:cs typeface="Playfair Display SemiBold"/>
              <a:sym typeface="Playfair Display SemiBold"/>
            </a:endParaRPr>
          </a:p>
          <a:p>
            <a:pPr indent="-311150" lvl="0" marL="1371600" rtl="0" algn="l">
              <a:lnSpc>
                <a:spcPct val="115000"/>
              </a:lnSpc>
              <a:spcBef>
                <a:spcPts val="0"/>
              </a:spcBef>
              <a:spcAft>
                <a:spcPts val="0"/>
              </a:spcAft>
              <a:buClr>
                <a:schemeClr val="lt1"/>
              </a:buClr>
              <a:buSzPts val="1300"/>
              <a:buFont typeface="Playfair Display SemiBold"/>
              <a:buAutoNum type="arabicPeriod"/>
            </a:pPr>
            <a:r>
              <a:rPr lang="en" sz="1300">
                <a:latin typeface="Playfair Display SemiBold"/>
                <a:ea typeface="Playfair Display SemiBold"/>
                <a:cs typeface="Playfair Display SemiBold"/>
                <a:sym typeface="Playfair Display SemiBold"/>
              </a:rPr>
              <a:t>Jupyter-notebook</a:t>
            </a:r>
            <a:endParaRPr sz="1300">
              <a:latin typeface="Playfair Display SemiBold"/>
              <a:ea typeface="Playfair Display SemiBold"/>
              <a:cs typeface="Playfair Display SemiBold"/>
              <a:sym typeface="Playfair Display SemiBold"/>
            </a:endParaRPr>
          </a:p>
          <a:p>
            <a:pPr indent="0" lvl="0" marL="1371600" rtl="0" algn="l">
              <a:lnSpc>
                <a:spcPct val="115000"/>
              </a:lnSpc>
              <a:spcBef>
                <a:spcPts val="1200"/>
              </a:spcBef>
              <a:spcAft>
                <a:spcPts val="0"/>
              </a:spcAft>
              <a:buNone/>
            </a:pPr>
            <a:r>
              <a:t/>
            </a:r>
            <a:endParaRPr sz="1300">
              <a:latin typeface="Playfair Display SemiBold"/>
              <a:ea typeface="Playfair Display SemiBold"/>
              <a:cs typeface="Playfair Display SemiBold"/>
              <a:sym typeface="Playfair Display SemiBold"/>
            </a:endParaRPr>
          </a:p>
          <a:p>
            <a:pPr indent="0" lvl="0" marL="0" rtl="0" algn="l">
              <a:lnSpc>
                <a:spcPct val="115000"/>
              </a:lnSpc>
              <a:spcBef>
                <a:spcPts val="1200"/>
              </a:spcBef>
              <a:spcAft>
                <a:spcPts val="0"/>
              </a:spcAft>
              <a:buNone/>
            </a:pPr>
            <a:r>
              <a:rPr lang="en" sz="1300">
                <a:latin typeface="Playfair Display SemiBold"/>
                <a:ea typeface="Playfair Display SemiBold"/>
                <a:cs typeface="Playfair Display SemiBold"/>
                <a:sym typeface="Playfair Display SemiBold"/>
              </a:rPr>
              <a:t>Jupyter-notebook link - </a:t>
            </a:r>
            <a:r>
              <a:rPr lang="en" sz="1300" u="sng">
                <a:solidFill>
                  <a:srgbClr val="0000FF"/>
                </a:solidFill>
                <a:latin typeface="Playfair Display SemiBold"/>
                <a:ea typeface="Playfair Display SemiBold"/>
                <a:cs typeface="Playfair Display SemiBold"/>
                <a:sym typeface="Playfair Display SemiBold"/>
                <a:hlinkClick r:id="rId3">
                  <a:extLst>
                    <a:ext uri="{A12FA001-AC4F-418D-AE19-62706E023703}">
                      <ahyp:hlinkClr val="tx"/>
                    </a:ext>
                  </a:extLst>
                </a:hlinkClick>
              </a:rPr>
              <a:t>https://drive.google.com/file/d/1i6j_0-Q-njdRhDscLdMns1uNggMytwGn/view?usp=sharing</a:t>
            </a:r>
            <a:r>
              <a:rPr lang="en" sz="1300">
                <a:solidFill>
                  <a:srgbClr val="0000FF"/>
                </a:solidFill>
                <a:latin typeface="Playfair Display SemiBold"/>
                <a:ea typeface="Playfair Display SemiBold"/>
                <a:cs typeface="Playfair Display SemiBold"/>
                <a:sym typeface="Playfair Display SemiBold"/>
              </a:rPr>
              <a:t> </a:t>
            </a:r>
            <a:endParaRPr sz="1800">
              <a:solidFill>
                <a:srgbClr val="0000FF"/>
              </a:solidFill>
              <a:latin typeface="Playfair Display SemiBold"/>
              <a:ea typeface="Playfair Display SemiBold"/>
              <a:cs typeface="Playfair Display SemiBold"/>
              <a:sym typeface="Playfair Display SemiBold"/>
            </a:endParaRPr>
          </a:p>
          <a:p>
            <a:pPr indent="0" lvl="0" marL="0" rtl="0" algn="l">
              <a:spcBef>
                <a:spcPts val="1200"/>
              </a:spcBef>
              <a:spcAft>
                <a:spcPts val="1000"/>
              </a:spcAft>
              <a:buNone/>
            </a:pPr>
            <a:r>
              <a:t/>
            </a:r>
            <a:endParaRPr b="1" sz="1800"/>
          </a:p>
        </p:txBody>
      </p:sp>
      <p:sp>
        <p:nvSpPr>
          <p:cNvPr id="466" name="Google Shape;466;p6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6"/>
          <p:cNvSpPr txBox="1"/>
          <p:nvPr>
            <p:ph type="title"/>
          </p:nvPr>
        </p:nvSpPr>
        <p:spPr>
          <a:xfrm>
            <a:off x="490250" y="526350"/>
            <a:ext cx="7446300" cy="40908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1000"/>
              </a:spcBef>
              <a:spcAft>
                <a:spcPts val="0"/>
              </a:spcAft>
              <a:buNone/>
            </a:pPr>
            <a:r>
              <a:rPr b="1" lang="en" sz="1800" u="sng"/>
              <a:t>Insights </a:t>
            </a:r>
            <a:r>
              <a:rPr b="1" lang="en" sz="1800" u="sng"/>
              <a:t>:</a:t>
            </a:r>
            <a:endParaRPr b="1" sz="1800" u="sng"/>
          </a:p>
          <a:p>
            <a:pPr indent="-331470" lvl="0" marL="457200" rtl="0" algn="l">
              <a:lnSpc>
                <a:spcPct val="115000"/>
              </a:lnSpc>
              <a:spcBef>
                <a:spcPts val="1000"/>
              </a:spcBef>
              <a:spcAft>
                <a:spcPts val="0"/>
              </a:spcAft>
              <a:buClr>
                <a:schemeClr val="lt1"/>
              </a:buClr>
              <a:buSzPct val="100000"/>
              <a:buFont typeface="Playfair Display Medium"/>
              <a:buChar char="●"/>
            </a:pPr>
            <a:r>
              <a:rPr lang="en" sz="1800">
                <a:latin typeface="Playfair Display Medium"/>
                <a:ea typeface="Playfair Display Medium"/>
                <a:cs typeface="Playfair Display Medium"/>
                <a:sym typeface="Playfair Display Medium"/>
              </a:rPr>
              <a:t>The analysis revealed Genre Performance, we determined which genres tend to receive higher IMDB scores. We understood that </a:t>
            </a:r>
            <a:r>
              <a:rPr b="1" lang="en" sz="1800">
                <a:solidFill>
                  <a:schemeClr val="dk1"/>
                </a:solidFill>
              </a:rPr>
              <a:t>Multi-genre movies</a:t>
            </a:r>
            <a:r>
              <a:rPr lang="en" sz="1800">
                <a:latin typeface="Playfair Display Medium"/>
                <a:ea typeface="Playfair Display Medium"/>
                <a:cs typeface="Playfair Display Medium"/>
                <a:sym typeface="Playfair Display Medium"/>
              </a:rPr>
              <a:t> might attract wider audiences or cater to niche markets. For example, a combination of  </a:t>
            </a:r>
            <a:r>
              <a:rPr lang="en" sz="1800">
                <a:solidFill>
                  <a:schemeClr val="dk1"/>
                </a:solidFill>
                <a:latin typeface="Playfair Display Medium"/>
                <a:ea typeface="Playfair Display Medium"/>
                <a:cs typeface="Playfair Display Medium"/>
                <a:sym typeface="Playfair Display Medium"/>
              </a:rPr>
              <a:t>"Action"</a:t>
            </a:r>
            <a:r>
              <a:rPr lang="en" sz="1800">
                <a:latin typeface="Playfair Display Medium"/>
                <a:ea typeface="Playfair Display Medium"/>
                <a:cs typeface="Playfair Display Medium"/>
                <a:sym typeface="Playfair Display Medium"/>
              </a:rPr>
              <a:t> and </a:t>
            </a:r>
            <a:r>
              <a:rPr lang="en" sz="1800">
                <a:solidFill>
                  <a:schemeClr val="dk1"/>
                </a:solidFill>
                <a:latin typeface="Playfair Display Medium"/>
                <a:ea typeface="Playfair Display Medium"/>
                <a:cs typeface="Playfair Display Medium"/>
                <a:sym typeface="Playfair Display Medium"/>
              </a:rPr>
              <a:t>"Comedy"</a:t>
            </a:r>
            <a:r>
              <a:rPr lang="en" sz="1800">
                <a:latin typeface="Playfair Display Medium"/>
                <a:ea typeface="Playfair Display Medium"/>
                <a:cs typeface="Playfair Display Medium"/>
                <a:sym typeface="Playfair Display Medium"/>
              </a:rPr>
              <a:t> might perform differently than "Action" or "Comedy" alone.</a:t>
            </a:r>
            <a:endParaRPr sz="1800">
              <a:latin typeface="Playfair Display Medium"/>
              <a:ea typeface="Playfair Display Medium"/>
              <a:cs typeface="Playfair Display Medium"/>
              <a:sym typeface="Playfair Display Medium"/>
            </a:endParaRPr>
          </a:p>
          <a:p>
            <a:pPr indent="-331470" lvl="0" marL="457200" rtl="0" algn="l">
              <a:lnSpc>
                <a:spcPct val="115000"/>
              </a:lnSpc>
              <a:spcBef>
                <a:spcPts val="1000"/>
              </a:spcBef>
              <a:spcAft>
                <a:spcPts val="0"/>
              </a:spcAft>
              <a:buClr>
                <a:schemeClr val="lt1"/>
              </a:buClr>
              <a:buSzPct val="100000"/>
              <a:buFont typeface="Playfair Display Medium"/>
              <a:buChar char="●"/>
            </a:pPr>
            <a:r>
              <a:rPr lang="en" sz="1800">
                <a:latin typeface="Playfair Display Medium"/>
                <a:ea typeface="Playfair Display Medium"/>
                <a:cs typeface="Playfair Display Medium"/>
                <a:sym typeface="Playfair Display Medium"/>
              </a:rPr>
              <a:t>In Movie duration analysis, the median duration, slightly lower than the mean, indicates that half of the movies have a duration shorter than 106 minutes. This suggests a slight skew towards </a:t>
            </a:r>
            <a:r>
              <a:rPr lang="en" sz="1800">
                <a:solidFill>
                  <a:schemeClr val="dk1"/>
                </a:solidFill>
                <a:latin typeface="Playfair Display Medium"/>
                <a:ea typeface="Playfair Display Medium"/>
                <a:cs typeface="Playfair Display Medium"/>
                <a:sym typeface="Playfair Display Medium"/>
              </a:rPr>
              <a:t>longer movies</a:t>
            </a:r>
            <a:r>
              <a:rPr lang="en" sz="1800">
                <a:latin typeface="Playfair Display Medium"/>
                <a:ea typeface="Playfair Display Medium"/>
                <a:cs typeface="Playfair Display Medium"/>
                <a:sym typeface="Playfair Display Medium"/>
              </a:rPr>
              <a:t>, but overall, the distribution of movie durations is fairly balanced around this central value.</a:t>
            </a:r>
            <a:endParaRPr sz="1800">
              <a:latin typeface="Playfair Display Medium"/>
              <a:ea typeface="Playfair Display Medium"/>
              <a:cs typeface="Playfair Display Medium"/>
              <a:sym typeface="Playfair Display Medium"/>
            </a:endParaRPr>
          </a:p>
          <a:p>
            <a:pPr indent="0" lvl="0" marL="0" rtl="0" algn="l">
              <a:spcBef>
                <a:spcPts val="1000"/>
              </a:spcBef>
              <a:spcAft>
                <a:spcPts val="1000"/>
              </a:spcAft>
              <a:buNone/>
            </a:pPr>
            <a:r>
              <a:t/>
            </a:r>
            <a:endParaRPr sz="1800">
              <a:latin typeface="Playfair Display Medium"/>
              <a:ea typeface="Playfair Display Medium"/>
              <a:cs typeface="Playfair Display Medium"/>
              <a:sym typeface="Playfair Display Medium"/>
            </a:endParaRPr>
          </a:p>
        </p:txBody>
      </p:sp>
      <p:sp>
        <p:nvSpPr>
          <p:cNvPr id="472" name="Google Shape;472;p6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7"/>
          <p:cNvSpPr txBox="1"/>
          <p:nvPr>
            <p:ph type="title"/>
          </p:nvPr>
        </p:nvSpPr>
        <p:spPr>
          <a:xfrm>
            <a:off x="490250" y="526350"/>
            <a:ext cx="8123400" cy="40908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1000"/>
              </a:spcBef>
              <a:spcAft>
                <a:spcPts val="0"/>
              </a:spcAft>
              <a:buNone/>
            </a:pPr>
            <a:r>
              <a:rPr b="1" lang="en" sz="1800" u="sng"/>
              <a:t>Insights continued :</a:t>
            </a:r>
            <a:endParaRPr b="1" sz="1800" u="sng"/>
          </a:p>
          <a:p>
            <a:pPr indent="-331470" lvl="0" marL="457200" rtl="0" algn="l">
              <a:lnSpc>
                <a:spcPct val="115000"/>
              </a:lnSpc>
              <a:spcBef>
                <a:spcPts val="1000"/>
              </a:spcBef>
              <a:spcAft>
                <a:spcPts val="0"/>
              </a:spcAft>
              <a:buClr>
                <a:schemeClr val="lt1"/>
              </a:buClr>
              <a:buSzPct val="100000"/>
              <a:buFont typeface="Playfair Display Medium"/>
              <a:buChar char="●"/>
            </a:pPr>
            <a:r>
              <a:rPr lang="en" sz="1800">
                <a:latin typeface="Playfair Display Medium"/>
                <a:ea typeface="Playfair Display Medium"/>
                <a:cs typeface="Playfair Display Medium"/>
                <a:sym typeface="Playfair Display Medium"/>
              </a:rPr>
              <a:t> Importance of language in movie analysis, helps to understand the overall trend or central tendency of the IMDB scores for movies in each language. For example, if the mean IMDB score for </a:t>
            </a:r>
            <a:r>
              <a:rPr lang="en" sz="1800">
                <a:solidFill>
                  <a:schemeClr val="dk1"/>
                </a:solidFill>
                <a:latin typeface="Playfair Display Medium"/>
                <a:ea typeface="Playfair Display Medium"/>
                <a:cs typeface="Playfair Display Medium"/>
                <a:sym typeface="Playfair Display Medium"/>
              </a:rPr>
              <a:t>English-language</a:t>
            </a:r>
            <a:r>
              <a:rPr lang="en" sz="1800">
                <a:latin typeface="Playfair Display Medium"/>
                <a:ea typeface="Playfair Display Medium"/>
                <a:cs typeface="Playfair Display Medium"/>
                <a:sym typeface="Playfair Display Medium"/>
              </a:rPr>
              <a:t> movies is higher than for other languages, it might indicate a preference or bias in scoring.</a:t>
            </a:r>
            <a:endParaRPr sz="1800">
              <a:latin typeface="Playfair Display Medium"/>
              <a:ea typeface="Playfair Display Medium"/>
              <a:cs typeface="Playfair Display Medium"/>
              <a:sym typeface="Playfair Display Medium"/>
            </a:endParaRPr>
          </a:p>
          <a:p>
            <a:pPr indent="-331470" lvl="0" marL="457200" rtl="0" algn="l">
              <a:lnSpc>
                <a:spcPct val="115000"/>
              </a:lnSpc>
              <a:spcBef>
                <a:spcPts val="1000"/>
              </a:spcBef>
              <a:spcAft>
                <a:spcPts val="0"/>
              </a:spcAft>
              <a:buClr>
                <a:schemeClr val="lt1"/>
              </a:buClr>
              <a:buSzPct val="100000"/>
              <a:buFont typeface="Playfair Display Medium"/>
              <a:buChar char="●"/>
            </a:pPr>
            <a:r>
              <a:rPr lang="en" sz="1800">
                <a:latin typeface="Playfair Display Medium"/>
                <a:ea typeface="Playfair Display Medium"/>
                <a:cs typeface="Playfair Display Medium"/>
                <a:sym typeface="Playfair Display Medium"/>
              </a:rPr>
              <a:t>Analyzing the </a:t>
            </a:r>
            <a:r>
              <a:rPr lang="en" sz="1800">
                <a:solidFill>
                  <a:schemeClr val="dk1"/>
                </a:solidFill>
                <a:latin typeface="Playfair Display Medium"/>
                <a:ea typeface="Playfair Display Medium"/>
                <a:cs typeface="Playfair Display Medium"/>
                <a:sym typeface="Playfair Display Medium"/>
              </a:rPr>
              <a:t>90th percentile IMDB score</a:t>
            </a:r>
            <a:r>
              <a:rPr lang="en" sz="1800">
                <a:latin typeface="Playfair Display Medium"/>
                <a:ea typeface="Playfair Display Medium"/>
                <a:cs typeface="Playfair Display Medium"/>
                <a:sym typeface="Playfair Display Medium"/>
              </a:rPr>
              <a:t> reveals the peak performance of a director’s movies. This shows the highest quality work they have produced and helps identify which directors occasionally achieve exceptional success.</a:t>
            </a:r>
            <a:endParaRPr sz="1800">
              <a:latin typeface="Playfair Display Medium"/>
              <a:ea typeface="Playfair Display Medium"/>
              <a:cs typeface="Playfair Display Medium"/>
              <a:sym typeface="Playfair Display Medium"/>
            </a:endParaRPr>
          </a:p>
          <a:p>
            <a:pPr indent="-331470" lvl="0" marL="457200" rtl="0" algn="l">
              <a:lnSpc>
                <a:spcPct val="115000"/>
              </a:lnSpc>
              <a:spcBef>
                <a:spcPts val="1000"/>
              </a:spcBef>
              <a:spcAft>
                <a:spcPts val="0"/>
              </a:spcAft>
              <a:buClr>
                <a:schemeClr val="lt1"/>
              </a:buClr>
              <a:buSzPct val="100000"/>
              <a:buFont typeface="Playfair Display Medium"/>
              <a:buChar char="●"/>
            </a:pPr>
            <a:r>
              <a:rPr lang="en" sz="1800">
                <a:latin typeface="Playfair Display Medium"/>
                <a:ea typeface="Playfair Display Medium"/>
                <a:cs typeface="Playfair Display Medium"/>
                <a:sym typeface="Playfair Display Medium"/>
              </a:rPr>
              <a:t>The </a:t>
            </a:r>
            <a:r>
              <a:rPr lang="en" sz="1800">
                <a:solidFill>
                  <a:schemeClr val="dk1"/>
                </a:solidFill>
                <a:latin typeface="Playfair Display Medium"/>
                <a:ea typeface="Playfair Display Medium"/>
                <a:cs typeface="Playfair Display Medium"/>
                <a:sym typeface="Playfair Display Medium"/>
              </a:rPr>
              <a:t>correlation coefficient</a:t>
            </a:r>
            <a:r>
              <a:rPr lang="en" sz="1800">
                <a:latin typeface="Playfair Display Medium"/>
                <a:ea typeface="Playfair Display Medium"/>
                <a:cs typeface="Playfair Display Medium"/>
                <a:sym typeface="Playfair Display Medium"/>
              </a:rPr>
              <a:t> indicates how closely the movie budget and gross earnings are related. A strong positive correlation suggests that higher budgets often result in higher earnings, whereas a weak or negative correlation might indicate other factors at play.</a:t>
            </a:r>
            <a:endParaRPr sz="1800">
              <a:latin typeface="Playfair Display Medium"/>
              <a:ea typeface="Playfair Display Medium"/>
              <a:cs typeface="Playfair Display Medium"/>
              <a:sym typeface="Playfair Display Medium"/>
            </a:endParaRPr>
          </a:p>
          <a:p>
            <a:pPr indent="0" lvl="0" marL="0" rtl="0" algn="l">
              <a:spcBef>
                <a:spcPts val="1000"/>
              </a:spcBef>
              <a:spcAft>
                <a:spcPts val="1000"/>
              </a:spcAft>
              <a:buNone/>
            </a:pPr>
            <a:r>
              <a:t/>
            </a:r>
            <a:endParaRPr sz="1800">
              <a:latin typeface="Playfair Display Medium"/>
              <a:ea typeface="Playfair Display Medium"/>
              <a:cs typeface="Playfair Display Medium"/>
              <a:sym typeface="Playfair Display Medium"/>
            </a:endParaRPr>
          </a:p>
        </p:txBody>
      </p:sp>
      <p:sp>
        <p:nvSpPr>
          <p:cNvPr id="478" name="Google Shape;478;p6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8"/>
          <p:cNvSpPr txBox="1"/>
          <p:nvPr>
            <p:ph type="title"/>
          </p:nvPr>
        </p:nvSpPr>
        <p:spPr>
          <a:xfrm>
            <a:off x="490250" y="526350"/>
            <a:ext cx="7446300" cy="4090800"/>
          </a:xfrm>
          <a:prstGeom prst="rect">
            <a:avLst/>
          </a:prstGeom>
        </p:spPr>
        <p:txBody>
          <a:bodyPr anchorCtr="0" anchor="ctr" bIns="91425" lIns="91425" spcFirstLastPara="1" rIns="91425" wrap="square" tIns="91425">
            <a:normAutofit/>
          </a:bodyPr>
          <a:lstStyle/>
          <a:p>
            <a:pPr indent="0" lvl="0" marL="0" rtl="0" algn="l">
              <a:lnSpc>
                <a:spcPct val="115000"/>
              </a:lnSpc>
              <a:spcBef>
                <a:spcPts val="1000"/>
              </a:spcBef>
              <a:spcAft>
                <a:spcPts val="0"/>
              </a:spcAft>
              <a:buNone/>
            </a:pPr>
            <a:r>
              <a:rPr b="1" lang="en" sz="1800"/>
              <a:t>Result</a:t>
            </a:r>
            <a:r>
              <a:rPr b="1" lang="en" sz="1800"/>
              <a:t> :</a:t>
            </a:r>
            <a:endParaRPr b="1" sz="1800"/>
          </a:p>
          <a:p>
            <a:pPr indent="-342900" lvl="0" marL="457200" rtl="0" algn="l">
              <a:lnSpc>
                <a:spcPct val="115000"/>
              </a:lnSpc>
              <a:spcBef>
                <a:spcPts val="1000"/>
              </a:spcBef>
              <a:spcAft>
                <a:spcPts val="0"/>
              </a:spcAft>
              <a:buClr>
                <a:schemeClr val="lt1"/>
              </a:buClr>
              <a:buSzPts val="1800"/>
              <a:buFont typeface="Playfair Display"/>
              <a:buChar char="●"/>
            </a:pPr>
            <a:r>
              <a:rPr lang="en" sz="1800"/>
              <a:t>Overall, this project has provided a comprehensive understanding of various factors influencing movie success on IMDB. The analysis has equipped you with data-driven insights into genre trends, optimal movie durations, language impacts, directorial influence, and financial success, contributing to a deeper understanding of the movie industry dynamics.</a:t>
            </a:r>
            <a:endParaRPr sz="1800"/>
          </a:p>
          <a:p>
            <a:pPr indent="0" lvl="0" marL="0" rtl="0" algn="l">
              <a:spcBef>
                <a:spcPts val="1000"/>
              </a:spcBef>
              <a:spcAft>
                <a:spcPts val="1000"/>
              </a:spcAft>
              <a:buNone/>
            </a:pPr>
            <a:r>
              <a:t/>
            </a:r>
            <a:endParaRPr b="1" sz="1800"/>
          </a:p>
        </p:txBody>
      </p:sp>
      <p:sp>
        <p:nvSpPr>
          <p:cNvPr id="484" name="Google Shape;484;p6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9"/>
          <p:cNvSpPr txBox="1"/>
          <p:nvPr>
            <p:ph type="title"/>
          </p:nvPr>
        </p:nvSpPr>
        <p:spPr>
          <a:xfrm>
            <a:off x="344250" y="1403850"/>
            <a:ext cx="8455500" cy="2146800"/>
          </a:xfrm>
          <a:prstGeom prst="rect">
            <a:avLst/>
          </a:prstGeom>
          <a:effectLst>
            <a:outerShdw blurRad="57150" rotWithShape="0" algn="bl" dir="5400000" dist="38100">
              <a:schemeClr val="dk2">
                <a:alpha val="50000"/>
              </a:schemeClr>
            </a:outerShdw>
          </a:effectLst>
        </p:spPr>
        <p:txBody>
          <a:bodyPr anchorCtr="0" anchor="ctr" bIns="91425" lIns="91425" spcFirstLastPara="1" rIns="91425" wrap="square" tIns="91425">
            <a:normAutofit/>
          </a:bodyPr>
          <a:lstStyle/>
          <a:p>
            <a:pPr indent="0" lvl="0" marL="0" rtl="0" algn="ctr">
              <a:spcBef>
                <a:spcPts val="0"/>
              </a:spcBef>
              <a:spcAft>
                <a:spcPts val="0"/>
              </a:spcAft>
              <a:buClr>
                <a:schemeClr val="dk2"/>
              </a:buClr>
              <a:buSzPts val="1100"/>
              <a:buFont typeface="Arial"/>
              <a:buNone/>
            </a:pPr>
            <a:r>
              <a:rPr lang="en">
                <a:solidFill>
                  <a:schemeClr val="accent5"/>
                </a:solidFill>
              </a:rPr>
              <a:t>THANK YOU</a:t>
            </a:r>
            <a:endParaRPr>
              <a:solidFill>
                <a:schemeClr val="accent5"/>
              </a:solidFill>
            </a:endParaRPr>
          </a:p>
        </p:txBody>
      </p:sp>
      <p:sp>
        <p:nvSpPr>
          <p:cNvPr id="490" name="Google Shape;490;p69"/>
          <p:cNvSpPr/>
          <p:nvPr/>
        </p:nvSpPr>
        <p:spPr>
          <a:xfrm>
            <a:off x="476075" y="3906415"/>
            <a:ext cx="3346702" cy="365759"/>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accent5"/>
                </a:solidFill>
                <a:latin typeface="Arial"/>
              </a:rPr>
              <a:t>by Gayatri Palkar</a:t>
            </a:r>
          </a:p>
        </p:txBody>
      </p:sp>
      <p:sp>
        <p:nvSpPr>
          <p:cNvPr id="491" name="Google Shape;491;p6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