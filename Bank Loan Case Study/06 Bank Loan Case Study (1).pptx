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y="5143500" cx="9144000"/>
  <p:notesSz cx="6858000" cy="9144000"/>
  <p:embeddedFontLst>
    <p:embeddedFont>
      <p:font typeface="Proxima Nova"/>
      <p:regular r:id="rId58"/>
      <p:bold r:id="rId59"/>
      <p:italic r:id="rId60"/>
      <p:boldItalic r:id="rId61"/>
    </p:embeddedFont>
    <p:embeddedFont>
      <p:font typeface="Roboto Mono"/>
      <p:regular r:id="rId62"/>
      <p:bold r:id="rId63"/>
      <p:italic r:id="rId64"/>
      <p:boldItalic r:id="rId65"/>
    </p:embeddedFont>
    <p:embeddedFont>
      <p:font typeface="Alfa Slab One"/>
      <p:regular r:id="rId6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65A9D27-C40A-479F-9F86-1AB1B3105B3D}">
  <a:tblStyle styleId="{D65A9D27-C40A-479F-9F86-1AB1B3105B3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RobotoMono-regular.fntdata"/><Relationship Id="rId61" Type="http://schemas.openxmlformats.org/officeDocument/2006/relationships/font" Target="fonts/ProximaNova-boldItalic.fntdata"/><Relationship Id="rId20" Type="http://schemas.openxmlformats.org/officeDocument/2006/relationships/slide" Target="slides/slide14.xml"/><Relationship Id="rId64" Type="http://schemas.openxmlformats.org/officeDocument/2006/relationships/font" Target="fonts/RobotoMono-italic.fntdata"/><Relationship Id="rId63" Type="http://schemas.openxmlformats.org/officeDocument/2006/relationships/font" Target="fonts/RobotoMono-bold.fntdata"/><Relationship Id="rId22" Type="http://schemas.openxmlformats.org/officeDocument/2006/relationships/slide" Target="slides/slide16.xml"/><Relationship Id="rId66" Type="http://schemas.openxmlformats.org/officeDocument/2006/relationships/font" Target="fonts/AlfaSlabOne-regular.fntdata"/><Relationship Id="rId21" Type="http://schemas.openxmlformats.org/officeDocument/2006/relationships/slide" Target="slides/slide15.xml"/><Relationship Id="rId65" Type="http://schemas.openxmlformats.org/officeDocument/2006/relationships/font" Target="fonts/RobotoMono-boldItalic.fntdata"/><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ProximaNova-italic.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font" Target="fonts/ProximaNova-bold.fntdata"/><Relationship Id="rId14" Type="http://schemas.openxmlformats.org/officeDocument/2006/relationships/slide" Target="slides/slide8.xml"/><Relationship Id="rId58" Type="http://schemas.openxmlformats.org/officeDocument/2006/relationships/font" Target="fonts/ProximaNova-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2efad67935b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2efad67935b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efad67935b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2efad67935b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efad67935b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2efad67935b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efad67935b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efad67935b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efad67935b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efad67935b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efad67935b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2efad67935b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79f591415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79f591415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efad67935b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efad67935b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efad67935b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2efad67935b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f069d418a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2f069d418a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f06b087e75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f06b087e75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f06b087e75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2f06b087e75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79f5914153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79f5914153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efad67935b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efad67935b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f06b087e75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f06b087e75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f06b087e75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2f06b087e75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f06b087e75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f06b087e75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efad67935b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efad67935b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279f5914153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279f5914153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2efad67935b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2efad67935b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79f5914153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279f5914153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f06b087e75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2f06b087e75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79f5914153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279f5914153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2efad67935b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2efad67935b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2f06b087e75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2f06b087e75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2f094897860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2f094897860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2f094897860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2f094897860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2f094897860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2f094897860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2f09489786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2f09489786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2f094897860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2f094897860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2f094897860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2f094897860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2f094897860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2f094897860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2f094897860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2f09489786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2f094897860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2f094897860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2f094897860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2f094897860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2f094897860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2f094897860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279f5914153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279f5914153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279f5914153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279f5914153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2f094897860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2f094897860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2f094897860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2f094897860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2f094897860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2f094897860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2f094897860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2f094897860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2efad67935b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2efad67935b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2efad67935b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2efad67935b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2efad67935b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2efad67935b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2efad67935b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2efad67935b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2efad67935b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2efad67935b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2efad67935b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2efad67935b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279f5914153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279f5914153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279f5914153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279f5914153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4278300" y="2751163"/>
            <a:ext cx="587400" cy="0"/>
          </a:xfrm>
          <a:prstGeom prst="straightConnector1">
            <a:avLst/>
          </a:prstGeom>
          <a:noFill/>
          <a:ln cap="flat" cmpd="sng" w="76200">
            <a:solidFill>
              <a:schemeClr val="dk1"/>
            </a:solidFill>
            <a:prstDash val="solid"/>
            <a:round/>
            <a:headEnd len="sm" w="sm" type="none"/>
            <a:tailEnd len="sm" w="sm" type="none"/>
          </a:ln>
        </p:spPr>
      </p:cxnSp>
      <p:sp>
        <p:nvSpPr>
          <p:cNvPr id="11" name="Google Shape;11;p2"/>
          <p:cNvSpPr txBox="1"/>
          <p:nvPr>
            <p:ph type="ctrTitle"/>
          </p:nvPr>
        </p:nvSpPr>
        <p:spPr>
          <a:xfrm>
            <a:off x="311700" y="595975"/>
            <a:ext cx="8520600" cy="19578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2" name="Google Shape;12;p2"/>
          <p:cNvSpPr txBox="1"/>
          <p:nvPr>
            <p:ph idx="1" type="subTitle"/>
          </p:nvPr>
        </p:nvSpPr>
        <p:spPr>
          <a:xfrm>
            <a:off x="311700" y="3165823"/>
            <a:ext cx="8520600" cy="733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311700" y="2480550"/>
            <a:ext cx="8114400" cy="24459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6800"/>
              <a:buNone/>
              <a:defRPr sz="6800">
                <a:solidFill>
                  <a:schemeClr val="lt1"/>
                </a:solidFill>
              </a:defRPr>
            </a:lvl1pPr>
            <a:lvl2pPr lvl="1">
              <a:spcBef>
                <a:spcPts val="0"/>
              </a:spcBef>
              <a:spcAft>
                <a:spcPts val="0"/>
              </a:spcAft>
              <a:buClr>
                <a:schemeClr val="lt1"/>
              </a:buClr>
              <a:buSzPts val="6800"/>
              <a:buNone/>
              <a:defRPr sz="6800">
                <a:solidFill>
                  <a:schemeClr val="lt1"/>
                </a:solidFill>
              </a:defRPr>
            </a:lvl2pPr>
            <a:lvl3pPr lvl="2">
              <a:spcBef>
                <a:spcPts val="0"/>
              </a:spcBef>
              <a:spcAft>
                <a:spcPts val="0"/>
              </a:spcAft>
              <a:buClr>
                <a:schemeClr val="lt1"/>
              </a:buClr>
              <a:buSzPts val="6800"/>
              <a:buNone/>
              <a:defRPr sz="6800">
                <a:solidFill>
                  <a:schemeClr val="lt1"/>
                </a:solidFill>
              </a:defRPr>
            </a:lvl3pPr>
            <a:lvl4pPr lvl="3">
              <a:spcBef>
                <a:spcPts val="0"/>
              </a:spcBef>
              <a:spcAft>
                <a:spcPts val="0"/>
              </a:spcAft>
              <a:buClr>
                <a:schemeClr val="lt1"/>
              </a:buClr>
              <a:buSzPts val="6800"/>
              <a:buNone/>
              <a:defRPr sz="6800">
                <a:solidFill>
                  <a:schemeClr val="lt1"/>
                </a:solidFill>
              </a:defRPr>
            </a:lvl4pPr>
            <a:lvl5pPr lvl="4">
              <a:spcBef>
                <a:spcPts val="0"/>
              </a:spcBef>
              <a:spcAft>
                <a:spcPts val="0"/>
              </a:spcAft>
              <a:buClr>
                <a:schemeClr val="lt1"/>
              </a:buClr>
              <a:buSzPts val="6800"/>
              <a:buNone/>
              <a:defRPr sz="6800">
                <a:solidFill>
                  <a:schemeClr val="lt1"/>
                </a:solidFill>
              </a:defRPr>
            </a:lvl5pPr>
            <a:lvl6pPr lvl="5">
              <a:spcBef>
                <a:spcPts val="0"/>
              </a:spcBef>
              <a:spcAft>
                <a:spcPts val="0"/>
              </a:spcAft>
              <a:buClr>
                <a:schemeClr val="lt1"/>
              </a:buClr>
              <a:buSzPts val="6800"/>
              <a:buNone/>
              <a:defRPr sz="6800">
                <a:solidFill>
                  <a:schemeClr val="lt1"/>
                </a:solidFill>
              </a:defRPr>
            </a:lvl6pPr>
            <a:lvl7pPr lvl="6">
              <a:spcBef>
                <a:spcPts val="0"/>
              </a:spcBef>
              <a:spcAft>
                <a:spcPts val="0"/>
              </a:spcAft>
              <a:buClr>
                <a:schemeClr val="lt1"/>
              </a:buClr>
              <a:buSzPts val="6800"/>
              <a:buNone/>
              <a:defRPr sz="6800">
                <a:solidFill>
                  <a:schemeClr val="lt1"/>
                </a:solidFill>
              </a:defRPr>
            </a:lvl7pPr>
            <a:lvl8pPr lvl="7">
              <a:spcBef>
                <a:spcPts val="0"/>
              </a:spcBef>
              <a:spcAft>
                <a:spcPts val="0"/>
              </a:spcAft>
              <a:buClr>
                <a:schemeClr val="lt1"/>
              </a:buClr>
              <a:buSzPts val="6800"/>
              <a:buNone/>
              <a:defRPr sz="6800">
                <a:solidFill>
                  <a:schemeClr val="lt1"/>
                </a:solidFill>
              </a:defRPr>
            </a:lvl8pPr>
            <a:lvl9pPr lvl="8">
              <a:spcBef>
                <a:spcPts val="0"/>
              </a:spcBef>
              <a:spcAft>
                <a:spcPts val="0"/>
              </a:spcAft>
              <a:buClr>
                <a:schemeClr val="lt1"/>
              </a:buClr>
              <a:buSzPts val="6800"/>
              <a:buNone/>
              <a:defRPr sz="6800">
                <a:solidFill>
                  <a:schemeClr val="lt1"/>
                </a:solidFill>
              </a:defRPr>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9" name="Google Shape;19;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490875"/>
            <a:ext cx="2808000" cy="30780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90250" y="526350"/>
            <a:ext cx="56838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0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39" name="Google Shape;39;p9"/>
          <p:cNvSpPr txBox="1"/>
          <p:nvPr>
            <p:ph type="title"/>
          </p:nvPr>
        </p:nvSpPr>
        <p:spPr>
          <a:xfrm>
            <a:off x="265500" y="1375599"/>
            <a:ext cx="4045200" cy="15519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0" name="Google Shape;40;p9"/>
          <p:cNvSpPr txBox="1"/>
          <p:nvPr>
            <p:ph idx="1" type="subTitle"/>
          </p:nvPr>
        </p:nvSpPr>
        <p:spPr>
          <a:xfrm>
            <a:off x="265500" y="2981125"/>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3"/>
              </a:buClr>
              <a:buSzPts val="1800"/>
              <a:buFont typeface="Alfa Slab One"/>
              <a:buNone/>
              <a:defRPr>
                <a:solidFill>
                  <a:schemeClr val="accent3"/>
                </a:solidFill>
                <a:latin typeface="Alfa Slab One"/>
                <a:ea typeface="Alfa Slab One"/>
                <a:cs typeface="Alfa Slab One"/>
                <a:sym typeface="Alfa Slab One"/>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167925"/>
            <a:ext cx="8520600" cy="19800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11000"/>
              <a:buNone/>
              <a:defRPr sz="11000">
                <a:solidFill>
                  <a:schemeClr val="dk1"/>
                </a:solidFill>
              </a:defRPr>
            </a:lvl1pPr>
            <a:lvl2pPr lvl="1" algn="ctr">
              <a:spcBef>
                <a:spcPts val="0"/>
              </a:spcBef>
              <a:spcAft>
                <a:spcPts val="0"/>
              </a:spcAft>
              <a:buClr>
                <a:schemeClr val="dk1"/>
              </a:buClr>
              <a:buSzPts val="11000"/>
              <a:buNone/>
              <a:defRPr sz="11000">
                <a:solidFill>
                  <a:schemeClr val="dk1"/>
                </a:solidFill>
              </a:defRPr>
            </a:lvl2pPr>
            <a:lvl3pPr lvl="2" algn="ctr">
              <a:spcBef>
                <a:spcPts val="0"/>
              </a:spcBef>
              <a:spcAft>
                <a:spcPts val="0"/>
              </a:spcAft>
              <a:buClr>
                <a:schemeClr val="dk1"/>
              </a:buClr>
              <a:buSzPts val="11000"/>
              <a:buNone/>
              <a:defRPr sz="11000">
                <a:solidFill>
                  <a:schemeClr val="dk1"/>
                </a:solidFill>
              </a:defRPr>
            </a:lvl3pPr>
            <a:lvl4pPr lvl="3" algn="ctr">
              <a:spcBef>
                <a:spcPts val="0"/>
              </a:spcBef>
              <a:spcAft>
                <a:spcPts val="0"/>
              </a:spcAft>
              <a:buClr>
                <a:schemeClr val="dk1"/>
              </a:buClr>
              <a:buSzPts val="11000"/>
              <a:buNone/>
              <a:defRPr sz="11000">
                <a:solidFill>
                  <a:schemeClr val="dk1"/>
                </a:solidFill>
              </a:defRPr>
            </a:lvl4pPr>
            <a:lvl5pPr lvl="4" algn="ctr">
              <a:spcBef>
                <a:spcPts val="0"/>
              </a:spcBef>
              <a:spcAft>
                <a:spcPts val="0"/>
              </a:spcAft>
              <a:buClr>
                <a:schemeClr val="dk1"/>
              </a:buClr>
              <a:buSzPts val="11000"/>
              <a:buNone/>
              <a:defRPr sz="11000">
                <a:solidFill>
                  <a:schemeClr val="dk1"/>
                </a:solidFill>
              </a:defRPr>
            </a:lvl5pPr>
            <a:lvl6pPr lvl="5" algn="ctr">
              <a:spcBef>
                <a:spcPts val="0"/>
              </a:spcBef>
              <a:spcAft>
                <a:spcPts val="0"/>
              </a:spcAft>
              <a:buClr>
                <a:schemeClr val="dk1"/>
              </a:buClr>
              <a:buSzPts val="11000"/>
              <a:buNone/>
              <a:defRPr sz="11000">
                <a:solidFill>
                  <a:schemeClr val="dk1"/>
                </a:solidFill>
              </a:defRPr>
            </a:lvl6pPr>
            <a:lvl7pPr lvl="6" algn="ctr">
              <a:spcBef>
                <a:spcPts val="0"/>
              </a:spcBef>
              <a:spcAft>
                <a:spcPts val="0"/>
              </a:spcAft>
              <a:buClr>
                <a:schemeClr val="dk1"/>
              </a:buClr>
              <a:buSzPts val="11000"/>
              <a:buNone/>
              <a:defRPr sz="11000">
                <a:solidFill>
                  <a:schemeClr val="dk1"/>
                </a:solidFill>
              </a:defRPr>
            </a:lvl7pPr>
            <a:lvl8pPr lvl="7" algn="ctr">
              <a:spcBef>
                <a:spcPts val="0"/>
              </a:spcBef>
              <a:spcAft>
                <a:spcPts val="0"/>
              </a:spcAft>
              <a:buClr>
                <a:schemeClr val="dk1"/>
              </a:buClr>
              <a:buSzPts val="11000"/>
              <a:buNone/>
              <a:defRPr sz="11000">
                <a:solidFill>
                  <a:schemeClr val="dk1"/>
                </a:solidFill>
              </a:defRPr>
            </a:lvl8pPr>
            <a:lvl9pPr lvl="8" algn="ctr">
              <a:spcBef>
                <a:spcPts val="0"/>
              </a:spcBef>
              <a:spcAft>
                <a:spcPts val="0"/>
              </a:spcAft>
              <a:buClr>
                <a:schemeClr val="dk1"/>
              </a:buClr>
              <a:buSzPts val="11000"/>
              <a:buNone/>
              <a:defRPr sz="11000">
                <a:solidFill>
                  <a:schemeClr val="dk1"/>
                </a:solidFill>
              </a:defRPr>
            </a:lvl9pPr>
          </a:lstStyle>
          <a:p>
            <a:r>
              <a:t>xx%</a:t>
            </a:r>
          </a:p>
        </p:txBody>
      </p:sp>
      <p:sp>
        <p:nvSpPr>
          <p:cNvPr id="48" name="Google Shape;48;p11"/>
          <p:cNvSpPr txBox="1"/>
          <p:nvPr>
            <p:ph idx="1" type="body"/>
          </p:nvPr>
        </p:nvSpPr>
        <p:spPr>
          <a:xfrm>
            <a:off x="311700" y="32242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ame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1pPr>
            <a:lvl2pPr lvl="1">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2pPr>
            <a:lvl3pPr lvl="2">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3pPr>
            <a:lvl4pPr lvl="3">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4pPr>
            <a:lvl5pPr lvl="4">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5pPr>
            <a:lvl6pPr lvl="5">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6pPr>
            <a:lvl7pPr lvl="6">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7pPr>
            <a:lvl8pPr lvl="7">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8pPr>
            <a:lvl9pPr lvl="8">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Proxima Nova"/>
              <a:buChar char="●"/>
              <a:defRPr sz="1800">
                <a:solidFill>
                  <a:schemeClr val="dk2"/>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Proxima Nova"/>
                <a:ea typeface="Proxima Nova"/>
                <a:cs typeface="Proxima Nova"/>
                <a:sym typeface="Proxima Nova"/>
              </a:defRPr>
            </a:lvl1pPr>
            <a:lvl2pPr lvl="1" algn="r">
              <a:buNone/>
              <a:defRPr sz="1000">
                <a:solidFill>
                  <a:schemeClr val="dk2"/>
                </a:solidFill>
                <a:latin typeface="Proxima Nova"/>
                <a:ea typeface="Proxima Nova"/>
                <a:cs typeface="Proxima Nova"/>
                <a:sym typeface="Proxima Nova"/>
              </a:defRPr>
            </a:lvl2pPr>
            <a:lvl3pPr lvl="2" algn="r">
              <a:buNone/>
              <a:defRPr sz="1000">
                <a:solidFill>
                  <a:schemeClr val="dk2"/>
                </a:solidFill>
                <a:latin typeface="Proxima Nova"/>
                <a:ea typeface="Proxima Nova"/>
                <a:cs typeface="Proxima Nova"/>
                <a:sym typeface="Proxima Nova"/>
              </a:defRPr>
            </a:lvl3pPr>
            <a:lvl4pPr lvl="3" algn="r">
              <a:buNone/>
              <a:defRPr sz="1000">
                <a:solidFill>
                  <a:schemeClr val="dk2"/>
                </a:solidFill>
                <a:latin typeface="Proxima Nova"/>
                <a:ea typeface="Proxima Nova"/>
                <a:cs typeface="Proxima Nova"/>
                <a:sym typeface="Proxima Nova"/>
              </a:defRPr>
            </a:lvl4pPr>
            <a:lvl5pPr lvl="4" algn="r">
              <a:buNone/>
              <a:defRPr sz="1000">
                <a:solidFill>
                  <a:schemeClr val="dk2"/>
                </a:solidFill>
                <a:latin typeface="Proxima Nova"/>
                <a:ea typeface="Proxima Nova"/>
                <a:cs typeface="Proxima Nova"/>
                <a:sym typeface="Proxima Nova"/>
              </a:defRPr>
            </a:lvl5pPr>
            <a:lvl6pPr lvl="5" algn="r">
              <a:buNone/>
              <a:defRPr sz="1000">
                <a:solidFill>
                  <a:schemeClr val="dk2"/>
                </a:solidFill>
                <a:latin typeface="Proxima Nova"/>
                <a:ea typeface="Proxima Nova"/>
                <a:cs typeface="Proxima Nova"/>
                <a:sym typeface="Proxima Nova"/>
              </a:defRPr>
            </a:lvl6pPr>
            <a:lvl7pPr lvl="6" algn="r">
              <a:buNone/>
              <a:defRPr sz="1000">
                <a:solidFill>
                  <a:schemeClr val="dk2"/>
                </a:solidFill>
                <a:latin typeface="Proxima Nova"/>
                <a:ea typeface="Proxima Nova"/>
                <a:cs typeface="Proxima Nova"/>
                <a:sym typeface="Proxima Nova"/>
              </a:defRPr>
            </a:lvl7pPr>
            <a:lvl8pPr lvl="7" algn="r">
              <a:buNone/>
              <a:defRPr sz="1000">
                <a:solidFill>
                  <a:schemeClr val="dk2"/>
                </a:solidFill>
                <a:latin typeface="Proxima Nova"/>
                <a:ea typeface="Proxima Nova"/>
                <a:cs typeface="Proxima Nova"/>
                <a:sym typeface="Proxima Nova"/>
              </a:defRPr>
            </a:lvl8pPr>
            <a:lvl9pPr lvl="8" algn="r">
              <a:buNone/>
              <a:defRPr sz="1000">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9.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 Id="rId3" Type="http://schemas.openxmlformats.org/officeDocument/2006/relationships/image" Target="../media/image12.png"/><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png"/><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5.png"/><Relationship Id="rId4" Type="http://schemas.openxmlformats.org/officeDocument/2006/relationships/image" Target="../media/image3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2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3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hyperlink" Target="https://colab.research.google.com/drive/1T4tAiiMnUMS94qaUA6nI4s6j4WFMnlLS?usp=sharing" TargetMode="External"/><Relationship Id="rId4" Type="http://schemas.openxmlformats.org/officeDocument/2006/relationships/hyperlink" Target="https://drive.google.com/file/d/1XFpzR83ZUhTlvuML-enH1TvHRqauB_3Y/view?usp=sharing"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hyperlink" Target="https://www.loom.com/share/0009676da9a44de6b3236e5efc715ea8?sid=8b68a7e0-6fdb-4cdd-a40c-1289ece4a6ed"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ph type="ctrTitle"/>
          </p:nvPr>
        </p:nvSpPr>
        <p:spPr>
          <a:xfrm>
            <a:off x="311700" y="595975"/>
            <a:ext cx="8520600" cy="19578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Bank Loan Case Study</a:t>
            </a:r>
            <a:endParaRPr/>
          </a:p>
        </p:txBody>
      </p:sp>
      <p:sp>
        <p:nvSpPr>
          <p:cNvPr id="57" name="Google Shape;57;p13"/>
          <p:cNvSpPr txBox="1"/>
          <p:nvPr>
            <p:ph idx="1" type="subTitle"/>
          </p:nvPr>
        </p:nvSpPr>
        <p:spPr>
          <a:xfrm>
            <a:off x="311700" y="3165823"/>
            <a:ext cx="8520600" cy="733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By Gayatri Palkar</a:t>
            </a:r>
            <a:endParaRPr/>
          </a:p>
        </p:txBody>
      </p:sp>
      <p:sp>
        <p:nvSpPr>
          <p:cNvPr id="58" name="Google Shape;58;p13"/>
          <p:cNvSpPr txBox="1"/>
          <p:nvPr/>
        </p:nvSpPr>
        <p:spPr>
          <a:xfrm>
            <a:off x="0" y="0"/>
            <a:ext cx="3000000" cy="3387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200"/>
              </a:spcAft>
              <a:buNone/>
            </a:pPr>
            <a:r>
              <a:rPr b="1" lang="en" sz="1000">
                <a:solidFill>
                  <a:srgbClr val="3C4858"/>
                </a:solidFill>
                <a:highlight>
                  <a:srgbClr val="FFFFFF"/>
                </a:highlight>
              </a:rPr>
              <a:t>Bank Loan Case Study</a:t>
            </a:r>
            <a:endParaRPr b="1" sz="1000">
              <a:solidFill>
                <a:srgbClr val="3C4858"/>
              </a:solidFill>
              <a:highlight>
                <a:srgbClr val="FFFFFF"/>
              </a:high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ph type="title"/>
          </p:nvPr>
        </p:nvSpPr>
        <p:spPr>
          <a:xfrm>
            <a:off x="265500" y="1375599"/>
            <a:ext cx="4045200" cy="15519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Contents</a:t>
            </a:r>
            <a:endParaRPr/>
          </a:p>
        </p:txBody>
      </p:sp>
      <p:sp>
        <p:nvSpPr>
          <p:cNvPr id="64" name="Google Shape;64;p14"/>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342900" lvl="0" marL="457200" rtl="0" algn="l">
              <a:spcBef>
                <a:spcPts val="0"/>
              </a:spcBef>
              <a:spcAft>
                <a:spcPts val="0"/>
              </a:spcAft>
              <a:buSzPts val="1800"/>
              <a:buChar char="●"/>
            </a:pPr>
            <a:r>
              <a:rPr lang="en"/>
              <a:t>Project Objective</a:t>
            </a:r>
            <a:endParaRPr/>
          </a:p>
          <a:p>
            <a:pPr indent="-342900" lvl="0" marL="457200" rtl="0" algn="l">
              <a:spcBef>
                <a:spcPts val="0"/>
              </a:spcBef>
              <a:spcAft>
                <a:spcPts val="0"/>
              </a:spcAft>
              <a:buSzPts val="1800"/>
              <a:buChar char="●"/>
            </a:pPr>
            <a:r>
              <a:rPr lang="en"/>
              <a:t>Data Preprocessing</a:t>
            </a:r>
            <a:endParaRPr/>
          </a:p>
          <a:p>
            <a:pPr indent="-342900" lvl="0" marL="457200" rtl="0" algn="l">
              <a:spcBef>
                <a:spcPts val="0"/>
              </a:spcBef>
              <a:spcAft>
                <a:spcPts val="0"/>
              </a:spcAft>
              <a:buSzPts val="1800"/>
              <a:buChar char="●"/>
            </a:pPr>
            <a:r>
              <a:rPr lang="en"/>
              <a:t>Data Analytics Tasks</a:t>
            </a:r>
            <a:endParaRPr/>
          </a:p>
          <a:p>
            <a:pPr indent="-342900" lvl="0" marL="457200" rtl="0" algn="l">
              <a:spcBef>
                <a:spcPts val="0"/>
              </a:spcBef>
              <a:spcAft>
                <a:spcPts val="0"/>
              </a:spcAft>
              <a:buSzPts val="1800"/>
              <a:buChar char="●"/>
            </a:pPr>
            <a:r>
              <a:rPr lang="en"/>
              <a:t>Project Report</a:t>
            </a:r>
            <a:endParaRPr/>
          </a:p>
          <a:p>
            <a:pPr indent="-342900" lvl="0" marL="457200" rtl="0" algn="l">
              <a:spcBef>
                <a:spcPts val="0"/>
              </a:spcBef>
              <a:spcAft>
                <a:spcPts val="0"/>
              </a:spcAft>
              <a:buSzPts val="1800"/>
              <a:buChar char="●"/>
            </a:pPr>
            <a:r>
              <a:rPr lang="en"/>
              <a:t>Video Presentation Link</a:t>
            </a:r>
            <a:endParaRPr/>
          </a:p>
        </p:txBody>
      </p:sp>
      <p:sp>
        <p:nvSpPr>
          <p:cNvPr id="65" name="Google Shape;65;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311700" y="2480550"/>
            <a:ext cx="8733000" cy="24459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Project Objective</a:t>
            </a:r>
            <a:endParaRPr/>
          </a:p>
        </p:txBody>
      </p:sp>
      <p:sp>
        <p:nvSpPr>
          <p:cNvPr id="71" name="Google Shape;71;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Objectives</a:t>
            </a:r>
            <a:endParaRPr/>
          </a:p>
        </p:txBody>
      </p:sp>
      <p:sp>
        <p:nvSpPr>
          <p:cNvPr id="77" name="Google Shape;77;p16"/>
          <p:cNvSpPr txBox="1"/>
          <p:nvPr>
            <p:ph idx="1" type="body"/>
          </p:nvPr>
        </p:nvSpPr>
        <p:spPr>
          <a:xfrm>
            <a:off x="311700" y="1819225"/>
            <a:ext cx="8520600" cy="2749800"/>
          </a:xfrm>
          <a:prstGeom prst="rect">
            <a:avLst/>
          </a:prstGeom>
        </p:spPr>
        <p:txBody>
          <a:bodyPr anchorCtr="0" anchor="t" bIns="91425" lIns="91425" spcFirstLastPara="1" rIns="91425" wrap="square" tIns="91425">
            <a:normAutofit/>
          </a:bodyPr>
          <a:lstStyle/>
          <a:p>
            <a:pPr indent="-355600" lvl="0" marL="457200" rtl="0" algn="l">
              <a:lnSpc>
                <a:spcPct val="150000"/>
              </a:lnSpc>
              <a:spcBef>
                <a:spcPts val="1000"/>
              </a:spcBef>
              <a:spcAft>
                <a:spcPts val="0"/>
              </a:spcAft>
              <a:buSzPts val="2000"/>
              <a:buAutoNum type="arabicPeriod"/>
            </a:pPr>
            <a:r>
              <a:rPr b="1" lang="en" sz="2000"/>
              <a:t>Identify Patterns in Customer Attributes that Influence Loan Default</a:t>
            </a:r>
            <a:endParaRPr b="1" sz="2000"/>
          </a:p>
          <a:p>
            <a:pPr indent="-355600" lvl="0" marL="457200" rtl="0" algn="l">
              <a:lnSpc>
                <a:spcPct val="150000"/>
              </a:lnSpc>
              <a:spcBef>
                <a:spcPts val="1000"/>
              </a:spcBef>
              <a:spcAft>
                <a:spcPts val="0"/>
              </a:spcAft>
              <a:buSzPts val="2000"/>
              <a:buAutoNum type="arabicPeriod"/>
            </a:pPr>
            <a:r>
              <a:rPr b="1" lang="en" sz="2000"/>
              <a:t>Understand Loan Attributes and Their Impact on Default Likelihood</a:t>
            </a:r>
            <a:endParaRPr b="1" sz="2000"/>
          </a:p>
          <a:p>
            <a:pPr indent="-355600" lvl="0" marL="457200" rtl="0" algn="l">
              <a:lnSpc>
                <a:spcPct val="150000"/>
              </a:lnSpc>
              <a:spcBef>
                <a:spcPts val="1000"/>
              </a:spcBef>
              <a:spcAft>
                <a:spcPts val="1000"/>
              </a:spcAft>
              <a:buSzPts val="2000"/>
              <a:buAutoNum type="arabicPeriod"/>
            </a:pPr>
            <a:r>
              <a:rPr b="1" lang="en" sz="2000"/>
              <a:t>Risk Analysis to Minimize Financial Loss</a:t>
            </a:r>
            <a:endParaRPr b="1" sz="2000"/>
          </a:p>
        </p:txBody>
      </p:sp>
      <p:sp>
        <p:nvSpPr>
          <p:cNvPr id="78" name="Google Shape;78;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2480550"/>
            <a:ext cx="8733000" cy="24459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Data Preprocessing</a:t>
            </a:r>
            <a:endParaRPr/>
          </a:p>
        </p:txBody>
      </p:sp>
      <p:sp>
        <p:nvSpPr>
          <p:cNvPr id="84" name="Google Shape;84;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400050" lvl="0" marL="457200" rtl="0" algn="l">
              <a:spcBef>
                <a:spcPts val="0"/>
              </a:spcBef>
              <a:spcAft>
                <a:spcPts val="0"/>
              </a:spcAft>
              <a:buSzPct val="100000"/>
              <a:buAutoNum type="arabicPeriod"/>
            </a:pPr>
            <a:r>
              <a:rPr lang="en"/>
              <a:t>Understanding the data</a:t>
            </a:r>
            <a:endParaRPr/>
          </a:p>
        </p:txBody>
      </p:sp>
      <p:sp>
        <p:nvSpPr>
          <p:cNvPr id="90" name="Google Shape;90;p18"/>
          <p:cNvSpPr txBox="1"/>
          <p:nvPr>
            <p:ph idx="1" type="body"/>
          </p:nvPr>
        </p:nvSpPr>
        <p:spPr>
          <a:xfrm>
            <a:off x="311700" y="1429100"/>
            <a:ext cx="8520600" cy="3139800"/>
          </a:xfrm>
          <a:prstGeom prst="rect">
            <a:avLst/>
          </a:prstGeom>
        </p:spPr>
        <p:txBody>
          <a:bodyPr anchorCtr="0" anchor="t" bIns="91425" lIns="91425" spcFirstLastPara="1" rIns="91425" wrap="square" tIns="91425">
            <a:normAutofit/>
          </a:bodyPr>
          <a:lstStyle/>
          <a:p>
            <a:pPr indent="-330200" lvl="0" marL="457200" rtl="0" algn="l">
              <a:lnSpc>
                <a:spcPct val="100000"/>
              </a:lnSpc>
              <a:spcBef>
                <a:spcPts val="1200"/>
              </a:spcBef>
              <a:spcAft>
                <a:spcPts val="0"/>
              </a:spcAft>
              <a:buClr>
                <a:schemeClr val="dk2"/>
              </a:buClr>
              <a:buSzPts val="1600"/>
              <a:buFont typeface="Proxima Nova"/>
              <a:buChar char="●"/>
            </a:pPr>
            <a:r>
              <a:rPr lang="en" sz="1600"/>
              <a:t>We have three files - </a:t>
            </a:r>
            <a:endParaRPr sz="1600"/>
          </a:p>
          <a:p>
            <a:pPr indent="0" lvl="0" marL="0" rtl="0" algn="l">
              <a:lnSpc>
                <a:spcPct val="100000"/>
              </a:lnSpc>
              <a:spcBef>
                <a:spcPts val="1200"/>
              </a:spcBef>
              <a:spcAft>
                <a:spcPts val="0"/>
              </a:spcAft>
              <a:buNone/>
            </a:pPr>
            <a:r>
              <a:rPr b="1" lang="en" sz="1500"/>
              <a:t>application_data.csv</a:t>
            </a:r>
            <a:r>
              <a:rPr lang="en" sz="1500"/>
              <a:t>: Contains information about loan applicants</a:t>
            </a:r>
            <a:endParaRPr sz="1500"/>
          </a:p>
          <a:p>
            <a:pPr indent="0" lvl="0" marL="0" rtl="0" algn="l">
              <a:lnSpc>
                <a:spcPct val="100000"/>
              </a:lnSpc>
              <a:spcBef>
                <a:spcPts val="1200"/>
              </a:spcBef>
              <a:spcAft>
                <a:spcPts val="0"/>
              </a:spcAft>
              <a:buNone/>
            </a:pPr>
            <a:r>
              <a:rPr b="1" lang="en" sz="1500"/>
              <a:t>previous_application.csv</a:t>
            </a:r>
            <a:r>
              <a:rPr lang="en" sz="1500"/>
              <a:t>: Contains information about applicants previous loan applications</a:t>
            </a:r>
            <a:endParaRPr sz="1500"/>
          </a:p>
          <a:p>
            <a:pPr indent="0" lvl="0" marL="0" rtl="0" algn="l">
              <a:lnSpc>
                <a:spcPct val="100000"/>
              </a:lnSpc>
              <a:spcBef>
                <a:spcPts val="1200"/>
              </a:spcBef>
              <a:spcAft>
                <a:spcPts val="0"/>
              </a:spcAft>
              <a:buNone/>
            </a:pPr>
            <a:r>
              <a:rPr b="1" lang="en" sz="1500"/>
              <a:t>columns_description.csv</a:t>
            </a:r>
            <a:r>
              <a:rPr lang="en" sz="1500"/>
              <a:t>: Provides descriptions of the columns in the above two files</a:t>
            </a:r>
            <a:endParaRPr sz="1500"/>
          </a:p>
          <a:p>
            <a:pPr indent="0" lvl="0" marL="0" rtl="0" algn="l">
              <a:lnSpc>
                <a:spcPct val="100000"/>
              </a:lnSpc>
              <a:spcBef>
                <a:spcPts val="1200"/>
              </a:spcBef>
              <a:spcAft>
                <a:spcPts val="0"/>
              </a:spcAft>
              <a:buNone/>
            </a:pPr>
            <a:r>
              <a:t/>
            </a:r>
            <a:endParaRPr sz="1500"/>
          </a:p>
          <a:p>
            <a:pPr indent="-330200" lvl="0" marL="457200" rtl="0" algn="l">
              <a:lnSpc>
                <a:spcPct val="100000"/>
              </a:lnSpc>
              <a:spcBef>
                <a:spcPts val="1200"/>
              </a:spcBef>
              <a:spcAft>
                <a:spcPts val="0"/>
              </a:spcAft>
              <a:buSzPts val="1600"/>
              <a:buChar char="●"/>
            </a:pPr>
            <a:r>
              <a:rPr lang="en" sz="1600"/>
              <a:t>We will use the datasets to understand the factors that influence whether a loan applicant will have difficulties in repaying the loan.</a:t>
            </a:r>
            <a:endParaRPr sz="1600"/>
          </a:p>
        </p:txBody>
      </p:sp>
      <p:sp>
        <p:nvSpPr>
          <p:cNvPr id="91" name="Google Shape;91;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311700" y="2480550"/>
            <a:ext cx="8733000" cy="24459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Data Analytics Tasks</a:t>
            </a:r>
            <a:endParaRPr/>
          </a:p>
        </p:txBody>
      </p:sp>
      <p:sp>
        <p:nvSpPr>
          <p:cNvPr id="97" name="Google Shape;97;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265500" y="1375599"/>
            <a:ext cx="4045200" cy="15519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Data Analytics Tasks</a:t>
            </a:r>
            <a:endParaRPr/>
          </a:p>
        </p:txBody>
      </p:sp>
      <p:sp>
        <p:nvSpPr>
          <p:cNvPr id="103" name="Google Shape;103;p20"/>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323850" lvl="0" marL="457200" rtl="0" algn="l">
              <a:spcBef>
                <a:spcPts val="1000"/>
              </a:spcBef>
              <a:spcAft>
                <a:spcPts val="0"/>
              </a:spcAft>
              <a:buSzPts val="1500"/>
              <a:buAutoNum type="arabicPeriod"/>
            </a:pPr>
            <a:r>
              <a:rPr b="1" lang="en" sz="1500"/>
              <a:t>Identify Missing Data and Deal with it Appropriately</a:t>
            </a:r>
            <a:endParaRPr b="1" sz="1500"/>
          </a:p>
          <a:p>
            <a:pPr indent="-323850" lvl="0" marL="457200" rtl="0" algn="l">
              <a:spcBef>
                <a:spcPts val="1200"/>
              </a:spcBef>
              <a:spcAft>
                <a:spcPts val="0"/>
              </a:spcAft>
              <a:buSzPts val="1500"/>
              <a:buAutoNum type="arabicPeriod"/>
            </a:pPr>
            <a:r>
              <a:rPr b="1" lang="en" sz="1500"/>
              <a:t>Identify Outliers in the Dataset:</a:t>
            </a:r>
            <a:endParaRPr b="1" sz="1500"/>
          </a:p>
          <a:p>
            <a:pPr indent="-323850" lvl="0" marL="457200" rtl="0" algn="l">
              <a:spcBef>
                <a:spcPts val="1000"/>
              </a:spcBef>
              <a:spcAft>
                <a:spcPts val="0"/>
              </a:spcAft>
              <a:buSzPts val="1500"/>
              <a:buAutoNum type="arabicPeriod"/>
            </a:pPr>
            <a:r>
              <a:rPr b="1" lang="en" sz="1500"/>
              <a:t>Analyze Data Imbalance</a:t>
            </a:r>
            <a:endParaRPr b="1" sz="1500"/>
          </a:p>
          <a:p>
            <a:pPr indent="-323850" lvl="0" marL="457200" rtl="0" algn="l">
              <a:spcBef>
                <a:spcPts val="1000"/>
              </a:spcBef>
              <a:spcAft>
                <a:spcPts val="0"/>
              </a:spcAft>
              <a:buSzPts val="1500"/>
              <a:buAutoNum type="arabicPeriod"/>
            </a:pPr>
            <a:r>
              <a:rPr b="1" lang="en" sz="1500"/>
              <a:t>Perform Univariate, Segmented Univariate, and Bivariate Analysis</a:t>
            </a:r>
            <a:endParaRPr b="1" sz="1500"/>
          </a:p>
          <a:p>
            <a:pPr indent="-323850" lvl="0" marL="457200" rtl="0" algn="l">
              <a:spcBef>
                <a:spcPts val="1000"/>
              </a:spcBef>
              <a:spcAft>
                <a:spcPts val="1200"/>
              </a:spcAft>
              <a:buSzPts val="1500"/>
              <a:buAutoNum type="arabicPeriod"/>
            </a:pPr>
            <a:r>
              <a:rPr b="1" lang="en" sz="1500"/>
              <a:t>Identify Top Correlations for Different Scenarios</a:t>
            </a:r>
            <a:endParaRPr b="1" sz="1500"/>
          </a:p>
        </p:txBody>
      </p:sp>
      <p:sp>
        <p:nvSpPr>
          <p:cNvPr id="104" name="Google Shape;104;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490250" y="526350"/>
            <a:ext cx="813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Task 1 </a:t>
            </a:r>
            <a:endParaRPr/>
          </a:p>
          <a:p>
            <a:pPr indent="0" lvl="0" marL="0" rtl="0" algn="l">
              <a:spcBef>
                <a:spcPts val="0"/>
              </a:spcBef>
              <a:spcAft>
                <a:spcPts val="0"/>
              </a:spcAft>
              <a:buNone/>
            </a:pPr>
            <a:r>
              <a:rPr lang="en" sz="3000"/>
              <a:t>Identify and Handle Missing Data</a:t>
            </a:r>
            <a:r>
              <a:rPr lang="en"/>
              <a:t> </a:t>
            </a:r>
            <a:endParaRPr/>
          </a:p>
        </p:txBody>
      </p:sp>
      <p:sp>
        <p:nvSpPr>
          <p:cNvPr id="110" name="Google Shape;110;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400050" lvl="0" marL="457200" rtl="0" algn="l">
              <a:spcBef>
                <a:spcPts val="0"/>
              </a:spcBef>
              <a:spcAft>
                <a:spcPts val="0"/>
              </a:spcAft>
              <a:buSzPct val="100000"/>
              <a:buAutoNum type="arabicPeriod"/>
            </a:pPr>
            <a:r>
              <a:rPr lang="en"/>
              <a:t>Identify and Handle Missing Data</a:t>
            </a:r>
            <a:endParaRPr/>
          </a:p>
        </p:txBody>
      </p:sp>
      <p:sp>
        <p:nvSpPr>
          <p:cNvPr id="116" name="Google Shape;116;p22"/>
          <p:cNvSpPr txBox="1"/>
          <p:nvPr>
            <p:ph idx="1" type="body"/>
          </p:nvPr>
        </p:nvSpPr>
        <p:spPr>
          <a:xfrm>
            <a:off x="311700" y="1152475"/>
            <a:ext cx="5181000" cy="3416400"/>
          </a:xfrm>
          <a:prstGeom prst="rect">
            <a:avLst/>
          </a:prstGeom>
        </p:spPr>
        <p:txBody>
          <a:bodyPr anchorCtr="0" anchor="t" bIns="91425" lIns="91425" spcFirstLastPara="1" rIns="91425" wrap="square" tIns="91425">
            <a:normAutofit lnSpcReduction="10000"/>
          </a:bodyPr>
          <a:lstStyle/>
          <a:p>
            <a:pPr indent="-330200" lvl="0" marL="457200" rtl="0" algn="l">
              <a:spcBef>
                <a:spcPts val="0"/>
              </a:spcBef>
              <a:spcAft>
                <a:spcPts val="0"/>
              </a:spcAft>
              <a:buSzPts val="1600"/>
              <a:buChar char="●"/>
            </a:pPr>
            <a:r>
              <a:rPr b="1" lang="en" sz="1600"/>
              <a:t>Identify Columns with High Missing Rates</a:t>
            </a:r>
            <a:r>
              <a:rPr lang="en" sz="1600"/>
              <a:t> - Columns with a high proportion of missing values might need further investigation to determine if they should be excluded or if there is a pattern in the missingness</a:t>
            </a:r>
            <a:endParaRPr sz="1600"/>
          </a:p>
          <a:p>
            <a:pPr indent="-330200" lvl="0" marL="457200" rtl="0" algn="l">
              <a:spcBef>
                <a:spcPts val="0"/>
              </a:spcBef>
              <a:spcAft>
                <a:spcPts val="0"/>
              </a:spcAft>
              <a:buSzPts val="1600"/>
              <a:buChar char="●"/>
            </a:pPr>
            <a:r>
              <a:rPr b="1" lang="en" sz="1600"/>
              <a:t>Imputation Choice</a:t>
            </a:r>
            <a:r>
              <a:rPr lang="en" sz="1600"/>
              <a:t> - The method of imputation (mean, median, mode) should be chosen based on the data type and the nature of the missing values. </a:t>
            </a:r>
            <a:endParaRPr sz="1600"/>
          </a:p>
          <a:p>
            <a:pPr indent="-330200" lvl="0" marL="457200" rtl="0" algn="l">
              <a:spcBef>
                <a:spcPts val="0"/>
              </a:spcBef>
              <a:spcAft>
                <a:spcPts val="0"/>
              </a:spcAft>
              <a:buSzPts val="1600"/>
              <a:buChar char="●"/>
            </a:pPr>
            <a:r>
              <a:rPr lang="en" sz="1600"/>
              <a:t>For instance, average or median is suitable for numerical data, while mode is better for categorical data. We can also use Forward or Backward fill for Categorical imputation</a:t>
            </a:r>
            <a:endParaRPr sz="1600"/>
          </a:p>
        </p:txBody>
      </p:sp>
      <p:sp>
        <p:nvSpPr>
          <p:cNvPr id="117" name="Google Shape;117;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400050" lvl="0" marL="457200" rtl="0" algn="l">
              <a:spcBef>
                <a:spcPts val="0"/>
              </a:spcBef>
              <a:spcAft>
                <a:spcPts val="0"/>
              </a:spcAft>
              <a:buSzPct val="100000"/>
              <a:buAutoNum type="arabicPeriod"/>
            </a:pPr>
            <a:r>
              <a:rPr lang="en"/>
              <a:t>Identify and Handle Missing Data</a:t>
            </a:r>
            <a:endParaRPr/>
          </a:p>
        </p:txBody>
      </p:sp>
      <p:sp>
        <p:nvSpPr>
          <p:cNvPr id="123" name="Google Shape;123;p23"/>
          <p:cNvSpPr txBox="1"/>
          <p:nvPr>
            <p:ph idx="1" type="body"/>
          </p:nvPr>
        </p:nvSpPr>
        <p:spPr>
          <a:xfrm>
            <a:off x="311700" y="1152475"/>
            <a:ext cx="7870800" cy="19398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b="1" lang="en" sz="1600"/>
              <a:t>Steps to get to solution</a:t>
            </a:r>
            <a:r>
              <a:rPr lang="en" sz="1600"/>
              <a:t> - </a:t>
            </a:r>
            <a:endParaRPr sz="1600"/>
          </a:p>
          <a:p>
            <a:pPr indent="-330200" lvl="0" marL="457200" rtl="0" algn="l">
              <a:spcBef>
                <a:spcPts val="0"/>
              </a:spcBef>
              <a:spcAft>
                <a:spcPts val="0"/>
              </a:spcAft>
              <a:buSzPts val="1600"/>
              <a:buAutoNum type="arabicPeriod"/>
            </a:pPr>
            <a:r>
              <a:rPr lang="en" sz="1600"/>
              <a:t>Identify Missing rows in a column </a:t>
            </a:r>
            <a:r>
              <a:rPr b="1" lang="en" sz="1400"/>
              <a:t>=COUNTBLANK($A$2:$A$50000)</a:t>
            </a:r>
            <a:r>
              <a:rPr b="1" lang="en" sz="1600"/>
              <a:t> </a:t>
            </a:r>
            <a:endParaRPr sz="1600"/>
          </a:p>
          <a:p>
            <a:pPr indent="-330200" lvl="0" marL="457200" rtl="0" algn="l">
              <a:spcBef>
                <a:spcPts val="0"/>
              </a:spcBef>
              <a:spcAft>
                <a:spcPts val="0"/>
              </a:spcAft>
              <a:buSzPts val="1600"/>
              <a:buAutoNum type="arabicPeriod"/>
            </a:pPr>
            <a:r>
              <a:rPr lang="en" sz="1600"/>
              <a:t>Remove the columns having more that 50% null values</a:t>
            </a:r>
            <a:endParaRPr sz="1600"/>
          </a:p>
          <a:p>
            <a:pPr indent="-330200" lvl="0" marL="457200" rtl="0" algn="l">
              <a:spcBef>
                <a:spcPts val="0"/>
              </a:spcBef>
              <a:spcAft>
                <a:spcPts val="0"/>
              </a:spcAft>
              <a:buSzPts val="1600"/>
              <a:buAutoNum type="arabicPeriod"/>
            </a:pPr>
            <a:r>
              <a:rPr lang="en" sz="1600"/>
              <a:t>Determine columns having categorical values, Find the blanks of all the categorical data columns for eg column </a:t>
            </a:r>
            <a:r>
              <a:rPr b="1" lang="en" sz="1400" u="sng">
                <a:solidFill>
                  <a:schemeClr val="dk1"/>
                </a:solidFill>
              </a:rPr>
              <a:t>NAME_TYPE_SUITE </a:t>
            </a:r>
            <a:r>
              <a:rPr lang="en" sz="1600"/>
              <a:t>and fill the missing values in it using Mode of the column using formula </a:t>
            </a:r>
            <a:r>
              <a:rPr b="1" lang="en" sz="1400"/>
              <a:t>=MODE(E:E)</a:t>
            </a:r>
            <a:endParaRPr b="1" sz="1400"/>
          </a:p>
        </p:txBody>
      </p:sp>
      <p:pic>
        <p:nvPicPr>
          <p:cNvPr id="124" name="Google Shape;124;p23"/>
          <p:cNvPicPr preferRelativeResize="0"/>
          <p:nvPr/>
        </p:nvPicPr>
        <p:blipFill>
          <a:blip r:embed="rId3">
            <a:alphaModFix/>
          </a:blip>
          <a:stretch>
            <a:fillRect/>
          </a:stretch>
        </p:blipFill>
        <p:spPr>
          <a:xfrm>
            <a:off x="1019175" y="2929963"/>
            <a:ext cx="7105650" cy="2162175"/>
          </a:xfrm>
          <a:prstGeom prst="rect">
            <a:avLst/>
          </a:prstGeom>
          <a:noFill/>
          <a:ln>
            <a:noFill/>
          </a:ln>
        </p:spPr>
      </p:pic>
      <p:sp>
        <p:nvSpPr>
          <p:cNvPr id="125" name="Google Shape;125;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400050" lvl="0" marL="457200" rtl="0" algn="l">
              <a:spcBef>
                <a:spcPts val="0"/>
              </a:spcBef>
              <a:spcAft>
                <a:spcPts val="0"/>
              </a:spcAft>
              <a:buSzPct val="100000"/>
              <a:buAutoNum type="arabicPeriod"/>
            </a:pPr>
            <a:r>
              <a:rPr lang="en"/>
              <a:t>Identify and Handle Missing Data</a:t>
            </a:r>
            <a:endParaRPr/>
          </a:p>
        </p:txBody>
      </p:sp>
      <p:sp>
        <p:nvSpPr>
          <p:cNvPr id="131" name="Google Shape;131;p24"/>
          <p:cNvSpPr txBox="1"/>
          <p:nvPr>
            <p:ph idx="1" type="body"/>
          </p:nvPr>
        </p:nvSpPr>
        <p:spPr>
          <a:xfrm>
            <a:off x="311700" y="1152475"/>
            <a:ext cx="7870800" cy="19398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b="1" lang="en" sz="1600"/>
              <a:t>Steps to get to solution</a:t>
            </a:r>
            <a:r>
              <a:rPr lang="en" sz="1600"/>
              <a:t> </a:t>
            </a:r>
            <a:r>
              <a:rPr b="1" lang="en" sz="1600"/>
              <a:t>continued</a:t>
            </a:r>
            <a:r>
              <a:rPr lang="en" sz="1600"/>
              <a:t>- </a:t>
            </a:r>
            <a:endParaRPr sz="1600"/>
          </a:p>
          <a:p>
            <a:pPr indent="-330200" lvl="0" marL="457200" rtl="0" algn="l">
              <a:spcBef>
                <a:spcPts val="0"/>
              </a:spcBef>
              <a:spcAft>
                <a:spcPts val="0"/>
              </a:spcAft>
              <a:buSzPts val="1600"/>
              <a:buAutoNum type="arabicPeriod"/>
            </a:pPr>
            <a:r>
              <a:rPr lang="en" sz="1600"/>
              <a:t>Identify Missing values in numerical data and fill them with the Median of that column, using formula </a:t>
            </a:r>
            <a:r>
              <a:rPr b="1" lang="en" sz="1400"/>
              <a:t>=MEDIAN(G2:G50000)</a:t>
            </a:r>
            <a:endParaRPr b="1" sz="1400"/>
          </a:p>
          <a:p>
            <a:pPr indent="-330200" lvl="0" marL="457200" rtl="0" algn="l">
              <a:spcBef>
                <a:spcPts val="0"/>
              </a:spcBef>
              <a:spcAft>
                <a:spcPts val="0"/>
              </a:spcAft>
              <a:buSzPts val="1600"/>
              <a:buAutoNum type="arabicPeriod"/>
            </a:pPr>
            <a:r>
              <a:rPr lang="en" sz="1600"/>
              <a:t>Used python for this, attached is the code:</a:t>
            </a:r>
            <a:endParaRPr sz="1600"/>
          </a:p>
        </p:txBody>
      </p:sp>
      <p:pic>
        <p:nvPicPr>
          <p:cNvPr id="132" name="Google Shape;132;p24"/>
          <p:cNvPicPr preferRelativeResize="0"/>
          <p:nvPr/>
        </p:nvPicPr>
        <p:blipFill>
          <a:blip r:embed="rId3">
            <a:alphaModFix/>
          </a:blip>
          <a:stretch>
            <a:fillRect/>
          </a:stretch>
        </p:blipFill>
        <p:spPr>
          <a:xfrm>
            <a:off x="870138" y="2474700"/>
            <a:ext cx="7403724" cy="2475325"/>
          </a:xfrm>
          <a:prstGeom prst="rect">
            <a:avLst/>
          </a:prstGeom>
          <a:noFill/>
          <a:ln>
            <a:noFill/>
          </a:ln>
        </p:spPr>
      </p:pic>
      <p:sp>
        <p:nvSpPr>
          <p:cNvPr id="133" name="Google Shape;133;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400050" lvl="0" marL="457200" rtl="0" algn="l">
              <a:spcBef>
                <a:spcPts val="0"/>
              </a:spcBef>
              <a:spcAft>
                <a:spcPts val="0"/>
              </a:spcAft>
              <a:buSzPct val="100000"/>
              <a:buAutoNum type="arabicPeriod"/>
            </a:pPr>
            <a:r>
              <a:rPr lang="en"/>
              <a:t>Identify and Handle Missing Data</a:t>
            </a:r>
            <a:endParaRPr/>
          </a:p>
        </p:txBody>
      </p:sp>
      <p:sp>
        <p:nvSpPr>
          <p:cNvPr id="139" name="Google Shape;139;p25"/>
          <p:cNvSpPr txBox="1"/>
          <p:nvPr>
            <p:ph idx="1" type="body"/>
          </p:nvPr>
        </p:nvSpPr>
        <p:spPr>
          <a:xfrm>
            <a:off x="311700" y="1152475"/>
            <a:ext cx="3743400" cy="38391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b="1" lang="en" sz="1600"/>
              <a:t>Steps to get to solution</a:t>
            </a:r>
            <a:r>
              <a:rPr lang="en" sz="1600"/>
              <a:t> </a:t>
            </a:r>
            <a:r>
              <a:rPr b="1" lang="en" sz="1600"/>
              <a:t>continued</a:t>
            </a:r>
            <a:r>
              <a:rPr lang="en" sz="1600"/>
              <a:t>- </a:t>
            </a:r>
            <a:endParaRPr sz="1600"/>
          </a:p>
          <a:p>
            <a:pPr indent="-330200" lvl="0" marL="457200" rtl="0" algn="l">
              <a:spcBef>
                <a:spcPts val="0"/>
              </a:spcBef>
              <a:spcAft>
                <a:spcPts val="0"/>
              </a:spcAft>
              <a:buClr>
                <a:schemeClr val="dk2"/>
              </a:buClr>
              <a:buSzPts val="1600"/>
              <a:buFont typeface="Proxima Nova"/>
              <a:buChar char="●"/>
            </a:pPr>
            <a:r>
              <a:rPr lang="en" sz="1600"/>
              <a:t>For columns having more than 50% nan or missing values,  I decided to remove the columns completely</a:t>
            </a:r>
            <a:endParaRPr sz="1600"/>
          </a:p>
          <a:p>
            <a:pPr indent="-330200" lvl="0" marL="457200" rtl="0" algn="l">
              <a:spcBef>
                <a:spcPts val="0"/>
              </a:spcBef>
              <a:spcAft>
                <a:spcPts val="0"/>
              </a:spcAft>
              <a:buClr>
                <a:schemeClr val="dk2"/>
              </a:buClr>
              <a:buSzPts val="1600"/>
              <a:buFont typeface="Proxima Nova"/>
              <a:buChar char="●"/>
            </a:pPr>
            <a:r>
              <a:rPr lang="en" sz="1600"/>
              <a:t>For the </a:t>
            </a:r>
            <a:r>
              <a:rPr b="1" lang="en" sz="1400" u="sng">
                <a:solidFill>
                  <a:schemeClr val="dk1"/>
                </a:solidFill>
              </a:rPr>
              <a:t>OCCUPATION_TYPE </a:t>
            </a:r>
            <a:r>
              <a:rPr lang="en" sz="1600"/>
              <a:t>column, I decided to rename the Blank columns as “Unknown” </a:t>
            </a:r>
            <a:endParaRPr sz="1600"/>
          </a:p>
          <a:p>
            <a:pPr indent="-330200" lvl="0" marL="457200" rtl="0" algn="l">
              <a:spcBef>
                <a:spcPts val="0"/>
              </a:spcBef>
              <a:spcAft>
                <a:spcPts val="0"/>
              </a:spcAft>
              <a:buClr>
                <a:schemeClr val="dk2"/>
              </a:buClr>
              <a:buSzPts val="1600"/>
              <a:buFont typeface="Proxima Nova"/>
              <a:buChar char="●"/>
            </a:pPr>
            <a:r>
              <a:rPr lang="en" sz="1600"/>
              <a:t>For the numerical columns, I decided to take the </a:t>
            </a:r>
            <a:r>
              <a:rPr b="1" lang="en" sz="1600"/>
              <a:t>median </a:t>
            </a:r>
            <a:r>
              <a:rPr lang="en" sz="1600"/>
              <a:t>of the columns as it won’t be affected by any outliers, unlike </a:t>
            </a:r>
            <a:r>
              <a:rPr b="1" lang="en" sz="1600"/>
              <a:t>mean </a:t>
            </a:r>
            <a:r>
              <a:rPr lang="en" sz="1600"/>
              <a:t>of data</a:t>
            </a:r>
            <a:endParaRPr sz="1600"/>
          </a:p>
        </p:txBody>
      </p:sp>
      <p:pic>
        <p:nvPicPr>
          <p:cNvPr id="140" name="Google Shape;140;p25"/>
          <p:cNvPicPr preferRelativeResize="0"/>
          <p:nvPr/>
        </p:nvPicPr>
        <p:blipFill>
          <a:blip r:embed="rId3">
            <a:alphaModFix/>
          </a:blip>
          <a:stretch>
            <a:fillRect/>
          </a:stretch>
        </p:blipFill>
        <p:spPr>
          <a:xfrm>
            <a:off x="4210375" y="1502250"/>
            <a:ext cx="4816576" cy="2904125"/>
          </a:xfrm>
          <a:prstGeom prst="rect">
            <a:avLst/>
          </a:prstGeom>
          <a:noFill/>
          <a:ln>
            <a:noFill/>
          </a:ln>
        </p:spPr>
      </p:pic>
      <p:sp>
        <p:nvSpPr>
          <p:cNvPr id="141" name="Google Shape;141;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6"/>
          <p:cNvSpPr txBox="1"/>
          <p:nvPr>
            <p:ph type="title"/>
          </p:nvPr>
        </p:nvSpPr>
        <p:spPr>
          <a:xfrm>
            <a:off x="490250" y="526350"/>
            <a:ext cx="813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Task 2 </a:t>
            </a:r>
            <a:endParaRPr/>
          </a:p>
          <a:p>
            <a:pPr indent="0" lvl="0" marL="0" rtl="0" algn="l">
              <a:spcBef>
                <a:spcPts val="0"/>
              </a:spcBef>
              <a:spcAft>
                <a:spcPts val="0"/>
              </a:spcAft>
              <a:buNone/>
            </a:pPr>
            <a:r>
              <a:rPr lang="en" sz="3000"/>
              <a:t>Identify Outliers in the Data</a:t>
            </a:r>
            <a:endParaRPr/>
          </a:p>
        </p:txBody>
      </p:sp>
      <p:sp>
        <p:nvSpPr>
          <p:cNvPr id="147" name="Google Shape;147;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2.  Identify Outliers in the Data</a:t>
            </a:r>
            <a:endParaRPr/>
          </a:p>
        </p:txBody>
      </p:sp>
      <p:sp>
        <p:nvSpPr>
          <p:cNvPr id="153" name="Google Shape;153;p27"/>
          <p:cNvSpPr txBox="1"/>
          <p:nvPr>
            <p:ph idx="1" type="body"/>
          </p:nvPr>
        </p:nvSpPr>
        <p:spPr>
          <a:xfrm>
            <a:off x="311700" y="1152475"/>
            <a:ext cx="3784500" cy="34164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Clr>
                <a:schemeClr val="dk2"/>
              </a:buClr>
              <a:buSzPts val="1600"/>
              <a:buFont typeface="Proxima Nova"/>
              <a:buChar char="●"/>
            </a:pPr>
            <a:r>
              <a:rPr b="1" lang="en" sz="1600"/>
              <a:t>Outliers</a:t>
            </a:r>
            <a:r>
              <a:rPr lang="en" sz="1600"/>
              <a:t> are extreme values that deviate significantly from the rest of the data. They can indicate variability in the dataset, potential errors, or significant events.</a:t>
            </a:r>
            <a:endParaRPr sz="1600"/>
          </a:p>
          <a:p>
            <a:pPr indent="-330200" lvl="0" marL="457200" rtl="0" algn="l">
              <a:spcBef>
                <a:spcPts val="0"/>
              </a:spcBef>
              <a:spcAft>
                <a:spcPts val="0"/>
              </a:spcAft>
              <a:buClr>
                <a:schemeClr val="dk2"/>
              </a:buClr>
              <a:buSzPts val="1600"/>
              <a:buFont typeface="Proxima Nova"/>
              <a:buChar char="●"/>
            </a:pPr>
            <a:r>
              <a:rPr lang="en" sz="1600"/>
              <a:t>T</a:t>
            </a:r>
            <a:r>
              <a:rPr lang="en" sz="1600"/>
              <a:t>o detect outliers, we will have to plot a box plot.</a:t>
            </a:r>
            <a:endParaRPr sz="1600"/>
          </a:p>
          <a:p>
            <a:pPr indent="-330200" lvl="0" marL="457200" rtl="0" algn="l">
              <a:spcBef>
                <a:spcPts val="0"/>
              </a:spcBef>
              <a:spcAft>
                <a:spcPts val="0"/>
              </a:spcAft>
              <a:buClr>
                <a:schemeClr val="dk2"/>
              </a:buClr>
              <a:buSzPts val="1600"/>
              <a:buFont typeface="Nunito"/>
              <a:buChar char="●"/>
            </a:pPr>
            <a:r>
              <a:rPr lang="en" sz="1600"/>
              <a:t>Since I don't have “</a:t>
            </a:r>
            <a:r>
              <a:rPr b="1" lang="en" sz="1600"/>
              <a:t>Boxes and Whiskers</a:t>
            </a:r>
            <a:r>
              <a:rPr lang="en" sz="1600"/>
              <a:t>” feature in my WPS office, I decided to plot a boxplot using Python</a:t>
            </a:r>
            <a:endParaRPr sz="1600"/>
          </a:p>
          <a:p>
            <a:pPr indent="0" lvl="0" marL="0" rtl="0" algn="l">
              <a:spcBef>
                <a:spcPts val="1200"/>
              </a:spcBef>
              <a:spcAft>
                <a:spcPts val="0"/>
              </a:spcAft>
              <a:buNone/>
            </a:pPr>
            <a:r>
              <a:t/>
            </a:r>
            <a:endParaRPr sz="1600"/>
          </a:p>
          <a:p>
            <a:pPr indent="0" lvl="0" marL="0" rtl="0" algn="l">
              <a:spcBef>
                <a:spcPts val="1200"/>
              </a:spcBef>
              <a:spcAft>
                <a:spcPts val="1200"/>
              </a:spcAft>
              <a:buNone/>
            </a:pPr>
            <a:r>
              <a:t/>
            </a:r>
            <a:endParaRPr sz="1600"/>
          </a:p>
        </p:txBody>
      </p:sp>
      <p:pic>
        <p:nvPicPr>
          <p:cNvPr id="154" name="Google Shape;154;p27"/>
          <p:cNvPicPr preferRelativeResize="0"/>
          <p:nvPr/>
        </p:nvPicPr>
        <p:blipFill>
          <a:blip r:embed="rId3">
            <a:alphaModFix/>
          </a:blip>
          <a:stretch>
            <a:fillRect/>
          </a:stretch>
        </p:blipFill>
        <p:spPr>
          <a:xfrm>
            <a:off x="4392325" y="950188"/>
            <a:ext cx="4098067" cy="3820974"/>
          </a:xfrm>
          <a:prstGeom prst="rect">
            <a:avLst/>
          </a:prstGeom>
          <a:noFill/>
          <a:ln>
            <a:noFill/>
          </a:ln>
        </p:spPr>
      </p:pic>
      <p:sp>
        <p:nvSpPr>
          <p:cNvPr id="155" name="Google Shape;155;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2.  Identify Outliers in the Data</a:t>
            </a:r>
            <a:endParaRPr/>
          </a:p>
        </p:txBody>
      </p:sp>
      <p:pic>
        <p:nvPicPr>
          <p:cNvPr id="161" name="Google Shape;161;p28"/>
          <p:cNvPicPr preferRelativeResize="0"/>
          <p:nvPr/>
        </p:nvPicPr>
        <p:blipFill>
          <a:blip r:embed="rId3">
            <a:alphaModFix/>
          </a:blip>
          <a:stretch>
            <a:fillRect/>
          </a:stretch>
        </p:blipFill>
        <p:spPr>
          <a:xfrm>
            <a:off x="4827050" y="1017725"/>
            <a:ext cx="3946570" cy="3820975"/>
          </a:xfrm>
          <a:prstGeom prst="rect">
            <a:avLst/>
          </a:prstGeom>
          <a:noFill/>
          <a:ln>
            <a:noFill/>
          </a:ln>
        </p:spPr>
      </p:pic>
      <p:pic>
        <p:nvPicPr>
          <p:cNvPr id="162" name="Google Shape;162;p28"/>
          <p:cNvPicPr preferRelativeResize="0"/>
          <p:nvPr/>
        </p:nvPicPr>
        <p:blipFill>
          <a:blip r:embed="rId4">
            <a:alphaModFix/>
          </a:blip>
          <a:stretch>
            <a:fillRect/>
          </a:stretch>
        </p:blipFill>
        <p:spPr>
          <a:xfrm>
            <a:off x="311700" y="1139325"/>
            <a:ext cx="4020082" cy="3820974"/>
          </a:xfrm>
          <a:prstGeom prst="rect">
            <a:avLst/>
          </a:prstGeom>
          <a:noFill/>
          <a:ln>
            <a:noFill/>
          </a:ln>
        </p:spPr>
      </p:pic>
      <p:sp>
        <p:nvSpPr>
          <p:cNvPr id="163" name="Google Shape;163;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2.  Identify Outliers in the Data</a:t>
            </a:r>
            <a:endParaRPr/>
          </a:p>
        </p:txBody>
      </p:sp>
      <p:sp>
        <p:nvSpPr>
          <p:cNvPr id="169" name="Google Shape;169;p29"/>
          <p:cNvSpPr txBox="1"/>
          <p:nvPr>
            <p:ph idx="1" type="body"/>
          </p:nvPr>
        </p:nvSpPr>
        <p:spPr>
          <a:xfrm>
            <a:off x="311700" y="1152475"/>
            <a:ext cx="8579100" cy="18474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Clr>
                <a:schemeClr val="dk2"/>
              </a:buClr>
              <a:buSzPts val="1300"/>
              <a:buFont typeface="Proxima Nova"/>
              <a:buChar char="●"/>
            </a:pPr>
            <a:r>
              <a:rPr b="1" lang="en" sz="1300"/>
              <a:t>Box plots</a:t>
            </a:r>
            <a:r>
              <a:rPr lang="en" sz="1300"/>
              <a:t> visualize the distribution of data, showing the median, quartiles, and potential outliers, helping to understand data spread and detect anomalies.</a:t>
            </a:r>
            <a:endParaRPr sz="1300"/>
          </a:p>
          <a:p>
            <a:pPr indent="-311150" lvl="0" marL="457200" rtl="0" algn="l">
              <a:spcBef>
                <a:spcPts val="1200"/>
              </a:spcBef>
              <a:spcAft>
                <a:spcPts val="0"/>
              </a:spcAft>
              <a:buClr>
                <a:schemeClr val="dk2"/>
              </a:buClr>
              <a:buSzPts val="1300"/>
              <a:buFont typeface="Nunito"/>
              <a:buChar char="●"/>
            </a:pPr>
            <a:r>
              <a:rPr lang="en" sz="1300"/>
              <a:t>To detect the outliers, I will start by finding the Min and Max values from column</a:t>
            </a:r>
            <a:endParaRPr sz="1300"/>
          </a:p>
          <a:p>
            <a:pPr indent="-311150" lvl="0" marL="457200" rtl="0" algn="l">
              <a:spcBef>
                <a:spcPts val="0"/>
              </a:spcBef>
              <a:spcAft>
                <a:spcPts val="0"/>
              </a:spcAft>
              <a:buClr>
                <a:schemeClr val="dk2"/>
              </a:buClr>
              <a:buSzPts val="1300"/>
              <a:buFont typeface="Proxima Nova"/>
              <a:buChar char="●"/>
            </a:pPr>
            <a:r>
              <a:rPr lang="en" sz="1300"/>
              <a:t>Then I will find the Median, Q1 and Q3 using QUARTILE function:</a:t>
            </a:r>
            <a:r>
              <a:rPr i="1" lang="en" sz="1300" u="sng"/>
              <a:t>=QUARTILE(G:G,1)</a:t>
            </a:r>
            <a:r>
              <a:rPr lang="en" sz="1300"/>
              <a:t> and </a:t>
            </a:r>
            <a:r>
              <a:rPr i="1" lang="en" sz="1300" u="sng"/>
              <a:t>=QUARTILE(G:G,3)</a:t>
            </a:r>
            <a:r>
              <a:rPr lang="en" sz="1300"/>
              <a:t> and </a:t>
            </a:r>
            <a:r>
              <a:rPr i="1" lang="en" sz="1300" u="sng"/>
              <a:t>=MEDIAN(G2:G7152)</a:t>
            </a:r>
            <a:endParaRPr i="1" sz="1300" u="sng"/>
          </a:p>
          <a:p>
            <a:pPr indent="-311150" lvl="0" marL="457200" rtl="0" algn="l">
              <a:spcBef>
                <a:spcPts val="1200"/>
              </a:spcBef>
              <a:spcAft>
                <a:spcPts val="0"/>
              </a:spcAft>
              <a:buClr>
                <a:schemeClr val="dk2"/>
              </a:buClr>
              <a:buSzPts val="1300"/>
              <a:buFont typeface="Proxima Nova"/>
              <a:buChar char="●"/>
            </a:pPr>
            <a:r>
              <a:rPr lang="en" sz="1300"/>
              <a:t>Then find the Interquartile range(IQR) using formula: </a:t>
            </a:r>
            <a:r>
              <a:rPr i="1" lang="en" sz="1300" u="sng"/>
              <a:t>=M22-M20</a:t>
            </a:r>
            <a:r>
              <a:rPr lang="en" sz="1300"/>
              <a:t> i.e Q3 - Q1</a:t>
            </a:r>
            <a:endParaRPr sz="1300"/>
          </a:p>
          <a:p>
            <a:pPr indent="0" lvl="0" marL="0" rtl="0" algn="l">
              <a:spcBef>
                <a:spcPts val="1200"/>
              </a:spcBef>
              <a:spcAft>
                <a:spcPts val="1200"/>
              </a:spcAft>
              <a:buNone/>
            </a:pPr>
            <a:r>
              <a:t/>
            </a:r>
            <a:endParaRPr sz="1300"/>
          </a:p>
        </p:txBody>
      </p:sp>
      <p:pic>
        <p:nvPicPr>
          <p:cNvPr id="170" name="Google Shape;170;p29"/>
          <p:cNvPicPr preferRelativeResize="0"/>
          <p:nvPr/>
        </p:nvPicPr>
        <p:blipFill rotWithShape="1">
          <a:blip r:embed="rId3">
            <a:alphaModFix/>
          </a:blip>
          <a:srcRect b="0" l="0" r="0" t="3920"/>
          <a:stretch/>
        </p:blipFill>
        <p:spPr>
          <a:xfrm>
            <a:off x="572175" y="2928775"/>
            <a:ext cx="8058150" cy="2214725"/>
          </a:xfrm>
          <a:prstGeom prst="rect">
            <a:avLst/>
          </a:prstGeom>
          <a:noFill/>
          <a:ln>
            <a:noFill/>
          </a:ln>
        </p:spPr>
      </p:pic>
      <p:sp>
        <p:nvSpPr>
          <p:cNvPr id="171" name="Google Shape;171;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2.  Identify Outliers in the Data</a:t>
            </a:r>
            <a:endParaRPr/>
          </a:p>
        </p:txBody>
      </p:sp>
      <p:sp>
        <p:nvSpPr>
          <p:cNvPr id="177" name="Google Shape;177;p30"/>
          <p:cNvSpPr txBox="1"/>
          <p:nvPr>
            <p:ph idx="1" type="body"/>
          </p:nvPr>
        </p:nvSpPr>
        <p:spPr>
          <a:xfrm>
            <a:off x="311700" y="1152475"/>
            <a:ext cx="8579100" cy="21348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Clr>
                <a:schemeClr val="dk2"/>
              </a:buClr>
              <a:buSzPts val="1600"/>
              <a:buFont typeface="Proxima Nova"/>
              <a:buChar char="●"/>
            </a:pPr>
            <a:r>
              <a:rPr b="1" lang="en" sz="1600"/>
              <a:t>The outliers are very far away from out data and hence will not provide a meaningful insight, so I will remove the outliers completely from the data</a:t>
            </a:r>
            <a:endParaRPr b="1" sz="1600"/>
          </a:p>
          <a:p>
            <a:pPr indent="-330200" lvl="0" marL="457200" rtl="0" algn="l">
              <a:spcBef>
                <a:spcPts val="0"/>
              </a:spcBef>
              <a:spcAft>
                <a:spcPts val="0"/>
              </a:spcAft>
              <a:buClr>
                <a:schemeClr val="dk2"/>
              </a:buClr>
              <a:buSzPts val="1600"/>
              <a:buFont typeface="Nunito"/>
              <a:buChar char="●"/>
            </a:pPr>
            <a:r>
              <a:rPr b="1" lang="en" sz="1600"/>
              <a:t>The Outliers are now deleted, I will also delete or hide the new column </a:t>
            </a:r>
            <a:r>
              <a:rPr b="1" i="1" lang="en" sz="1600"/>
              <a:t>Outliers </a:t>
            </a:r>
            <a:r>
              <a:rPr b="1" lang="en" sz="1600"/>
              <a:t>as our job for cleaning the data is done.</a:t>
            </a:r>
            <a:endParaRPr b="1" sz="1600"/>
          </a:p>
          <a:p>
            <a:pPr indent="-330200" lvl="0" marL="457200" rtl="0" algn="l">
              <a:spcBef>
                <a:spcPts val="0"/>
              </a:spcBef>
              <a:spcAft>
                <a:spcPts val="0"/>
              </a:spcAft>
              <a:buClr>
                <a:schemeClr val="dk2"/>
              </a:buClr>
              <a:buSzPts val="1600"/>
              <a:buFont typeface="Proxima Nova"/>
              <a:buChar char="●"/>
            </a:pPr>
            <a:r>
              <a:rPr b="1" lang="en" sz="1600"/>
              <a:t>I will now start with further analysis</a:t>
            </a:r>
            <a:endParaRPr b="1" sz="1600"/>
          </a:p>
          <a:p>
            <a:pPr indent="0" lvl="0" marL="0" rtl="0" algn="l">
              <a:spcBef>
                <a:spcPts val="1200"/>
              </a:spcBef>
              <a:spcAft>
                <a:spcPts val="1200"/>
              </a:spcAft>
              <a:buNone/>
            </a:pPr>
            <a:r>
              <a:t/>
            </a:r>
            <a:endParaRPr b="1" sz="1600"/>
          </a:p>
        </p:txBody>
      </p:sp>
      <p:pic>
        <p:nvPicPr>
          <p:cNvPr id="178" name="Google Shape;178;p30"/>
          <p:cNvPicPr preferRelativeResize="0"/>
          <p:nvPr/>
        </p:nvPicPr>
        <p:blipFill>
          <a:blip r:embed="rId3">
            <a:alphaModFix/>
          </a:blip>
          <a:stretch>
            <a:fillRect/>
          </a:stretch>
        </p:blipFill>
        <p:spPr>
          <a:xfrm>
            <a:off x="1158458" y="2963225"/>
            <a:ext cx="6885581" cy="2134800"/>
          </a:xfrm>
          <a:prstGeom prst="rect">
            <a:avLst/>
          </a:prstGeom>
          <a:noFill/>
          <a:ln>
            <a:noFill/>
          </a:ln>
        </p:spPr>
      </p:pic>
      <p:cxnSp>
        <p:nvCxnSpPr>
          <p:cNvPr id="179" name="Google Shape;179;p30"/>
          <p:cNvCxnSpPr/>
          <p:nvPr/>
        </p:nvCxnSpPr>
        <p:spPr>
          <a:xfrm>
            <a:off x="6252275" y="2989600"/>
            <a:ext cx="503100" cy="1068000"/>
          </a:xfrm>
          <a:prstGeom prst="straightConnector1">
            <a:avLst/>
          </a:prstGeom>
          <a:noFill/>
          <a:ln cap="flat" cmpd="sng" w="9525">
            <a:solidFill>
              <a:schemeClr val="dk2"/>
            </a:solidFill>
            <a:prstDash val="solid"/>
            <a:round/>
            <a:headEnd len="med" w="med" type="none"/>
            <a:tailEnd len="med" w="med" type="triangle"/>
          </a:ln>
        </p:spPr>
      </p:cxnSp>
      <p:sp>
        <p:nvSpPr>
          <p:cNvPr id="180" name="Google Shape;180;p30"/>
          <p:cNvSpPr txBox="1"/>
          <p:nvPr/>
        </p:nvSpPr>
        <p:spPr>
          <a:xfrm>
            <a:off x="5903200" y="2712400"/>
            <a:ext cx="1303800" cy="32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latin typeface="Proxima Nova"/>
                <a:ea typeface="Proxima Nova"/>
                <a:cs typeface="Proxima Nova"/>
                <a:sym typeface="Proxima Nova"/>
              </a:rPr>
              <a:t>Outlier</a:t>
            </a:r>
            <a:endParaRPr b="1" sz="1000">
              <a:solidFill>
                <a:schemeClr val="dk2"/>
              </a:solidFill>
              <a:latin typeface="Proxima Nova"/>
              <a:ea typeface="Proxima Nova"/>
              <a:cs typeface="Proxima Nova"/>
              <a:sym typeface="Proxima Nova"/>
            </a:endParaRPr>
          </a:p>
        </p:txBody>
      </p:sp>
      <p:sp>
        <p:nvSpPr>
          <p:cNvPr id="181" name="Google Shape;181;p30"/>
          <p:cNvSpPr/>
          <p:nvPr/>
        </p:nvSpPr>
        <p:spPr>
          <a:xfrm>
            <a:off x="239825" y="3359200"/>
            <a:ext cx="1262700" cy="831600"/>
          </a:xfrm>
          <a:prstGeom prst="flowChartMagneticTape">
            <a:avLst/>
          </a:prstGeom>
          <a:solidFill>
            <a:schemeClr val="lt2"/>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82" name="Google Shape;182;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83" name="Google Shape;183;p30"/>
          <p:cNvSpPr txBox="1"/>
          <p:nvPr/>
        </p:nvSpPr>
        <p:spPr>
          <a:xfrm>
            <a:off x="616000" y="3559400"/>
            <a:ext cx="821400" cy="32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latin typeface="Proxima Nova"/>
                <a:ea typeface="Proxima Nova"/>
                <a:cs typeface="Proxima Nova"/>
                <a:sym typeface="Proxima Nova"/>
              </a:rPr>
              <a:t>Actual Data</a:t>
            </a:r>
            <a:endParaRPr b="1" sz="1000">
              <a:solidFill>
                <a:schemeClr val="dk2"/>
              </a:solidFill>
              <a:latin typeface="Proxima Nova"/>
              <a:ea typeface="Proxima Nova"/>
              <a:cs typeface="Proxima Nova"/>
              <a:sym typeface="Proxima Nov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1"/>
          <p:cNvSpPr txBox="1"/>
          <p:nvPr>
            <p:ph type="title"/>
          </p:nvPr>
        </p:nvSpPr>
        <p:spPr>
          <a:xfrm>
            <a:off x="517050" y="946575"/>
            <a:ext cx="3425400" cy="2262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400"/>
              <a:t>After removing missing columns and rows</a:t>
            </a:r>
            <a:endParaRPr sz="2400"/>
          </a:p>
        </p:txBody>
      </p:sp>
      <p:sp>
        <p:nvSpPr>
          <p:cNvPr id="189" name="Google Shape;189;p31"/>
          <p:cNvSpPr txBox="1"/>
          <p:nvPr/>
        </p:nvSpPr>
        <p:spPr>
          <a:xfrm>
            <a:off x="265500" y="2777775"/>
            <a:ext cx="4045200" cy="14892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rPr lang="en" sz="2100">
                <a:solidFill>
                  <a:schemeClr val="dk2"/>
                </a:solidFill>
                <a:latin typeface="Proxima Nova"/>
                <a:ea typeface="Proxima Nova"/>
                <a:cs typeface="Proxima Nova"/>
                <a:sym typeface="Proxima Nova"/>
              </a:rPr>
              <a:t>Data count becomes</a:t>
            </a:r>
            <a:endParaRPr sz="2100">
              <a:solidFill>
                <a:schemeClr val="dk2"/>
              </a:solidFill>
              <a:latin typeface="Proxima Nova"/>
              <a:ea typeface="Proxima Nova"/>
              <a:cs typeface="Proxima Nova"/>
              <a:sym typeface="Proxima Nova"/>
            </a:endParaRPr>
          </a:p>
          <a:p>
            <a:pPr indent="0" lvl="0" marL="0" rtl="0" algn="ctr">
              <a:spcBef>
                <a:spcPts val="0"/>
              </a:spcBef>
              <a:spcAft>
                <a:spcPts val="0"/>
              </a:spcAft>
              <a:buNone/>
            </a:pPr>
            <a:r>
              <a:rPr b="1" lang="en" sz="2100">
                <a:solidFill>
                  <a:schemeClr val="dk2"/>
                </a:solidFill>
                <a:latin typeface="Proxima Nova"/>
                <a:ea typeface="Proxima Nova"/>
                <a:cs typeface="Proxima Nova"/>
                <a:sym typeface="Proxima Nova"/>
              </a:rPr>
              <a:t>50000</a:t>
            </a:r>
            <a:r>
              <a:rPr b="1" lang="en" sz="2100">
                <a:solidFill>
                  <a:schemeClr val="dk2"/>
                </a:solidFill>
                <a:latin typeface="Proxima Nova"/>
                <a:ea typeface="Proxima Nova"/>
                <a:cs typeface="Proxima Nova"/>
                <a:sym typeface="Proxima Nova"/>
              </a:rPr>
              <a:t> rows and </a:t>
            </a:r>
            <a:r>
              <a:rPr b="1" lang="en" sz="2100">
                <a:solidFill>
                  <a:schemeClr val="dk2"/>
                </a:solidFill>
                <a:latin typeface="Proxima Nova"/>
                <a:ea typeface="Proxima Nova"/>
                <a:cs typeface="Proxima Nova"/>
                <a:sym typeface="Proxima Nova"/>
              </a:rPr>
              <a:t>89</a:t>
            </a:r>
            <a:r>
              <a:rPr b="1" lang="en" sz="2100">
                <a:solidFill>
                  <a:schemeClr val="dk2"/>
                </a:solidFill>
                <a:latin typeface="Proxima Nova"/>
                <a:ea typeface="Proxima Nova"/>
                <a:cs typeface="Proxima Nova"/>
                <a:sym typeface="Proxima Nova"/>
              </a:rPr>
              <a:t> columns</a:t>
            </a:r>
            <a:endParaRPr b="1" sz="2100">
              <a:solidFill>
                <a:schemeClr val="dk2"/>
              </a:solidFill>
              <a:latin typeface="Proxima Nova"/>
              <a:ea typeface="Proxima Nova"/>
              <a:cs typeface="Proxima Nova"/>
              <a:sym typeface="Proxima Nova"/>
            </a:endParaRPr>
          </a:p>
        </p:txBody>
      </p:sp>
      <p:sp>
        <p:nvSpPr>
          <p:cNvPr id="190" name="Google Shape;190;p31"/>
          <p:cNvSpPr txBox="1"/>
          <p:nvPr>
            <p:ph type="title"/>
          </p:nvPr>
        </p:nvSpPr>
        <p:spPr>
          <a:xfrm>
            <a:off x="5166175" y="946575"/>
            <a:ext cx="3425400" cy="2262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400">
                <a:solidFill>
                  <a:schemeClr val="lt1"/>
                </a:solidFill>
              </a:rPr>
              <a:t>After removing Outliers from Data</a:t>
            </a:r>
            <a:endParaRPr sz="2400">
              <a:solidFill>
                <a:schemeClr val="lt1"/>
              </a:solidFill>
            </a:endParaRPr>
          </a:p>
        </p:txBody>
      </p:sp>
      <p:sp>
        <p:nvSpPr>
          <p:cNvPr id="191" name="Google Shape;191;p31"/>
          <p:cNvSpPr txBox="1"/>
          <p:nvPr/>
        </p:nvSpPr>
        <p:spPr>
          <a:xfrm>
            <a:off x="4945425" y="2777775"/>
            <a:ext cx="4045200" cy="14892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rPr lang="en" sz="2100">
                <a:solidFill>
                  <a:schemeClr val="lt1"/>
                </a:solidFill>
                <a:latin typeface="Proxima Nova"/>
                <a:ea typeface="Proxima Nova"/>
                <a:cs typeface="Proxima Nova"/>
                <a:sym typeface="Proxima Nova"/>
              </a:rPr>
              <a:t>Data count becomes</a:t>
            </a:r>
            <a:endParaRPr sz="21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b="1" lang="en" sz="2100">
                <a:solidFill>
                  <a:schemeClr val="lt1"/>
                </a:solidFill>
                <a:latin typeface="Proxima Nova"/>
                <a:ea typeface="Proxima Nova"/>
                <a:cs typeface="Proxima Nova"/>
                <a:sym typeface="Proxima Nova"/>
              </a:rPr>
              <a:t>41070</a:t>
            </a:r>
            <a:r>
              <a:rPr b="1" lang="en" sz="2100">
                <a:solidFill>
                  <a:schemeClr val="lt1"/>
                </a:solidFill>
                <a:latin typeface="Proxima Nova"/>
                <a:ea typeface="Proxima Nova"/>
                <a:cs typeface="Proxima Nova"/>
                <a:sym typeface="Proxima Nova"/>
              </a:rPr>
              <a:t> rows and 73 columns</a:t>
            </a:r>
            <a:endParaRPr b="1" sz="2100">
              <a:solidFill>
                <a:schemeClr val="lt1"/>
              </a:solidFill>
              <a:latin typeface="Proxima Nova"/>
              <a:ea typeface="Proxima Nova"/>
              <a:cs typeface="Proxima Nova"/>
              <a:sym typeface="Proxima Nova"/>
            </a:endParaRPr>
          </a:p>
        </p:txBody>
      </p:sp>
      <p:sp>
        <p:nvSpPr>
          <p:cNvPr id="192" name="Google Shape;192;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2"/>
          <p:cNvSpPr txBox="1"/>
          <p:nvPr>
            <p:ph type="title"/>
          </p:nvPr>
        </p:nvSpPr>
        <p:spPr>
          <a:xfrm>
            <a:off x="490250" y="526350"/>
            <a:ext cx="813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Task 3 </a:t>
            </a:r>
            <a:endParaRPr/>
          </a:p>
          <a:p>
            <a:pPr indent="0" lvl="0" marL="0" rtl="0" algn="l">
              <a:spcBef>
                <a:spcPts val="0"/>
              </a:spcBef>
              <a:spcAft>
                <a:spcPts val="0"/>
              </a:spcAft>
              <a:buNone/>
            </a:pPr>
            <a:r>
              <a:rPr lang="en" sz="3000"/>
              <a:t>Analyze Data Imbalance</a:t>
            </a:r>
            <a:endParaRPr/>
          </a:p>
        </p:txBody>
      </p:sp>
      <p:sp>
        <p:nvSpPr>
          <p:cNvPr id="198" name="Google Shape;198;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3. Analyze Data Imbalance</a:t>
            </a:r>
            <a:endParaRPr/>
          </a:p>
        </p:txBody>
      </p:sp>
      <p:sp>
        <p:nvSpPr>
          <p:cNvPr id="204" name="Google Shape;204;p33"/>
          <p:cNvSpPr txBox="1"/>
          <p:nvPr>
            <p:ph idx="1" type="body"/>
          </p:nvPr>
        </p:nvSpPr>
        <p:spPr>
          <a:xfrm>
            <a:off x="363050" y="1111425"/>
            <a:ext cx="42090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b="1" lang="en" sz="1200"/>
              <a:t>Data Imbalance</a:t>
            </a:r>
            <a:r>
              <a:rPr lang="en" sz="1200"/>
              <a:t> refers to the uneven distribution of classes in the dataset. For instance, if one class significantly outnumbers others, the model may be biased towards predicting the majority class.</a:t>
            </a:r>
            <a:endParaRPr sz="1200"/>
          </a:p>
          <a:p>
            <a:pPr indent="0" lvl="0" marL="0" rtl="0" algn="l">
              <a:lnSpc>
                <a:spcPct val="95000"/>
              </a:lnSpc>
              <a:spcBef>
                <a:spcPts val="1200"/>
              </a:spcBef>
              <a:spcAft>
                <a:spcPts val="0"/>
              </a:spcAft>
              <a:buNone/>
            </a:pPr>
            <a:r>
              <a:rPr b="1" lang="en" sz="1200"/>
              <a:t>Impact of Imbalance</a:t>
            </a:r>
            <a:r>
              <a:rPr lang="en" sz="1200"/>
              <a:t>:</a:t>
            </a:r>
            <a:endParaRPr sz="1200"/>
          </a:p>
          <a:p>
            <a:pPr indent="-304800" lvl="0" marL="457200" rtl="0" algn="l">
              <a:lnSpc>
                <a:spcPct val="95000"/>
              </a:lnSpc>
              <a:spcBef>
                <a:spcPts val="1200"/>
              </a:spcBef>
              <a:spcAft>
                <a:spcPts val="0"/>
              </a:spcAft>
              <a:buSzPts val="1200"/>
              <a:buChar char="●"/>
            </a:pPr>
            <a:r>
              <a:rPr b="1" lang="en" sz="1200"/>
              <a:t>Model Performance</a:t>
            </a:r>
            <a:r>
              <a:rPr lang="en" sz="1200"/>
              <a:t>: Imbalanced data can lead to poor model performance, where the model might predict the majority class well but perform poorly on the minority classes.</a:t>
            </a:r>
            <a:endParaRPr b="1" sz="1200"/>
          </a:p>
          <a:p>
            <a:pPr indent="-304800" lvl="0" marL="457200" rtl="0" algn="l">
              <a:lnSpc>
                <a:spcPct val="95000"/>
              </a:lnSpc>
              <a:spcBef>
                <a:spcPts val="1000"/>
              </a:spcBef>
              <a:spcAft>
                <a:spcPts val="0"/>
              </a:spcAft>
              <a:buSzPts val="1200"/>
              <a:buChar char="●"/>
            </a:pPr>
            <a:r>
              <a:rPr b="1" lang="en" sz="1200"/>
              <a:t>Decision Making</a:t>
            </a:r>
            <a:r>
              <a:rPr lang="en" sz="1200"/>
              <a:t>: Understanding the class distribution helps in making decisions about whether to apply techniques like resampling (over-sampling the minority class or under-sampling the majority class) or using algorithms robust to class imbalance.</a:t>
            </a:r>
            <a:endParaRPr sz="1200"/>
          </a:p>
          <a:p>
            <a:pPr indent="0" lvl="0" marL="0" rtl="0" algn="l">
              <a:lnSpc>
                <a:spcPct val="95000"/>
              </a:lnSpc>
              <a:spcBef>
                <a:spcPts val="1200"/>
              </a:spcBef>
              <a:spcAft>
                <a:spcPts val="1200"/>
              </a:spcAft>
              <a:buNone/>
            </a:pPr>
            <a:r>
              <a:t/>
            </a:r>
            <a:endParaRPr sz="1200"/>
          </a:p>
        </p:txBody>
      </p:sp>
      <p:pic>
        <p:nvPicPr>
          <p:cNvPr id="205" name="Google Shape;205;p33"/>
          <p:cNvPicPr preferRelativeResize="0"/>
          <p:nvPr/>
        </p:nvPicPr>
        <p:blipFill rotWithShape="1">
          <a:blip r:embed="rId3">
            <a:alphaModFix/>
          </a:blip>
          <a:srcRect b="4360" l="0" r="0" t="2487"/>
          <a:stretch/>
        </p:blipFill>
        <p:spPr>
          <a:xfrm>
            <a:off x="4724450" y="1111425"/>
            <a:ext cx="4267149" cy="3510550"/>
          </a:xfrm>
          <a:prstGeom prst="rect">
            <a:avLst/>
          </a:prstGeom>
          <a:noFill/>
          <a:ln>
            <a:noFill/>
          </a:ln>
        </p:spPr>
      </p:pic>
      <p:sp>
        <p:nvSpPr>
          <p:cNvPr id="206" name="Google Shape;206;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4"/>
          <p:cNvSpPr txBox="1"/>
          <p:nvPr>
            <p:ph type="title"/>
          </p:nvPr>
        </p:nvSpPr>
        <p:spPr>
          <a:xfrm>
            <a:off x="265500" y="689900"/>
            <a:ext cx="4045200" cy="2237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Pie Chart Visualization</a:t>
            </a:r>
            <a:endParaRPr/>
          </a:p>
        </p:txBody>
      </p:sp>
      <p:pic>
        <p:nvPicPr>
          <p:cNvPr id="212" name="Google Shape;212;p34"/>
          <p:cNvPicPr preferRelativeResize="0"/>
          <p:nvPr/>
        </p:nvPicPr>
        <p:blipFill>
          <a:blip r:embed="rId3">
            <a:alphaModFix/>
          </a:blip>
          <a:stretch>
            <a:fillRect/>
          </a:stretch>
        </p:blipFill>
        <p:spPr>
          <a:xfrm>
            <a:off x="4833925" y="853388"/>
            <a:ext cx="4116600" cy="3436726"/>
          </a:xfrm>
          <a:prstGeom prst="rect">
            <a:avLst/>
          </a:prstGeom>
          <a:noFill/>
          <a:ln>
            <a:noFill/>
          </a:ln>
        </p:spPr>
      </p:pic>
      <p:graphicFrame>
        <p:nvGraphicFramePr>
          <p:cNvPr id="213" name="Google Shape;213;p34"/>
          <p:cNvGraphicFramePr/>
          <p:nvPr/>
        </p:nvGraphicFramePr>
        <p:xfrm>
          <a:off x="183375" y="2927500"/>
          <a:ext cx="3000000" cy="3000000"/>
        </p:xfrm>
        <a:graphic>
          <a:graphicData uri="http://schemas.openxmlformats.org/drawingml/2006/table">
            <a:tbl>
              <a:tblPr>
                <a:noFill/>
                <a:tableStyleId>{D65A9D27-C40A-479F-9F86-1AB1B3105B3D}</a:tableStyleId>
              </a:tblPr>
              <a:tblGrid>
                <a:gridCol w="845350"/>
                <a:gridCol w="2395575"/>
                <a:gridCol w="886400"/>
              </a:tblGrid>
              <a:tr h="886875">
                <a:tc>
                  <a:txBody>
                    <a:bodyPr/>
                    <a:lstStyle/>
                    <a:p>
                      <a:pPr indent="0" lvl="0" marL="0" rtl="0" algn="l">
                        <a:spcBef>
                          <a:spcPts val="0"/>
                        </a:spcBef>
                        <a:spcAft>
                          <a:spcPts val="0"/>
                        </a:spcAft>
                        <a:buNone/>
                      </a:pPr>
                      <a:r>
                        <a:rPr b="1" lang="en">
                          <a:solidFill>
                            <a:schemeClr val="dk2"/>
                          </a:solidFill>
                          <a:latin typeface="Proxima Nova"/>
                          <a:ea typeface="Proxima Nova"/>
                          <a:cs typeface="Proxima Nova"/>
                          <a:sym typeface="Proxima Nova"/>
                        </a:rPr>
                        <a:t>0</a:t>
                      </a:r>
                      <a:endParaRPr b="1">
                        <a:solidFill>
                          <a:schemeClr val="dk2"/>
                        </a:solidFill>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b="1" lang="en" sz="1200">
                          <a:solidFill>
                            <a:schemeClr val="dk2"/>
                          </a:solidFill>
                        </a:rPr>
                        <a:t>represents all other cases (</a:t>
                      </a:r>
                      <a:r>
                        <a:rPr b="1" lang="en" sz="1200">
                          <a:solidFill>
                            <a:schemeClr val="accent3"/>
                          </a:solidFill>
                        </a:rPr>
                        <a:t>Non-Defaulters</a:t>
                      </a:r>
                      <a:r>
                        <a:rPr b="1" lang="en" sz="1200">
                          <a:solidFill>
                            <a:schemeClr val="dk2"/>
                          </a:solidFill>
                        </a:rPr>
                        <a:t>)</a:t>
                      </a:r>
                      <a:endParaRPr/>
                    </a:p>
                  </a:txBody>
                  <a:tcPr marT="91425" marB="91425" marR="91425" marL="91425"/>
                </a:tc>
                <a:tc>
                  <a:txBody>
                    <a:bodyPr/>
                    <a:lstStyle/>
                    <a:p>
                      <a:pPr indent="0" lvl="0" marL="0" rtl="0" algn="l">
                        <a:spcBef>
                          <a:spcPts val="0"/>
                        </a:spcBef>
                        <a:spcAft>
                          <a:spcPts val="0"/>
                        </a:spcAft>
                        <a:buNone/>
                      </a:pPr>
                      <a:r>
                        <a:rPr b="1" lang="en">
                          <a:solidFill>
                            <a:schemeClr val="dk2"/>
                          </a:solidFill>
                          <a:latin typeface="Proxima Nova"/>
                          <a:ea typeface="Proxima Nova"/>
                          <a:cs typeface="Proxima Nova"/>
                          <a:sym typeface="Proxima Nova"/>
                        </a:rPr>
                        <a:t>8.05%</a:t>
                      </a:r>
                      <a:endParaRPr b="1">
                        <a:solidFill>
                          <a:schemeClr val="dk2"/>
                        </a:solidFill>
                        <a:latin typeface="Proxima Nova"/>
                        <a:ea typeface="Proxima Nova"/>
                        <a:cs typeface="Proxima Nova"/>
                        <a:sym typeface="Proxima Nova"/>
                      </a:endParaRPr>
                    </a:p>
                  </a:txBody>
                  <a:tcPr marT="91425" marB="91425" marR="91425" marL="91425"/>
                </a:tc>
              </a:tr>
              <a:tr h="974150">
                <a:tc>
                  <a:txBody>
                    <a:bodyPr/>
                    <a:lstStyle/>
                    <a:p>
                      <a:pPr indent="0" lvl="0" marL="0" rtl="0" algn="l">
                        <a:spcBef>
                          <a:spcPts val="0"/>
                        </a:spcBef>
                        <a:spcAft>
                          <a:spcPts val="0"/>
                        </a:spcAft>
                        <a:buNone/>
                      </a:pPr>
                      <a:r>
                        <a:rPr b="1" lang="en">
                          <a:solidFill>
                            <a:schemeClr val="dk2"/>
                          </a:solidFill>
                          <a:latin typeface="Proxima Nova"/>
                          <a:ea typeface="Proxima Nova"/>
                          <a:cs typeface="Proxima Nova"/>
                          <a:sym typeface="Proxima Nova"/>
                        </a:rPr>
                        <a:t>1</a:t>
                      </a:r>
                      <a:endParaRPr b="1">
                        <a:solidFill>
                          <a:schemeClr val="dk2"/>
                        </a:solidFill>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b="1" lang="en" sz="1200">
                          <a:solidFill>
                            <a:schemeClr val="dk2"/>
                          </a:solidFill>
                        </a:rPr>
                        <a:t>represents clients with payment difficulties</a:t>
                      </a:r>
                      <a:endParaRPr b="1" sz="1200">
                        <a:solidFill>
                          <a:schemeClr val="dk2"/>
                        </a:solidFill>
                      </a:endParaRPr>
                    </a:p>
                    <a:p>
                      <a:pPr indent="0" lvl="0" marL="0" rtl="0" algn="l">
                        <a:spcBef>
                          <a:spcPts val="0"/>
                        </a:spcBef>
                        <a:spcAft>
                          <a:spcPts val="0"/>
                        </a:spcAft>
                        <a:buNone/>
                      </a:pPr>
                      <a:r>
                        <a:rPr b="1" lang="en" sz="1200">
                          <a:solidFill>
                            <a:schemeClr val="dk2"/>
                          </a:solidFill>
                        </a:rPr>
                        <a:t>(</a:t>
                      </a:r>
                      <a:r>
                        <a:rPr b="1" lang="en" sz="1200">
                          <a:solidFill>
                            <a:schemeClr val="dk1"/>
                          </a:solidFill>
                        </a:rPr>
                        <a:t>Defaulters</a:t>
                      </a:r>
                      <a:r>
                        <a:rPr b="1" lang="en" sz="1200">
                          <a:solidFill>
                            <a:schemeClr val="dk2"/>
                          </a:solidFill>
                        </a:rPr>
                        <a:t>)</a:t>
                      </a:r>
                      <a:endParaRPr/>
                    </a:p>
                  </a:txBody>
                  <a:tcPr marT="91425" marB="91425" marR="91425" marL="91425"/>
                </a:tc>
                <a:tc>
                  <a:txBody>
                    <a:bodyPr/>
                    <a:lstStyle/>
                    <a:p>
                      <a:pPr indent="0" lvl="0" marL="0" rtl="0" algn="l">
                        <a:spcBef>
                          <a:spcPts val="0"/>
                        </a:spcBef>
                        <a:spcAft>
                          <a:spcPts val="0"/>
                        </a:spcAft>
                        <a:buNone/>
                      </a:pPr>
                      <a:r>
                        <a:rPr b="1" lang="en">
                          <a:solidFill>
                            <a:schemeClr val="dk2"/>
                          </a:solidFill>
                          <a:latin typeface="Proxima Nova"/>
                          <a:ea typeface="Proxima Nova"/>
                          <a:cs typeface="Proxima Nova"/>
                          <a:sym typeface="Proxima Nova"/>
                        </a:rPr>
                        <a:t>91.9%</a:t>
                      </a:r>
                      <a:endParaRPr b="1">
                        <a:solidFill>
                          <a:schemeClr val="dk2"/>
                        </a:solidFill>
                        <a:latin typeface="Proxima Nova"/>
                        <a:ea typeface="Proxima Nova"/>
                        <a:cs typeface="Proxima Nova"/>
                        <a:sym typeface="Proxima Nova"/>
                      </a:endParaRPr>
                    </a:p>
                  </a:txBody>
                  <a:tcPr marT="91425" marB="91425" marR="91425" marL="91425"/>
                </a:tc>
              </a:tr>
            </a:tbl>
          </a:graphicData>
        </a:graphic>
      </p:graphicFrame>
      <p:sp>
        <p:nvSpPr>
          <p:cNvPr id="214" name="Google Shape;214;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5"/>
          <p:cNvSpPr txBox="1"/>
          <p:nvPr>
            <p:ph type="title"/>
          </p:nvPr>
        </p:nvSpPr>
        <p:spPr>
          <a:xfrm>
            <a:off x="265500" y="689900"/>
            <a:ext cx="4045200" cy="1057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Using Excel</a:t>
            </a:r>
            <a:endParaRPr/>
          </a:p>
        </p:txBody>
      </p:sp>
      <p:sp>
        <p:nvSpPr>
          <p:cNvPr id="220" name="Google Shape;220;p35"/>
          <p:cNvSpPr txBox="1"/>
          <p:nvPr>
            <p:ph idx="2" type="body"/>
          </p:nvPr>
        </p:nvSpPr>
        <p:spPr>
          <a:xfrm>
            <a:off x="363050" y="1747400"/>
            <a:ext cx="3947700" cy="3213300"/>
          </a:xfrm>
          <a:prstGeom prst="rect">
            <a:avLst/>
          </a:prstGeom>
        </p:spPr>
        <p:txBody>
          <a:bodyPr anchorCtr="0" anchor="ctr" bIns="91425" lIns="91425" spcFirstLastPara="1" rIns="91425" wrap="square" tIns="91425">
            <a:noAutofit/>
          </a:bodyPr>
          <a:lstStyle/>
          <a:p>
            <a:pPr indent="0" lvl="0" marL="457200" rtl="0" algn="l">
              <a:lnSpc>
                <a:spcPct val="95000"/>
              </a:lnSpc>
              <a:spcBef>
                <a:spcPts val="1200"/>
              </a:spcBef>
              <a:spcAft>
                <a:spcPts val="0"/>
              </a:spcAft>
              <a:buNone/>
            </a:pPr>
            <a:r>
              <a:rPr b="1" lang="en" sz="1200">
                <a:solidFill>
                  <a:schemeClr val="dk2"/>
                </a:solidFill>
              </a:rPr>
              <a:t>Insights:</a:t>
            </a:r>
            <a:endParaRPr b="1" sz="1200">
              <a:solidFill>
                <a:schemeClr val="dk2"/>
              </a:solidFill>
            </a:endParaRPr>
          </a:p>
          <a:p>
            <a:pPr indent="-304800" lvl="0" marL="457200" rtl="0" algn="l">
              <a:lnSpc>
                <a:spcPct val="95000"/>
              </a:lnSpc>
              <a:spcBef>
                <a:spcPts val="1200"/>
              </a:spcBef>
              <a:spcAft>
                <a:spcPts val="0"/>
              </a:spcAft>
              <a:buClr>
                <a:schemeClr val="dk2"/>
              </a:buClr>
              <a:buSzPts val="1200"/>
              <a:buChar char="●"/>
            </a:pPr>
            <a:r>
              <a:rPr b="1" lang="en" sz="1200">
                <a:solidFill>
                  <a:schemeClr val="dk2"/>
                </a:solidFill>
              </a:rPr>
              <a:t>The dataset is highly imbalanced, with a significant majority of instances belonging to class 0 (Non-Defaulter-91%) and a minority belonging to class 1 (Defaulter-9%)</a:t>
            </a:r>
            <a:endParaRPr b="1" sz="1200">
              <a:solidFill>
                <a:schemeClr val="dk2"/>
              </a:solidFill>
            </a:endParaRPr>
          </a:p>
          <a:p>
            <a:pPr indent="-304800" lvl="0" marL="457200" rtl="0" algn="l">
              <a:lnSpc>
                <a:spcPct val="95000"/>
              </a:lnSpc>
              <a:spcBef>
                <a:spcPts val="1000"/>
              </a:spcBef>
              <a:spcAft>
                <a:spcPts val="0"/>
              </a:spcAft>
              <a:buClr>
                <a:schemeClr val="dk2"/>
              </a:buClr>
              <a:buSzPts val="1200"/>
              <a:buChar char="●"/>
            </a:pPr>
            <a:r>
              <a:rPr b="1" lang="en" sz="1200">
                <a:solidFill>
                  <a:schemeClr val="dk2"/>
                </a:solidFill>
              </a:rPr>
              <a:t>Predicting class 1 accurately may be difficult due to its minority representation.</a:t>
            </a:r>
            <a:endParaRPr b="1" sz="1200">
              <a:solidFill>
                <a:schemeClr val="dk2"/>
              </a:solidFill>
            </a:endParaRPr>
          </a:p>
          <a:p>
            <a:pPr indent="0" lvl="0" marL="457200" rtl="0" algn="l">
              <a:lnSpc>
                <a:spcPct val="95000"/>
              </a:lnSpc>
              <a:spcBef>
                <a:spcPts val="1200"/>
              </a:spcBef>
              <a:spcAft>
                <a:spcPts val="0"/>
              </a:spcAft>
              <a:buNone/>
            </a:pPr>
            <a:r>
              <a:t/>
            </a:r>
            <a:endParaRPr b="1" sz="1200">
              <a:solidFill>
                <a:schemeClr val="dk2"/>
              </a:solidFill>
            </a:endParaRPr>
          </a:p>
          <a:p>
            <a:pPr indent="0" lvl="0" marL="0" rtl="0" algn="l">
              <a:lnSpc>
                <a:spcPct val="95000"/>
              </a:lnSpc>
              <a:spcBef>
                <a:spcPts val="1200"/>
              </a:spcBef>
              <a:spcAft>
                <a:spcPts val="1200"/>
              </a:spcAft>
              <a:buNone/>
            </a:pPr>
            <a:r>
              <a:t/>
            </a:r>
            <a:endParaRPr sz="1200">
              <a:solidFill>
                <a:schemeClr val="dk2"/>
              </a:solidFill>
            </a:endParaRPr>
          </a:p>
        </p:txBody>
      </p:sp>
      <p:pic>
        <p:nvPicPr>
          <p:cNvPr id="221" name="Google Shape;221;p35"/>
          <p:cNvPicPr preferRelativeResize="0"/>
          <p:nvPr/>
        </p:nvPicPr>
        <p:blipFill>
          <a:blip r:embed="rId3">
            <a:alphaModFix/>
          </a:blip>
          <a:stretch>
            <a:fillRect/>
          </a:stretch>
        </p:blipFill>
        <p:spPr>
          <a:xfrm>
            <a:off x="5101025" y="994275"/>
            <a:ext cx="3524250" cy="1447800"/>
          </a:xfrm>
          <a:prstGeom prst="rect">
            <a:avLst/>
          </a:prstGeom>
          <a:noFill/>
          <a:ln>
            <a:noFill/>
          </a:ln>
        </p:spPr>
      </p:pic>
      <p:pic>
        <p:nvPicPr>
          <p:cNvPr id="222" name="Google Shape;222;p35"/>
          <p:cNvPicPr preferRelativeResize="0"/>
          <p:nvPr/>
        </p:nvPicPr>
        <p:blipFill>
          <a:blip r:embed="rId4">
            <a:alphaModFix/>
          </a:blip>
          <a:stretch>
            <a:fillRect/>
          </a:stretch>
        </p:blipFill>
        <p:spPr>
          <a:xfrm>
            <a:off x="4986725" y="2810050"/>
            <a:ext cx="3752850" cy="1447800"/>
          </a:xfrm>
          <a:prstGeom prst="rect">
            <a:avLst/>
          </a:prstGeom>
          <a:noFill/>
          <a:ln>
            <a:noFill/>
          </a:ln>
        </p:spPr>
      </p:pic>
      <p:sp>
        <p:nvSpPr>
          <p:cNvPr id="223" name="Google Shape;223;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6"/>
          <p:cNvSpPr txBox="1"/>
          <p:nvPr>
            <p:ph type="title"/>
          </p:nvPr>
        </p:nvSpPr>
        <p:spPr>
          <a:xfrm>
            <a:off x="490250" y="526350"/>
            <a:ext cx="8133600" cy="4090800"/>
          </a:xfrm>
          <a:prstGeom prst="rect">
            <a:avLst/>
          </a:prstGeom>
        </p:spPr>
        <p:txBody>
          <a:bodyPr anchorCtr="0" anchor="ctr" bIns="91425" lIns="91425" spcFirstLastPara="1" rIns="91425" wrap="square" tIns="91425">
            <a:normAutofit/>
          </a:bodyPr>
          <a:lstStyle/>
          <a:p>
            <a:pPr indent="0" lvl="0" marL="0" rtl="0" algn="l">
              <a:spcBef>
                <a:spcPts val="1000"/>
              </a:spcBef>
              <a:spcAft>
                <a:spcPts val="0"/>
              </a:spcAft>
              <a:buNone/>
            </a:pPr>
            <a:r>
              <a:rPr lang="en"/>
              <a:t>Task 4 </a:t>
            </a:r>
            <a:endParaRPr/>
          </a:p>
          <a:p>
            <a:pPr indent="0" lvl="0" marL="0" rtl="0" algn="l">
              <a:spcBef>
                <a:spcPts val="1000"/>
              </a:spcBef>
              <a:spcAft>
                <a:spcPts val="0"/>
              </a:spcAft>
              <a:buNone/>
            </a:pPr>
            <a:r>
              <a:rPr lang="en" sz="3000"/>
              <a:t>Perform Univariate, Segmented Univariate, and Bivariate Analysis</a:t>
            </a:r>
            <a:endParaRPr/>
          </a:p>
        </p:txBody>
      </p:sp>
      <p:sp>
        <p:nvSpPr>
          <p:cNvPr id="229" name="Google Shape;229;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7"/>
          <p:cNvSpPr txBox="1"/>
          <p:nvPr>
            <p:ph type="title"/>
          </p:nvPr>
        </p:nvSpPr>
        <p:spPr>
          <a:xfrm>
            <a:off x="311700" y="445025"/>
            <a:ext cx="8520600" cy="1035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4. Perform Univariate, Segmented Univariate, and Bivariate Analysis</a:t>
            </a:r>
            <a:endParaRPr/>
          </a:p>
        </p:txBody>
      </p:sp>
      <p:sp>
        <p:nvSpPr>
          <p:cNvPr id="235" name="Google Shape;235;p37"/>
          <p:cNvSpPr txBox="1"/>
          <p:nvPr>
            <p:ph idx="1" type="body"/>
          </p:nvPr>
        </p:nvSpPr>
        <p:spPr>
          <a:xfrm>
            <a:off x="311700" y="1737075"/>
            <a:ext cx="4400700" cy="34065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b="1" lang="en" sz="1300"/>
              <a:t>Univariate Analysis </a:t>
            </a:r>
            <a:r>
              <a:rPr lang="en" sz="1300"/>
              <a:t>analyzes individual variables. It helps to understand the distribution and summary statistics of each variable separately.</a:t>
            </a:r>
            <a:endParaRPr sz="1300"/>
          </a:p>
          <a:p>
            <a:pPr indent="-311150" lvl="0" marL="457200" rtl="0" algn="l">
              <a:spcBef>
                <a:spcPts val="0"/>
              </a:spcBef>
              <a:spcAft>
                <a:spcPts val="0"/>
              </a:spcAft>
              <a:buSzPts val="1300"/>
              <a:buChar char="●"/>
            </a:pPr>
            <a:r>
              <a:rPr b="1" lang="en" sz="1300"/>
              <a:t>Segmented univariate analysis</a:t>
            </a:r>
            <a:r>
              <a:rPr lang="en" sz="1300"/>
              <a:t> summarizes a single variable by dividing it into subsets to observe patterns across segments. It helps identify central tendencies (mean, mode, median), range, and variability (variance, standard deviation).</a:t>
            </a:r>
            <a:endParaRPr sz="1300"/>
          </a:p>
          <a:p>
            <a:pPr indent="-311150" lvl="0" marL="457200" rtl="0" algn="l">
              <a:spcBef>
                <a:spcPts val="0"/>
              </a:spcBef>
              <a:spcAft>
                <a:spcPts val="0"/>
              </a:spcAft>
              <a:buSzPts val="1300"/>
              <a:buChar char="●"/>
            </a:pPr>
            <a:r>
              <a:rPr b="1" lang="en" sz="1300"/>
              <a:t>Bivariate Analysis </a:t>
            </a:r>
            <a:r>
              <a:rPr lang="en" sz="1300"/>
              <a:t>examines the relationship between two variables. It helps to understand how two variables interact or influence each other.</a:t>
            </a:r>
            <a:endParaRPr sz="1300"/>
          </a:p>
          <a:p>
            <a:pPr indent="0" lvl="0" marL="457200" rtl="0" algn="l">
              <a:spcBef>
                <a:spcPts val="1200"/>
              </a:spcBef>
              <a:spcAft>
                <a:spcPts val="1200"/>
              </a:spcAft>
              <a:buNone/>
            </a:pPr>
            <a:r>
              <a:t/>
            </a:r>
            <a:endParaRPr sz="1300"/>
          </a:p>
        </p:txBody>
      </p:sp>
      <p:pic>
        <p:nvPicPr>
          <p:cNvPr id="236" name="Google Shape;236;p37"/>
          <p:cNvPicPr preferRelativeResize="0"/>
          <p:nvPr/>
        </p:nvPicPr>
        <p:blipFill>
          <a:blip r:embed="rId3">
            <a:alphaModFix/>
          </a:blip>
          <a:stretch>
            <a:fillRect/>
          </a:stretch>
        </p:blipFill>
        <p:spPr>
          <a:xfrm>
            <a:off x="4712400" y="1940725"/>
            <a:ext cx="4342500" cy="2103540"/>
          </a:xfrm>
          <a:prstGeom prst="rect">
            <a:avLst/>
          </a:prstGeom>
          <a:noFill/>
          <a:ln>
            <a:noFill/>
          </a:ln>
        </p:spPr>
      </p:pic>
      <p:sp>
        <p:nvSpPr>
          <p:cNvPr id="237" name="Google Shape;237;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8"/>
          <p:cNvSpPr txBox="1"/>
          <p:nvPr>
            <p:ph type="title"/>
          </p:nvPr>
        </p:nvSpPr>
        <p:spPr>
          <a:xfrm>
            <a:off x="311700" y="445025"/>
            <a:ext cx="8520600" cy="103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Univariate Analysis</a:t>
            </a:r>
            <a:endParaRPr/>
          </a:p>
        </p:txBody>
      </p:sp>
      <p:sp>
        <p:nvSpPr>
          <p:cNvPr id="243" name="Google Shape;243;p38"/>
          <p:cNvSpPr txBox="1"/>
          <p:nvPr>
            <p:ph idx="1" type="body"/>
          </p:nvPr>
        </p:nvSpPr>
        <p:spPr>
          <a:xfrm>
            <a:off x="311700" y="1737075"/>
            <a:ext cx="8520600" cy="2831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Using Python</a:t>
            </a:r>
            <a:endParaRPr/>
          </a:p>
        </p:txBody>
      </p:sp>
      <p:pic>
        <p:nvPicPr>
          <p:cNvPr id="244" name="Google Shape;244;p38"/>
          <p:cNvPicPr preferRelativeResize="0"/>
          <p:nvPr/>
        </p:nvPicPr>
        <p:blipFill rotWithShape="1">
          <a:blip r:embed="rId3">
            <a:alphaModFix/>
          </a:blip>
          <a:srcRect b="0" l="0" r="12915" t="0"/>
          <a:stretch/>
        </p:blipFill>
        <p:spPr>
          <a:xfrm>
            <a:off x="222632" y="2491550"/>
            <a:ext cx="6070692" cy="2220950"/>
          </a:xfrm>
          <a:prstGeom prst="rect">
            <a:avLst/>
          </a:prstGeom>
          <a:noFill/>
          <a:ln>
            <a:noFill/>
          </a:ln>
        </p:spPr>
      </p:pic>
      <p:pic>
        <p:nvPicPr>
          <p:cNvPr id="245" name="Google Shape;245;p38"/>
          <p:cNvPicPr preferRelativeResize="0"/>
          <p:nvPr/>
        </p:nvPicPr>
        <p:blipFill>
          <a:blip r:embed="rId4">
            <a:alphaModFix/>
          </a:blip>
          <a:stretch>
            <a:fillRect/>
          </a:stretch>
        </p:blipFill>
        <p:spPr>
          <a:xfrm>
            <a:off x="5413626" y="156050"/>
            <a:ext cx="3418675" cy="2172850"/>
          </a:xfrm>
          <a:prstGeom prst="rect">
            <a:avLst/>
          </a:prstGeom>
          <a:noFill/>
          <a:ln>
            <a:noFill/>
          </a:ln>
        </p:spPr>
      </p:pic>
      <p:sp>
        <p:nvSpPr>
          <p:cNvPr id="246" name="Google Shape;246;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9"/>
          <p:cNvSpPr txBox="1"/>
          <p:nvPr>
            <p:ph type="title"/>
          </p:nvPr>
        </p:nvSpPr>
        <p:spPr>
          <a:xfrm>
            <a:off x="311700" y="445025"/>
            <a:ext cx="8520600" cy="103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Univariate Analysis</a:t>
            </a:r>
            <a:endParaRPr/>
          </a:p>
        </p:txBody>
      </p:sp>
      <p:sp>
        <p:nvSpPr>
          <p:cNvPr id="252" name="Google Shape;252;p39"/>
          <p:cNvSpPr txBox="1"/>
          <p:nvPr>
            <p:ph idx="1" type="body"/>
          </p:nvPr>
        </p:nvSpPr>
        <p:spPr>
          <a:xfrm>
            <a:off x="311700" y="1244300"/>
            <a:ext cx="5786700" cy="36447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 sz="1200"/>
              <a:t>Steps using Excel:</a:t>
            </a:r>
            <a:endParaRPr sz="1200"/>
          </a:p>
          <a:p>
            <a:pPr indent="0" lvl="0" marL="0" rtl="0" algn="l">
              <a:lnSpc>
                <a:spcPct val="95000"/>
              </a:lnSpc>
              <a:spcBef>
                <a:spcPts val="1200"/>
              </a:spcBef>
              <a:spcAft>
                <a:spcPts val="0"/>
              </a:spcAft>
              <a:buNone/>
            </a:pPr>
            <a:r>
              <a:rPr b="1" lang="en" sz="1200"/>
              <a:t>Univariate Analysis:</a:t>
            </a:r>
            <a:endParaRPr b="1" sz="1200"/>
          </a:p>
          <a:p>
            <a:pPr indent="-304800" lvl="0" marL="457200" rtl="0" algn="l">
              <a:lnSpc>
                <a:spcPct val="95000"/>
              </a:lnSpc>
              <a:spcBef>
                <a:spcPts val="1200"/>
              </a:spcBef>
              <a:spcAft>
                <a:spcPts val="0"/>
              </a:spcAft>
              <a:buClr>
                <a:schemeClr val="dk2"/>
              </a:buClr>
              <a:buSzPts val="1200"/>
              <a:buFont typeface="Arial"/>
              <a:buChar char="●"/>
            </a:pPr>
            <a:r>
              <a:rPr lang="en" sz="1200"/>
              <a:t>Use COUNT, AVERAGE, MEDIAN, and STDEV functions to analyze individual variables.</a:t>
            </a:r>
            <a:endParaRPr sz="1200"/>
          </a:p>
          <a:p>
            <a:pPr indent="-304800" lvl="0" marL="457200" rtl="0" algn="l">
              <a:lnSpc>
                <a:spcPct val="95000"/>
              </a:lnSpc>
              <a:spcBef>
                <a:spcPts val="0"/>
              </a:spcBef>
              <a:spcAft>
                <a:spcPts val="0"/>
              </a:spcAft>
              <a:buClr>
                <a:schemeClr val="dk2"/>
              </a:buClr>
              <a:buSzPts val="1200"/>
              <a:buFont typeface="Proxima Nova"/>
              <a:buChar char="●"/>
            </a:pPr>
            <a:r>
              <a:rPr lang="en" sz="1200"/>
              <a:t>Create histograms for distributions: Select the data range and insert a histogram.</a:t>
            </a:r>
            <a:endParaRPr sz="1200"/>
          </a:p>
          <a:p>
            <a:pPr indent="0" lvl="0" marL="0" rtl="0" algn="l">
              <a:lnSpc>
                <a:spcPct val="95000"/>
              </a:lnSpc>
              <a:spcBef>
                <a:spcPts val="1200"/>
              </a:spcBef>
              <a:spcAft>
                <a:spcPts val="0"/>
              </a:spcAft>
              <a:buNone/>
            </a:pPr>
            <a:r>
              <a:rPr b="1" lang="en" sz="1200"/>
              <a:t>Segmented Univariate Analysis:</a:t>
            </a:r>
            <a:endParaRPr b="1" sz="1200"/>
          </a:p>
          <a:p>
            <a:pPr indent="-304800" lvl="0" marL="457200" rtl="0" algn="l">
              <a:lnSpc>
                <a:spcPct val="95000"/>
              </a:lnSpc>
              <a:spcBef>
                <a:spcPts val="1200"/>
              </a:spcBef>
              <a:spcAft>
                <a:spcPts val="0"/>
              </a:spcAft>
              <a:buClr>
                <a:schemeClr val="dk2"/>
              </a:buClr>
              <a:buSzPts val="1200"/>
              <a:buFont typeface="Proxima Nova"/>
              <a:buChar char="●"/>
            </a:pPr>
            <a:r>
              <a:rPr lang="en" sz="1200"/>
              <a:t>Use filters or pivot tables to segment data by different loan outcomes and analyze distributions.</a:t>
            </a:r>
            <a:endParaRPr sz="1200"/>
          </a:p>
          <a:p>
            <a:pPr indent="0" lvl="0" marL="0" rtl="0" algn="l">
              <a:lnSpc>
                <a:spcPct val="95000"/>
              </a:lnSpc>
              <a:spcBef>
                <a:spcPts val="1200"/>
              </a:spcBef>
              <a:spcAft>
                <a:spcPts val="0"/>
              </a:spcAft>
              <a:buNone/>
            </a:pPr>
            <a:r>
              <a:rPr b="1" lang="en" sz="1200"/>
              <a:t>Bivariate Analysis:</a:t>
            </a:r>
            <a:endParaRPr b="1" sz="1200"/>
          </a:p>
          <a:p>
            <a:pPr indent="-304800" lvl="0" marL="457200" rtl="0" algn="l">
              <a:lnSpc>
                <a:spcPct val="95000"/>
              </a:lnSpc>
              <a:spcBef>
                <a:spcPts val="1200"/>
              </a:spcBef>
              <a:spcAft>
                <a:spcPts val="0"/>
              </a:spcAft>
              <a:buClr>
                <a:schemeClr val="dk2"/>
              </a:buClr>
              <a:buSzPts val="1200"/>
              <a:buFont typeface="Proxima Nova"/>
              <a:buChar char="●"/>
            </a:pPr>
            <a:r>
              <a:rPr lang="en" sz="1200"/>
              <a:t>Use scatter plots to analyze relationships between two variables. Select the two variables and insert a scatter plot.</a:t>
            </a:r>
            <a:endParaRPr sz="1200"/>
          </a:p>
        </p:txBody>
      </p:sp>
      <p:pic>
        <p:nvPicPr>
          <p:cNvPr id="253" name="Google Shape;253;p39"/>
          <p:cNvPicPr preferRelativeResize="0"/>
          <p:nvPr/>
        </p:nvPicPr>
        <p:blipFill>
          <a:blip r:embed="rId3">
            <a:alphaModFix/>
          </a:blip>
          <a:stretch>
            <a:fillRect/>
          </a:stretch>
        </p:blipFill>
        <p:spPr>
          <a:xfrm>
            <a:off x="6314003" y="0"/>
            <a:ext cx="2183093" cy="5143500"/>
          </a:xfrm>
          <a:prstGeom prst="rect">
            <a:avLst/>
          </a:prstGeom>
          <a:noFill/>
          <a:ln>
            <a:noFill/>
          </a:ln>
        </p:spPr>
      </p:pic>
      <p:sp>
        <p:nvSpPr>
          <p:cNvPr id="254" name="Google Shape;254;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0"/>
          <p:cNvSpPr txBox="1"/>
          <p:nvPr>
            <p:ph type="title"/>
          </p:nvPr>
        </p:nvSpPr>
        <p:spPr>
          <a:xfrm>
            <a:off x="311700" y="445025"/>
            <a:ext cx="8520600" cy="103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Univariate Analysis</a:t>
            </a:r>
            <a:endParaRPr/>
          </a:p>
        </p:txBody>
      </p:sp>
      <p:pic>
        <p:nvPicPr>
          <p:cNvPr id="260" name="Google Shape;260;p40"/>
          <p:cNvPicPr preferRelativeResize="0"/>
          <p:nvPr/>
        </p:nvPicPr>
        <p:blipFill>
          <a:blip r:embed="rId3">
            <a:alphaModFix/>
          </a:blip>
          <a:stretch>
            <a:fillRect/>
          </a:stretch>
        </p:blipFill>
        <p:spPr>
          <a:xfrm>
            <a:off x="265325" y="1232325"/>
            <a:ext cx="7275575" cy="3358375"/>
          </a:xfrm>
          <a:prstGeom prst="rect">
            <a:avLst/>
          </a:prstGeom>
          <a:noFill/>
          <a:ln>
            <a:noFill/>
          </a:ln>
        </p:spPr>
      </p:pic>
      <p:sp>
        <p:nvSpPr>
          <p:cNvPr id="261" name="Google Shape;261;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1"/>
          <p:cNvSpPr txBox="1"/>
          <p:nvPr>
            <p:ph type="title"/>
          </p:nvPr>
        </p:nvSpPr>
        <p:spPr>
          <a:xfrm>
            <a:off x="311700" y="445025"/>
            <a:ext cx="8520600" cy="103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Univariate Analysis</a:t>
            </a:r>
            <a:endParaRPr/>
          </a:p>
        </p:txBody>
      </p:sp>
      <p:pic>
        <p:nvPicPr>
          <p:cNvPr id="267" name="Google Shape;267;p41"/>
          <p:cNvPicPr preferRelativeResize="0"/>
          <p:nvPr/>
        </p:nvPicPr>
        <p:blipFill>
          <a:blip r:embed="rId3">
            <a:alphaModFix/>
          </a:blip>
          <a:stretch>
            <a:fillRect/>
          </a:stretch>
        </p:blipFill>
        <p:spPr>
          <a:xfrm>
            <a:off x="152400" y="1191600"/>
            <a:ext cx="8245575" cy="3799500"/>
          </a:xfrm>
          <a:prstGeom prst="rect">
            <a:avLst/>
          </a:prstGeom>
          <a:noFill/>
          <a:ln>
            <a:noFill/>
          </a:ln>
        </p:spPr>
      </p:pic>
      <p:sp>
        <p:nvSpPr>
          <p:cNvPr id="268" name="Google Shape;268;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2"/>
          <p:cNvSpPr txBox="1"/>
          <p:nvPr>
            <p:ph type="title"/>
          </p:nvPr>
        </p:nvSpPr>
        <p:spPr>
          <a:xfrm>
            <a:off x="311700" y="445025"/>
            <a:ext cx="8520600" cy="103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Segmented </a:t>
            </a:r>
            <a:r>
              <a:rPr lang="en"/>
              <a:t>Univariate Analysis</a:t>
            </a:r>
            <a:endParaRPr/>
          </a:p>
        </p:txBody>
      </p:sp>
      <p:sp>
        <p:nvSpPr>
          <p:cNvPr id="274" name="Google Shape;274;p42"/>
          <p:cNvSpPr txBox="1"/>
          <p:nvPr>
            <p:ph idx="1" type="body"/>
          </p:nvPr>
        </p:nvSpPr>
        <p:spPr>
          <a:xfrm>
            <a:off x="311700" y="1737075"/>
            <a:ext cx="8520600" cy="2831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Using Python</a:t>
            </a:r>
            <a:endParaRPr/>
          </a:p>
        </p:txBody>
      </p:sp>
      <p:pic>
        <p:nvPicPr>
          <p:cNvPr id="275" name="Google Shape;275;p42"/>
          <p:cNvPicPr preferRelativeResize="0"/>
          <p:nvPr/>
        </p:nvPicPr>
        <p:blipFill>
          <a:blip r:embed="rId3">
            <a:alphaModFix/>
          </a:blip>
          <a:stretch>
            <a:fillRect/>
          </a:stretch>
        </p:blipFill>
        <p:spPr>
          <a:xfrm>
            <a:off x="61550" y="2834587"/>
            <a:ext cx="9143998" cy="1527676"/>
          </a:xfrm>
          <a:prstGeom prst="rect">
            <a:avLst/>
          </a:prstGeom>
          <a:noFill/>
          <a:ln>
            <a:noFill/>
          </a:ln>
        </p:spPr>
      </p:pic>
      <p:sp>
        <p:nvSpPr>
          <p:cNvPr id="276" name="Google Shape;276;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3"/>
          <p:cNvSpPr txBox="1"/>
          <p:nvPr>
            <p:ph type="title"/>
          </p:nvPr>
        </p:nvSpPr>
        <p:spPr>
          <a:xfrm>
            <a:off x="311700" y="445025"/>
            <a:ext cx="8520600" cy="103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Segmented Univariate Analysis</a:t>
            </a:r>
            <a:endParaRPr/>
          </a:p>
        </p:txBody>
      </p:sp>
      <p:sp>
        <p:nvSpPr>
          <p:cNvPr id="282" name="Google Shape;282;p43"/>
          <p:cNvSpPr txBox="1"/>
          <p:nvPr>
            <p:ph idx="1" type="body"/>
          </p:nvPr>
        </p:nvSpPr>
        <p:spPr>
          <a:xfrm>
            <a:off x="311700" y="1696000"/>
            <a:ext cx="3959100" cy="2831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Using Excel</a:t>
            </a:r>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Using </a:t>
            </a:r>
            <a:r>
              <a:rPr b="1" lang="en" sz="1100">
                <a:solidFill>
                  <a:srgbClr val="000000"/>
                </a:solidFill>
                <a:latin typeface="Arial"/>
                <a:ea typeface="Arial"/>
                <a:cs typeface="Arial"/>
                <a:sym typeface="Arial"/>
              </a:rPr>
              <a:t>Pivot Tables:</a:t>
            </a: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Select your data range.</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Go to </a:t>
            </a:r>
            <a:r>
              <a:rPr lang="en" sz="1100">
                <a:solidFill>
                  <a:srgbClr val="188038"/>
                </a:solidFill>
                <a:latin typeface="Roboto Mono"/>
                <a:ea typeface="Roboto Mono"/>
                <a:cs typeface="Roboto Mono"/>
                <a:sym typeface="Roboto Mono"/>
              </a:rPr>
              <a:t>Insert</a:t>
            </a:r>
            <a:r>
              <a:rPr lang="en" sz="1100">
                <a:solidFill>
                  <a:srgbClr val="000000"/>
                </a:solidFill>
                <a:latin typeface="Arial"/>
                <a:ea typeface="Arial"/>
                <a:cs typeface="Arial"/>
                <a:sym typeface="Arial"/>
              </a:rPr>
              <a:t> &gt; </a:t>
            </a:r>
            <a:r>
              <a:rPr lang="en" sz="1100">
                <a:solidFill>
                  <a:srgbClr val="188038"/>
                </a:solidFill>
                <a:latin typeface="Roboto Mono"/>
                <a:ea typeface="Roboto Mono"/>
                <a:cs typeface="Roboto Mono"/>
                <a:sym typeface="Roboto Mono"/>
              </a:rPr>
              <a:t>PivotTable</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Drag variables to rows and columns to compare distributions.</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Use the </a:t>
            </a:r>
            <a:r>
              <a:rPr lang="en" sz="1100">
                <a:solidFill>
                  <a:srgbClr val="188038"/>
                </a:solidFill>
                <a:latin typeface="Roboto Mono"/>
                <a:ea typeface="Roboto Mono"/>
                <a:cs typeface="Roboto Mono"/>
                <a:sym typeface="Roboto Mono"/>
              </a:rPr>
              <a:t>Values</a:t>
            </a:r>
            <a:r>
              <a:rPr lang="en" sz="1100">
                <a:solidFill>
                  <a:srgbClr val="000000"/>
                </a:solidFill>
                <a:latin typeface="Arial"/>
                <a:ea typeface="Arial"/>
                <a:cs typeface="Arial"/>
                <a:sym typeface="Arial"/>
              </a:rPr>
              <a:t> area to display summary statistics like count, average, or median.</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pic>
        <p:nvPicPr>
          <p:cNvPr id="283" name="Google Shape;283;p43"/>
          <p:cNvPicPr preferRelativeResize="0"/>
          <p:nvPr/>
        </p:nvPicPr>
        <p:blipFill>
          <a:blip r:embed="rId3">
            <a:alphaModFix/>
          </a:blip>
          <a:stretch>
            <a:fillRect/>
          </a:stretch>
        </p:blipFill>
        <p:spPr>
          <a:xfrm>
            <a:off x="5400150" y="1339025"/>
            <a:ext cx="3078124" cy="3241975"/>
          </a:xfrm>
          <a:prstGeom prst="rect">
            <a:avLst/>
          </a:prstGeom>
          <a:noFill/>
          <a:ln>
            <a:noFill/>
          </a:ln>
        </p:spPr>
      </p:pic>
      <p:sp>
        <p:nvSpPr>
          <p:cNvPr id="284" name="Google Shape;284;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4"/>
          <p:cNvSpPr txBox="1"/>
          <p:nvPr>
            <p:ph type="title"/>
          </p:nvPr>
        </p:nvSpPr>
        <p:spPr>
          <a:xfrm>
            <a:off x="311700" y="445025"/>
            <a:ext cx="8520600" cy="103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Segmented Univariate Analysis</a:t>
            </a:r>
            <a:endParaRPr/>
          </a:p>
        </p:txBody>
      </p:sp>
      <p:pic>
        <p:nvPicPr>
          <p:cNvPr id="290" name="Google Shape;290;p44"/>
          <p:cNvPicPr preferRelativeResize="0"/>
          <p:nvPr/>
        </p:nvPicPr>
        <p:blipFill rotWithShape="1">
          <a:blip r:embed="rId3">
            <a:alphaModFix/>
          </a:blip>
          <a:srcRect b="0" l="1064" r="1299" t="0"/>
          <a:stretch/>
        </p:blipFill>
        <p:spPr>
          <a:xfrm>
            <a:off x="636525" y="1326425"/>
            <a:ext cx="7374899" cy="3471200"/>
          </a:xfrm>
          <a:prstGeom prst="rect">
            <a:avLst/>
          </a:prstGeom>
          <a:noFill/>
          <a:ln>
            <a:noFill/>
          </a:ln>
        </p:spPr>
      </p:pic>
      <p:sp>
        <p:nvSpPr>
          <p:cNvPr id="291" name="Google Shape;291;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5"/>
          <p:cNvSpPr txBox="1"/>
          <p:nvPr>
            <p:ph type="title"/>
          </p:nvPr>
        </p:nvSpPr>
        <p:spPr>
          <a:xfrm>
            <a:off x="311700" y="445025"/>
            <a:ext cx="8520600" cy="103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Segmented Univariate Analysis</a:t>
            </a:r>
            <a:endParaRPr/>
          </a:p>
        </p:txBody>
      </p:sp>
      <p:pic>
        <p:nvPicPr>
          <p:cNvPr id="297" name="Google Shape;297;p45"/>
          <p:cNvPicPr preferRelativeResize="0"/>
          <p:nvPr/>
        </p:nvPicPr>
        <p:blipFill>
          <a:blip r:embed="rId3">
            <a:alphaModFix/>
          </a:blip>
          <a:stretch>
            <a:fillRect/>
          </a:stretch>
        </p:blipFill>
        <p:spPr>
          <a:xfrm>
            <a:off x="152400" y="1356325"/>
            <a:ext cx="8132652" cy="3634776"/>
          </a:xfrm>
          <a:prstGeom prst="rect">
            <a:avLst/>
          </a:prstGeom>
          <a:noFill/>
          <a:ln>
            <a:noFill/>
          </a:ln>
        </p:spPr>
      </p:pic>
      <p:sp>
        <p:nvSpPr>
          <p:cNvPr id="298" name="Google Shape;298;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6"/>
          <p:cNvSpPr txBox="1"/>
          <p:nvPr>
            <p:ph type="title"/>
          </p:nvPr>
        </p:nvSpPr>
        <p:spPr>
          <a:xfrm>
            <a:off x="311700" y="445025"/>
            <a:ext cx="8520600" cy="103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Bivariate Analysis</a:t>
            </a:r>
            <a:endParaRPr/>
          </a:p>
        </p:txBody>
      </p:sp>
      <p:sp>
        <p:nvSpPr>
          <p:cNvPr id="304" name="Google Shape;304;p46"/>
          <p:cNvSpPr txBox="1"/>
          <p:nvPr>
            <p:ph idx="1" type="body"/>
          </p:nvPr>
        </p:nvSpPr>
        <p:spPr>
          <a:xfrm>
            <a:off x="311700" y="1024350"/>
            <a:ext cx="8520600" cy="3544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Using Python</a:t>
            </a:r>
            <a:endParaRPr/>
          </a:p>
        </p:txBody>
      </p:sp>
      <p:pic>
        <p:nvPicPr>
          <p:cNvPr id="305" name="Google Shape;305;p46"/>
          <p:cNvPicPr preferRelativeResize="0"/>
          <p:nvPr/>
        </p:nvPicPr>
        <p:blipFill>
          <a:blip r:embed="rId3">
            <a:alphaModFix/>
          </a:blip>
          <a:stretch>
            <a:fillRect/>
          </a:stretch>
        </p:blipFill>
        <p:spPr>
          <a:xfrm>
            <a:off x="758092" y="1367400"/>
            <a:ext cx="7627822" cy="3544425"/>
          </a:xfrm>
          <a:prstGeom prst="rect">
            <a:avLst/>
          </a:prstGeom>
          <a:noFill/>
          <a:ln>
            <a:noFill/>
          </a:ln>
        </p:spPr>
      </p:pic>
      <p:sp>
        <p:nvSpPr>
          <p:cNvPr id="306" name="Google Shape;306;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7"/>
          <p:cNvSpPr txBox="1"/>
          <p:nvPr>
            <p:ph type="title"/>
          </p:nvPr>
        </p:nvSpPr>
        <p:spPr>
          <a:xfrm>
            <a:off x="311700" y="445025"/>
            <a:ext cx="8520600" cy="103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Bivariate Analysis</a:t>
            </a:r>
            <a:endParaRPr/>
          </a:p>
        </p:txBody>
      </p:sp>
      <p:pic>
        <p:nvPicPr>
          <p:cNvPr id="312" name="Google Shape;312;p47"/>
          <p:cNvPicPr preferRelativeResize="0"/>
          <p:nvPr/>
        </p:nvPicPr>
        <p:blipFill>
          <a:blip r:embed="rId3">
            <a:alphaModFix/>
          </a:blip>
          <a:stretch>
            <a:fillRect/>
          </a:stretch>
        </p:blipFill>
        <p:spPr>
          <a:xfrm>
            <a:off x="142125" y="1557150"/>
            <a:ext cx="4313499" cy="2756375"/>
          </a:xfrm>
          <a:prstGeom prst="rect">
            <a:avLst/>
          </a:prstGeom>
          <a:noFill/>
          <a:ln>
            <a:noFill/>
          </a:ln>
        </p:spPr>
      </p:pic>
      <p:pic>
        <p:nvPicPr>
          <p:cNvPr id="313" name="Google Shape;313;p47"/>
          <p:cNvPicPr preferRelativeResize="0"/>
          <p:nvPr/>
        </p:nvPicPr>
        <p:blipFill>
          <a:blip r:embed="rId4">
            <a:alphaModFix/>
          </a:blip>
          <a:stretch>
            <a:fillRect/>
          </a:stretch>
        </p:blipFill>
        <p:spPr>
          <a:xfrm>
            <a:off x="4572000" y="1557150"/>
            <a:ext cx="4572000" cy="2688905"/>
          </a:xfrm>
          <a:prstGeom prst="rect">
            <a:avLst/>
          </a:prstGeom>
          <a:noFill/>
          <a:ln>
            <a:noFill/>
          </a:ln>
        </p:spPr>
      </p:pic>
      <p:sp>
        <p:nvSpPr>
          <p:cNvPr id="314" name="Google Shape;314;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8"/>
          <p:cNvSpPr txBox="1"/>
          <p:nvPr>
            <p:ph type="title"/>
          </p:nvPr>
        </p:nvSpPr>
        <p:spPr>
          <a:xfrm>
            <a:off x="311700" y="445025"/>
            <a:ext cx="8520600" cy="103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Bivariate Analysis</a:t>
            </a:r>
            <a:endParaRPr/>
          </a:p>
        </p:txBody>
      </p:sp>
      <p:pic>
        <p:nvPicPr>
          <p:cNvPr id="320" name="Google Shape;320;p48"/>
          <p:cNvPicPr preferRelativeResize="0"/>
          <p:nvPr/>
        </p:nvPicPr>
        <p:blipFill>
          <a:blip r:embed="rId3">
            <a:alphaModFix/>
          </a:blip>
          <a:stretch>
            <a:fillRect/>
          </a:stretch>
        </p:blipFill>
        <p:spPr>
          <a:xfrm>
            <a:off x="419325" y="1188350"/>
            <a:ext cx="7814376" cy="3741175"/>
          </a:xfrm>
          <a:prstGeom prst="rect">
            <a:avLst/>
          </a:prstGeom>
          <a:noFill/>
          <a:ln>
            <a:noFill/>
          </a:ln>
        </p:spPr>
      </p:pic>
      <p:sp>
        <p:nvSpPr>
          <p:cNvPr id="321" name="Google Shape;321;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9"/>
          <p:cNvSpPr txBox="1"/>
          <p:nvPr>
            <p:ph type="title"/>
          </p:nvPr>
        </p:nvSpPr>
        <p:spPr>
          <a:xfrm>
            <a:off x="311700" y="445025"/>
            <a:ext cx="8520600" cy="103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Bivariate Analysis</a:t>
            </a:r>
            <a:endParaRPr/>
          </a:p>
        </p:txBody>
      </p:sp>
      <p:pic>
        <p:nvPicPr>
          <p:cNvPr id="327" name="Google Shape;327;p49"/>
          <p:cNvPicPr preferRelativeResize="0"/>
          <p:nvPr/>
        </p:nvPicPr>
        <p:blipFill>
          <a:blip r:embed="rId3">
            <a:alphaModFix/>
          </a:blip>
          <a:stretch>
            <a:fillRect/>
          </a:stretch>
        </p:blipFill>
        <p:spPr>
          <a:xfrm>
            <a:off x="819725" y="1264825"/>
            <a:ext cx="7365424" cy="3500400"/>
          </a:xfrm>
          <a:prstGeom prst="rect">
            <a:avLst/>
          </a:prstGeom>
          <a:noFill/>
          <a:ln>
            <a:noFill/>
          </a:ln>
        </p:spPr>
      </p:pic>
      <p:sp>
        <p:nvSpPr>
          <p:cNvPr id="328" name="Google Shape;328;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type="title"/>
          </p:nvPr>
        </p:nvSpPr>
        <p:spPr>
          <a:xfrm>
            <a:off x="490250" y="526350"/>
            <a:ext cx="813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Task 5 </a:t>
            </a:r>
            <a:endParaRPr/>
          </a:p>
          <a:p>
            <a:pPr indent="0" lvl="0" marL="0" rtl="0" algn="l">
              <a:lnSpc>
                <a:spcPct val="70000"/>
              </a:lnSpc>
              <a:spcBef>
                <a:spcPts val="1000"/>
              </a:spcBef>
              <a:spcAft>
                <a:spcPts val="0"/>
              </a:spcAft>
              <a:buNone/>
            </a:pPr>
            <a:r>
              <a:rPr lang="en" sz="3000"/>
              <a:t>Identify Top Correlations for Different Scenarios</a:t>
            </a:r>
            <a:r>
              <a:rPr lang="en"/>
              <a:t> </a:t>
            </a:r>
            <a:endParaRPr/>
          </a:p>
        </p:txBody>
      </p:sp>
      <p:sp>
        <p:nvSpPr>
          <p:cNvPr id="334" name="Google Shape;334;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51"/>
          <p:cNvSpPr txBox="1"/>
          <p:nvPr>
            <p:ph type="title"/>
          </p:nvPr>
        </p:nvSpPr>
        <p:spPr>
          <a:xfrm>
            <a:off x="311700" y="445025"/>
            <a:ext cx="8520600" cy="1035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5</a:t>
            </a:r>
            <a:r>
              <a:rPr lang="en"/>
              <a:t>. </a:t>
            </a:r>
            <a:r>
              <a:rPr lang="en"/>
              <a:t>Identify Top Correlations for Different Scenarios</a:t>
            </a:r>
            <a:endParaRPr/>
          </a:p>
        </p:txBody>
      </p:sp>
      <p:sp>
        <p:nvSpPr>
          <p:cNvPr id="340" name="Google Shape;340;p51"/>
          <p:cNvSpPr txBox="1"/>
          <p:nvPr>
            <p:ph idx="1" type="body"/>
          </p:nvPr>
        </p:nvSpPr>
        <p:spPr>
          <a:xfrm>
            <a:off x="311700" y="1737075"/>
            <a:ext cx="8520600" cy="2831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300"/>
              <a:t>Correlation Coefficient: Measure the strength and direction of the relationship between two numerical variables.</a:t>
            </a:r>
            <a:endParaRPr b="1" sz="1300"/>
          </a:p>
          <a:p>
            <a:pPr indent="0" lvl="0" marL="0" rtl="0" algn="l">
              <a:spcBef>
                <a:spcPts val="1200"/>
              </a:spcBef>
              <a:spcAft>
                <a:spcPts val="0"/>
              </a:spcAft>
              <a:buNone/>
            </a:pPr>
            <a:r>
              <a:rPr b="1" lang="en" sz="1300"/>
              <a:t>In </a:t>
            </a:r>
            <a:r>
              <a:rPr b="1" lang="en" sz="1300"/>
              <a:t>excel</a:t>
            </a:r>
            <a:r>
              <a:rPr b="1" lang="en" sz="1300"/>
              <a:t> we use the</a:t>
            </a:r>
            <a:r>
              <a:rPr b="1" lang="en" sz="1300">
                <a:highlight>
                  <a:srgbClr val="FFFF00"/>
                </a:highlight>
              </a:rPr>
              <a:t> </a:t>
            </a:r>
            <a:r>
              <a:rPr b="1" lang="en" sz="1300" u="sng">
                <a:highlight>
                  <a:srgbClr val="FFFF00"/>
                </a:highlight>
              </a:rPr>
              <a:t>=CORREL(A:A, B:B) </a:t>
            </a:r>
            <a:r>
              <a:rPr b="1" lang="en" sz="1300"/>
              <a:t>formula</a:t>
            </a:r>
            <a:endParaRPr b="1" sz="1300"/>
          </a:p>
          <a:p>
            <a:pPr indent="0" lvl="0" marL="0" rtl="0" algn="l">
              <a:spcBef>
                <a:spcPts val="1200"/>
              </a:spcBef>
              <a:spcAft>
                <a:spcPts val="0"/>
              </a:spcAft>
              <a:buNone/>
            </a:pPr>
            <a:r>
              <a:rPr b="1" lang="en" sz="1300"/>
              <a:t>In python we use .corr() function and plot </a:t>
            </a:r>
            <a:r>
              <a:rPr b="1" lang="en" sz="1300"/>
              <a:t>heatmap</a:t>
            </a:r>
            <a:endParaRPr b="1" sz="1300"/>
          </a:p>
          <a:p>
            <a:pPr indent="0" lvl="0" marL="0" rtl="0" algn="l">
              <a:spcBef>
                <a:spcPts val="1200"/>
              </a:spcBef>
              <a:spcAft>
                <a:spcPts val="0"/>
              </a:spcAft>
              <a:buNone/>
            </a:pPr>
            <a:r>
              <a:t/>
            </a:r>
            <a:endParaRPr b="1" sz="1300"/>
          </a:p>
          <a:p>
            <a:pPr indent="0" lvl="0" marL="0" rtl="0" algn="l">
              <a:spcBef>
                <a:spcPts val="1200"/>
              </a:spcBef>
              <a:spcAft>
                <a:spcPts val="1200"/>
              </a:spcAft>
              <a:buNone/>
            </a:pPr>
            <a:r>
              <a:t/>
            </a:r>
            <a:endParaRPr b="1" sz="1300"/>
          </a:p>
        </p:txBody>
      </p:sp>
      <p:pic>
        <p:nvPicPr>
          <p:cNvPr id="341" name="Google Shape;341;p51"/>
          <p:cNvPicPr preferRelativeResize="0"/>
          <p:nvPr/>
        </p:nvPicPr>
        <p:blipFill>
          <a:blip r:embed="rId3">
            <a:alphaModFix/>
          </a:blip>
          <a:stretch>
            <a:fillRect/>
          </a:stretch>
        </p:blipFill>
        <p:spPr>
          <a:xfrm>
            <a:off x="655125" y="3233575"/>
            <a:ext cx="5956476" cy="1265975"/>
          </a:xfrm>
          <a:prstGeom prst="rect">
            <a:avLst/>
          </a:prstGeom>
          <a:noFill/>
          <a:ln>
            <a:noFill/>
          </a:ln>
        </p:spPr>
      </p:pic>
      <p:sp>
        <p:nvSpPr>
          <p:cNvPr id="342" name="Google Shape;342;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2"/>
          <p:cNvSpPr txBox="1"/>
          <p:nvPr>
            <p:ph type="title"/>
          </p:nvPr>
        </p:nvSpPr>
        <p:spPr>
          <a:xfrm>
            <a:off x="311700" y="445025"/>
            <a:ext cx="8520600" cy="1035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5. Identify Top Correlations for Different Scenarios</a:t>
            </a:r>
            <a:endParaRPr/>
          </a:p>
        </p:txBody>
      </p:sp>
      <p:pic>
        <p:nvPicPr>
          <p:cNvPr id="348" name="Google Shape;348;p52"/>
          <p:cNvPicPr preferRelativeResize="0"/>
          <p:nvPr/>
        </p:nvPicPr>
        <p:blipFill>
          <a:blip r:embed="rId3">
            <a:alphaModFix/>
          </a:blip>
          <a:stretch>
            <a:fillRect/>
          </a:stretch>
        </p:blipFill>
        <p:spPr>
          <a:xfrm>
            <a:off x="5532050" y="1418725"/>
            <a:ext cx="2960811" cy="3358376"/>
          </a:xfrm>
          <a:prstGeom prst="rect">
            <a:avLst/>
          </a:prstGeom>
          <a:noFill/>
          <a:ln>
            <a:noFill/>
          </a:ln>
        </p:spPr>
      </p:pic>
      <p:sp>
        <p:nvSpPr>
          <p:cNvPr id="349" name="Google Shape;349;p52"/>
          <p:cNvSpPr txBox="1"/>
          <p:nvPr>
            <p:ph idx="1" type="body"/>
          </p:nvPr>
        </p:nvSpPr>
        <p:spPr>
          <a:xfrm>
            <a:off x="311700" y="1737075"/>
            <a:ext cx="4585500" cy="2831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t>Top 10 positive and negative correlations using Python</a:t>
            </a:r>
            <a:endParaRPr b="1" sz="1200"/>
          </a:p>
          <a:p>
            <a:pPr indent="0" lvl="0" marL="0" rtl="0" algn="l">
              <a:spcBef>
                <a:spcPts val="1400"/>
              </a:spcBef>
              <a:spcAft>
                <a:spcPts val="0"/>
              </a:spcAft>
              <a:buNone/>
            </a:pPr>
            <a:r>
              <a:rPr b="1" lang="en" sz="1200"/>
              <a:t>Positive Correlation</a:t>
            </a:r>
            <a:endParaRPr b="1" sz="1200"/>
          </a:p>
          <a:p>
            <a:pPr indent="-304800" lvl="0" marL="457200" rtl="0" algn="l">
              <a:spcBef>
                <a:spcPts val="1200"/>
              </a:spcBef>
              <a:spcAft>
                <a:spcPts val="0"/>
              </a:spcAft>
              <a:buClr>
                <a:schemeClr val="dk2"/>
              </a:buClr>
              <a:buSzPts val="1200"/>
              <a:buFont typeface="Proxima Nova"/>
              <a:buChar char="●"/>
            </a:pPr>
            <a:r>
              <a:rPr lang="en" sz="1200"/>
              <a:t>When two variables have a positive correlation, they tend to increase or decrease together. As one variable increases, the other variable also increases. A p</a:t>
            </a:r>
            <a:r>
              <a:rPr lang="en" sz="1200"/>
              <a:t>o</a:t>
            </a:r>
            <a:r>
              <a:rPr lang="en" sz="1200"/>
              <a:t>sitive correlation coefficient ranges from 0 to +1.</a:t>
            </a:r>
            <a:endParaRPr sz="1200"/>
          </a:p>
          <a:p>
            <a:pPr indent="0" lvl="0" marL="0" rtl="0" algn="l">
              <a:spcBef>
                <a:spcPts val="1400"/>
              </a:spcBef>
              <a:spcAft>
                <a:spcPts val="0"/>
              </a:spcAft>
              <a:buNone/>
            </a:pPr>
            <a:r>
              <a:rPr b="1" lang="en" sz="1200"/>
              <a:t>Negative Correlation</a:t>
            </a:r>
            <a:endParaRPr b="1" sz="1200"/>
          </a:p>
          <a:p>
            <a:pPr indent="-304800" lvl="0" marL="457200" rtl="0" algn="l">
              <a:spcBef>
                <a:spcPts val="1200"/>
              </a:spcBef>
              <a:spcAft>
                <a:spcPts val="0"/>
              </a:spcAft>
              <a:buClr>
                <a:schemeClr val="dk2"/>
              </a:buClr>
              <a:buSzPts val="1200"/>
              <a:buFont typeface="Proxima Nova"/>
              <a:buChar char="●"/>
            </a:pPr>
            <a:r>
              <a:rPr lang="en" sz="1200"/>
              <a:t>When two variables have a negative correlation, one variable tends to increase while the other variable decreases. As one variable increases, the other variable tends to decrease. A negative correlation coefficient ranges from -1 to 0</a:t>
            </a:r>
            <a:endParaRPr sz="1200"/>
          </a:p>
        </p:txBody>
      </p:sp>
      <p:sp>
        <p:nvSpPr>
          <p:cNvPr id="350" name="Google Shape;350;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51" name="Google Shape;351;p52"/>
          <p:cNvSpPr/>
          <p:nvPr/>
        </p:nvSpPr>
        <p:spPr>
          <a:xfrm>
            <a:off x="4394050" y="1819225"/>
            <a:ext cx="893100" cy="153900"/>
          </a:xfrm>
          <a:prstGeom prst="rightArrow">
            <a:avLst>
              <a:gd fmla="val 50000" name="adj1"/>
              <a:gd fmla="val 50000" name="adj2"/>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53"/>
          <p:cNvSpPr txBox="1"/>
          <p:nvPr>
            <p:ph type="title"/>
          </p:nvPr>
        </p:nvSpPr>
        <p:spPr>
          <a:xfrm>
            <a:off x="311700" y="445025"/>
            <a:ext cx="8520600" cy="1035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5. Identify Top Correlations for Different Scenarios</a:t>
            </a:r>
            <a:endParaRPr/>
          </a:p>
        </p:txBody>
      </p:sp>
      <p:pic>
        <p:nvPicPr>
          <p:cNvPr id="357" name="Google Shape;357;p53"/>
          <p:cNvPicPr preferRelativeResize="0"/>
          <p:nvPr/>
        </p:nvPicPr>
        <p:blipFill>
          <a:blip r:embed="rId3">
            <a:alphaModFix/>
          </a:blip>
          <a:stretch>
            <a:fillRect/>
          </a:stretch>
        </p:blipFill>
        <p:spPr>
          <a:xfrm>
            <a:off x="152400" y="1632725"/>
            <a:ext cx="7290649" cy="3358375"/>
          </a:xfrm>
          <a:prstGeom prst="rect">
            <a:avLst/>
          </a:prstGeom>
          <a:noFill/>
          <a:ln>
            <a:noFill/>
          </a:ln>
        </p:spPr>
      </p:pic>
      <p:sp>
        <p:nvSpPr>
          <p:cNvPr id="358" name="Google Shape;358;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4"/>
          <p:cNvSpPr txBox="1"/>
          <p:nvPr>
            <p:ph type="title"/>
          </p:nvPr>
        </p:nvSpPr>
        <p:spPr>
          <a:xfrm>
            <a:off x="311700" y="445025"/>
            <a:ext cx="8520600" cy="1035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5. Identify Top Correlations for Different Scenarios</a:t>
            </a:r>
            <a:endParaRPr/>
          </a:p>
        </p:txBody>
      </p:sp>
      <p:pic>
        <p:nvPicPr>
          <p:cNvPr id="364" name="Google Shape;364;p54"/>
          <p:cNvPicPr preferRelativeResize="0"/>
          <p:nvPr/>
        </p:nvPicPr>
        <p:blipFill>
          <a:blip r:embed="rId3">
            <a:alphaModFix/>
          </a:blip>
          <a:stretch>
            <a:fillRect/>
          </a:stretch>
        </p:blipFill>
        <p:spPr>
          <a:xfrm>
            <a:off x="152400" y="1632725"/>
            <a:ext cx="8839201" cy="3093720"/>
          </a:xfrm>
          <a:prstGeom prst="rect">
            <a:avLst/>
          </a:prstGeom>
          <a:noFill/>
          <a:ln>
            <a:noFill/>
          </a:ln>
        </p:spPr>
      </p:pic>
      <p:sp>
        <p:nvSpPr>
          <p:cNvPr id="365" name="Google Shape;365;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55"/>
          <p:cNvSpPr txBox="1"/>
          <p:nvPr>
            <p:ph type="title"/>
          </p:nvPr>
        </p:nvSpPr>
        <p:spPr>
          <a:xfrm>
            <a:off x="311700" y="445025"/>
            <a:ext cx="8520600" cy="1035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5. Identify Top Correlations for Different Scenarios</a:t>
            </a:r>
            <a:endParaRPr/>
          </a:p>
        </p:txBody>
      </p:sp>
      <p:pic>
        <p:nvPicPr>
          <p:cNvPr id="371" name="Google Shape;371;p55"/>
          <p:cNvPicPr preferRelativeResize="0"/>
          <p:nvPr/>
        </p:nvPicPr>
        <p:blipFill rotWithShape="1">
          <a:blip r:embed="rId3">
            <a:alphaModFix/>
          </a:blip>
          <a:srcRect b="0" l="0" r="1970" t="0"/>
          <a:stretch/>
        </p:blipFill>
        <p:spPr>
          <a:xfrm>
            <a:off x="152400" y="1632725"/>
            <a:ext cx="8235300" cy="2600325"/>
          </a:xfrm>
          <a:prstGeom prst="rect">
            <a:avLst/>
          </a:prstGeom>
          <a:noFill/>
          <a:ln>
            <a:noFill/>
          </a:ln>
        </p:spPr>
      </p:pic>
      <p:sp>
        <p:nvSpPr>
          <p:cNvPr id="372" name="Google Shape;372;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56"/>
          <p:cNvSpPr txBox="1"/>
          <p:nvPr>
            <p:ph type="title"/>
          </p:nvPr>
        </p:nvSpPr>
        <p:spPr>
          <a:xfrm>
            <a:off x="311700" y="2480550"/>
            <a:ext cx="8733000" cy="24459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Project Report</a:t>
            </a:r>
            <a:endParaRPr/>
          </a:p>
        </p:txBody>
      </p:sp>
      <p:sp>
        <p:nvSpPr>
          <p:cNvPr id="378" name="Google Shape;378;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Description</a:t>
            </a:r>
            <a:endParaRPr/>
          </a:p>
        </p:txBody>
      </p:sp>
      <p:sp>
        <p:nvSpPr>
          <p:cNvPr id="384" name="Google Shape;384;p57"/>
          <p:cNvSpPr txBox="1"/>
          <p:nvPr>
            <p:ph idx="1" type="body"/>
          </p:nvPr>
        </p:nvSpPr>
        <p:spPr>
          <a:xfrm>
            <a:off x="311700" y="1388025"/>
            <a:ext cx="8520600" cy="31809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SzPts val="1700"/>
              <a:buChar char="●"/>
            </a:pPr>
            <a:r>
              <a:rPr b="1" lang="en" sz="1700"/>
              <a:t>The primary goal of this project is to analyze loan application data to identify patterns and factors that influence loan default. This analysis aims to help the finance company make better decisions regarding loan approvals and mitigate risks associated with defaults</a:t>
            </a:r>
            <a:endParaRPr b="1" sz="1700"/>
          </a:p>
          <a:p>
            <a:pPr indent="-336550" lvl="0" marL="457200" rtl="0" algn="l">
              <a:spcBef>
                <a:spcPts val="0"/>
              </a:spcBef>
              <a:spcAft>
                <a:spcPts val="0"/>
              </a:spcAft>
              <a:buSzPts val="1700"/>
              <a:buChar char="●"/>
            </a:pPr>
            <a:r>
              <a:rPr b="1" lang="en" sz="1700"/>
              <a:t>Given dataset includes information on loan applications, customer attributes, and loan attributes</a:t>
            </a:r>
            <a:endParaRPr b="1" sz="1700"/>
          </a:p>
          <a:p>
            <a:pPr indent="-336550" lvl="0" marL="457200" rtl="0" algn="l">
              <a:spcBef>
                <a:spcPts val="0"/>
              </a:spcBef>
              <a:spcAft>
                <a:spcPts val="0"/>
              </a:spcAft>
              <a:buSzPts val="1700"/>
              <a:buChar char="●"/>
            </a:pPr>
            <a:r>
              <a:rPr b="1" lang="en" sz="1700"/>
              <a:t>The analysis will cover missing data, outliers, data imbalance, and the relationship between variables and loan default</a:t>
            </a:r>
            <a:endParaRPr b="1" sz="1700"/>
          </a:p>
          <a:p>
            <a:pPr indent="0" lvl="0" marL="0" rtl="0" algn="l">
              <a:spcBef>
                <a:spcPts val="1200"/>
              </a:spcBef>
              <a:spcAft>
                <a:spcPts val="1200"/>
              </a:spcAft>
              <a:buNone/>
            </a:pPr>
            <a:r>
              <a:t/>
            </a:r>
            <a:endParaRPr b="1" sz="1700"/>
          </a:p>
        </p:txBody>
      </p:sp>
      <p:sp>
        <p:nvSpPr>
          <p:cNvPr id="385" name="Google Shape;385;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Approach</a:t>
            </a:r>
            <a:endParaRPr/>
          </a:p>
        </p:txBody>
      </p:sp>
      <p:sp>
        <p:nvSpPr>
          <p:cNvPr id="391" name="Google Shape;391;p58"/>
          <p:cNvSpPr txBox="1"/>
          <p:nvPr>
            <p:ph idx="1" type="body"/>
          </p:nvPr>
        </p:nvSpPr>
        <p:spPr>
          <a:xfrm>
            <a:off x="311700" y="1213500"/>
            <a:ext cx="8520600" cy="33552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SzPts val="1700"/>
              <a:buChar char="●"/>
            </a:pPr>
            <a:r>
              <a:rPr b="1" lang="en" sz="1700"/>
              <a:t>Importing and </a:t>
            </a:r>
            <a:r>
              <a:rPr b="1" lang="en" sz="1700"/>
              <a:t>understanding</a:t>
            </a:r>
            <a:r>
              <a:rPr b="1" lang="en" sz="1700"/>
              <a:t> all the columns in the data, also learnt risk analytics in banks</a:t>
            </a:r>
            <a:endParaRPr b="1" sz="1700"/>
          </a:p>
          <a:p>
            <a:pPr indent="-336550" lvl="0" marL="457200" rtl="0" algn="l">
              <a:spcBef>
                <a:spcPts val="0"/>
              </a:spcBef>
              <a:spcAft>
                <a:spcPts val="0"/>
              </a:spcAft>
              <a:buSzPts val="1700"/>
              <a:buChar char="●"/>
            </a:pPr>
            <a:r>
              <a:rPr b="1" lang="en" sz="1700"/>
              <a:t>Removing any null/blank values from data (did not found any here)</a:t>
            </a:r>
            <a:endParaRPr b="1" sz="1700"/>
          </a:p>
          <a:p>
            <a:pPr indent="-336550" lvl="0" marL="457200" rtl="0" algn="l">
              <a:spcBef>
                <a:spcPts val="0"/>
              </a:spcBef>
              <a:spcAft>
                <a:spcPts val="0"/>
              </a:spcAft>
              <a:buSzPts val="1700"/>
              <a:buChar char="●"/>
            </a:pPr>
            <a:r>
              <a:rPr b="1" lang="en" sz="1700"/>
              <a:t>Check for missing values and decide how to handle them</a:t>
            </a:r>
            <a:endParaRPr b="1" sz="1700"/>
          </a:p>
          <a:p>
            <a:pPr indent="-336550" lvl="0" marL="457200" rtl="0" algn="l">
              <a:spcBef>
                <a:spcPts val="0"/>
              </a:spcBef>
              <a:spcAft>
                <a:spcPts val="0"/>
              </a:spcAft>
              <a:buSzPts val="1700"/>
              <a:buChar char="●"/>
            </a:pPr>
            <a:r>
              <a:rPr b="1" lang="en" sz="1700"/>
              <a:t>Load data in jupyter </a:t>
            </a:r>
            <a:r>
              <a:rPr b="1" lang="en" sz="1700"/>
              <a:t>notebook</a:t>
            </a:r>
            <a:r>
              <a:rPr b="1" lang="en" sz="1700"/>
              <a:t> to perform analysis</a:t>
            </a:r>
            <a:endParaRPr b="1" sz="1700"/>
          </a:p>
          <a:p>
            <a:pPr indent="-336550" lvl="0" marL="457200" rtl="0" algn="l">
              <a:spcBef>
                <a:spcPts val="0"/>
              </a:spcBef>
              <a:spcAft>
                <a:spcPts val="0"/>
              </a:spcAft>
              <a:buSzPts val="1700"/>
              <a:buChar char="●"/>
            </a:pPr>
            <a:r>
              <a:rPr b="1" lang="en" sz="1700"/>
              <a:t>Perform outlier detection using python code( as I didn’t have ‘Boxes and Whisker’ feature in this version of WPS office)</a:t>
            </a:r>
            <a:endParaRPr b="1" sz="1700"/>
          </a:p>
          <a:p>
            <a:pPr indent="-336550" lvl="0" marL="457200" rtl="0" algn="l">
              <a:spcBef>
                <a:spcPts val="0"/>
              </a:spcBef>
              <a:spcAft>
                <a:spcPts val="0"/>
              </a:spcAft>
              <a:buSzPts val="1700"/>
              <a:buChar char="●"/>
            </a:pPr>
            <a:r>
              <a:rPr b="1" lang="en" sz="1700"/>
              <a:t>Visualize the plots using matplotlib/plotly</a:t>
            </a:r>
            <a:endParaRPr b="1" sz="1700"/>
          </a:p>
          <a:p>
            <a:pPr indent="-336550" lvl="0" marL="457200" rtl="0" algn="l">
              <a:spcBef>
                <a:spcPts val="0"/>
              </a:spcBef>
              <a:spcAft>
                <a:spcPts val="0"/>
              </a:spcAft>
              <a:buSzPts val="1700"/>
              <a:buChar char="●"/>
            </a:pPr>
            <a:r>
              <a:rPr b="1" lang="en" sz="1700"/>
              <a:t>Perform the Data </a:t>
            </a:r>
            <a:r>
              <a:rPr b="1" lang="en" sz="1700"/>
              <a:t>analytics</a:t>
            </a:r>
            <a:r>
              <a:rPr b="1" lang="en" sz="1700"/>
              <a:t> tasks using Excel/WPS and Python</a:t>
            </a:r>
            <a:endParaRPr b="1" sz="1700"/>
          </a:p>
          <a:p>
            <a:pPr indent="-336550" lvl="0" marL="457200" rtl="0" algn="l">
              <a:spcBef>
                <a:spcPts val="0"/>
              </a:spcBef>
              <a:spcAft>
                <a:spcPts val="1200"/>
              </a:spcAft>
              <a:buSzPts val="1700"/>
              <a:buChar char="●"/>
            </a:pPr>
            <a:r>
              <a:rPr b="1" lang="en" sz="1700"/>
              <a:t>Make a report from all the analysis and note down all the results</a:t>
            </a:r>
            <a:endParaRPr b="1" sz="1700"/>
          </a:p>
        </p:txBody>
      </p:sp>
      <p:sp>
        <p:nvSpPr>
          <p:cNvPr id="392" name="Google Shape;392;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Tech-Stack Used</a:t>
            </a:r>
            <a:endParaRPr/>
          </a:p>
        </p:txBody>
      </p:sp>
      <p:sp>
        <p:nvSpPr>
          <p:cNvPr id="398" name="Google Shape;398;p59"/>
          <p:cNvSpPr txBox="1"/>
          <p:nvPr>
            <p:ph idx="1" type="body"/>
          </p:nvPr>
        </p:nvSpPr>
        <p:spPr>
          <a:xfrm>
            <a:off x="311700" y="1696025"/>
            <a:ext cx="8520600" cy="2872800"/>
          </a:xfrm>
          <a:prstGeom prst="rect">
            <a:avLst/>
          </a:prstGeom>
        </p:spPr>
        <p:txBody>
          <a:bodyPr anchorCtr="0" anchor="t" bIns="91425" lIns="91425" spcFirstLastPara="1" rIns="91425" wrap="square" tIns="91425">
            <a:normAutofit/>
          </a:bodyPr>
          <a:lstStyle/>
          <a:p>
            <a:pPr indent="-317500" lvl="0" marL="1371600" rtl="0" algn="l">
              <a:spcBef>
                <a:spcPts val="0"/>
              </a:spcBef>
              <a:spcAft>
                <a:spcPts val="0"/>
              </a:spcAft>
              <a:buClr>
                <a:schemeClr val="dk2"/>
              </a:buClr>
              <a:buSzPts val="1400"/>
              <a:buFont typeface="Proxima Nova"/>
              <a:buAutoNum type="arabicPeriod"/>
            </a:pPr>
            <a:r>
              <a:rPr b="1" lang="en" sz="1400"/>
              <a:t>WPS OFFICE version 12.2.0</a:t>
            </a:r>
            <a:endParaRPr b="1" sz="1400"/>
          </a:p>
          <a:p>
            <a:pPr indent="-317500" lvl="0" marL="1371600" rtl="0" algn="l">
              <a:spcBef>
                <a:spcPts val="0"/>
              </a:spcBef>
              <a:spcAft>
                <a:spcPts val="0"/>
              </a:spcAft>
              <a:buClr>
                <a:schemeClr val="dk2"/>
              </a:buClr>
              <a:buSzPts val="1400"/>
              <a:buFont typeface="Proxima Nova"/>
              <a:buAutoNum type="arabicPeriod"/>
            </a:pPr>
            <a:r>
              <a:rPr b="1" lang="en" sz="1400"/>
              <a:t>Python3 - ipykernel from Anaconda</a:t>
            </a:r>
            <a:endParaRPr b="1" sz="1400"/>
          </a:p>
          <a:p>
            <a:pPr indent="-317500" lvl="0" marL="1371600" rtl="0" algn="l">
              <a:spcBef>
                <a:spcPts val="0"/>
              </a:spcBef>
              <a:spcAft>
                <a:spcPts val="0"/>
              </a:spcAft>
              <a:buClr>
                <a:schemeClr val="dk2"/>
              </a:buClr>
              <a:buSzPts val="1400"/>
              <a:buFont typeface="Proxima Nova"/>
              <a:buAutoNum type="arabicPeriod"/>
            </a:pPr>
            <a:r>
              <a:rPr b="1" lang="en" sz="1400"/>
              <a:t>Pandas, matplotlib, plotly graph-objects, plotly-express libraries</a:t>
            </a:r>
            <a:endParaRPr b="1" sz="1400"/>
          </a:p>
          <a:p>
            <a:pPr indent="-317500" lvl="0" marL="1371600" rtl="0" algn="l">
              <a:spcBef>
                <a:spcPts val="0"/>
              </a:spcBef>
              <a:spcAft>
                <a:spcPts val="0"/>
              </a:spcAft>
              <a:buClr>
                <a:schemeClr val="dk2"/>
              </a:buClr>
              <a:buSzPts val="1400"/>
              <a:buFont typeface="Proxima Nova"/>
              <a:buAutoNum type="arabicPeriod"/>
            </a:pPr>
            <a:r>
              <a:rPr b="1" lang="en" sz="1400"/>
              <a:t>Jupyter-notebook</a:t>
            </a:r>
            <a:endParaRPr b="1" sz="1400"/>
          </a:p>
          <a:p>
            <a:pPr indent="-317500" lvl="0" marL="1371600" rtl="0" algn="l">
              <a:spcBef>
                <a:spcPts val="0"/>
              </a:spcBef>
              <a:spcAft>
                <a:spcPts val="0"/>
              </a:spcAft>
              <a:buClr>
                <a:srgbClr val="424242"/>
              </a:buClr>
              <a:buSzPts val="1400"/>
              <a:buFont typeface="Nunito"/>
              <a:buAutoNum type="arabicPeriod"/>
            </a:pPr>
            <a:r>
              <a:rPr b="1" lang="en" sz="1400"/>
              <a:t>Google Collaboratory</a:t>
            </a:r>
            <a:endParaRPr b="1" sz="1400"/>
          </a:p>
          <a:p>
            <a:pPr indent="0" lvl="0" marL="0" rtl="0" algn="l">
              <a:spcBef>
                <a:spcPts val="1200"/>
              </a:spcBef>
              <a:spcAft>
                <a:spcPts val="0"/>
              </a:spcAft>
              <a:buNone/>
            </a:pPr>
            <a:r>
              <a:rPr b="1" lang="en" sz="1400"/>
              <a:t>Jupyter-notebook links - </a:t>
            </a:r>
            <a:endParaRPr b="1" sz="1400"/>
          </a:p>
          <a:p>
            <a:pPr indent="-317500" lvl="0" marL="457200" rtl="0" algn="l">
              <a:spcBef>
                <a:spcPts val="1200"/>
              </a:spcBef>
              <a:spcAft>
                <a:spcPts val="0"/>
              </a:spcAft>
              <a:buSzPts val="1400"/>
              <a:buAutoNum type="arabicParenR"/>
            </a:pPr>
            <a:r>
              <a:rPr b="1" lang="en" sz="1400" u="sng">
                <a:solidFill>
                  <a:schemeClr val="hlink"/>
                </a:solidFill>
                <a:hlinkClick r:id="rId3"/>
              </a:rPr>
              <a:t>https://colab.research.google.com/drive/1T4tAiiMnUMS94qaUA6nI4s6j4WFMnlLS?usp=sharing</a:t>
            </a:r>
            <a:r>
              <a:rPr b="1" lang="en" sz="1400"/>
              <a:t> </a:t>
            </a:r>
            <a:endParaRPr b="1" sz="1400"/>
          </a:p>
          <a:p>
            <a:pPr indent="-317500" lvl="0" marL="457200" rtl="0" algn="l">
              <a:spcBef>
                <a:spcPts val="0"/>
              </a:spcBef>
              <a:spcAft>
                <a:spcPts val="0"/>
              </a:spcAft>
              <a:buSzPts val="1400"/>
              <a:buAutoNum type="arabicParenR"/>
            </a:pPr>
            <a:r>
              <a:rPr b="1" lang="en" sz="1400" u="sng">
                <a:solidFill>
                  <a:schemeClr val="hlink"/>
                </a:solidFill>
                <a:hlinkClick r:id="rId4"/>
              </a:rPr>
              <a:t>https://drive.google.com/file/d/1XFpzR83ZUhTlvuML-enH1TvHRqauB_3Y/view?usp=sharing</a:t>
            </a:r>
            <a:r>
              <a:rPr b="1" lang="en" sz="1400"/>
              <a:t> </a:t>
            </a:r>
            <a:endParaRPr b="1" sz="1400"/>
          </a:p>
        </p:txBody>
      </p:sp>
      <p:sp>
        <p:nvSpPr>
          <p:cNvPr id="399" name="Google Shape;399;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Insights</a:t>
            </a:r>
            <a:endParaRPr/>
          </a:p>
        </p:txBody>
      </p:sp>
      <p:sp>
        <p:nvSpPr>
          <p:cNvPr id="405" name="Google Shape;405;p6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23850" lvl="0" marL="457200" rtl="0" algn="l">
              <a:spcBef>
                <a:spcPts val="1200"/>
              </a:spcBef>
              <a:spcAft>
                <a:spcPts val="0"/>
              </a:spcAft>
              <a:buSzPts val="1500"/>
              <a:buFont typeface="Arial"/>
              <a:buChar char="●"/>
            </a:pPr>
            <a:r>
              <a:rPr b="1" lang="en" sz="1500"/>
              <a:t>Missing Data:</a:t>
            </a:r>
            <a:r>
              <a:rPr lang="en" sz="1500"/>
              <a:t> Identify the variables with the most missing data and the chosen method for imputation. Discuss how the missing data might impact the analysis.</a:t>
            </a:r>
            <a:endParaRPr sz="1500"/>
          </a:p>
          <a:p>
            <a:pPr indent="-323850" lvl="0" marL="457200" rtl="0" algn="l">
              <a:spcBef>
                <a:spcPts val="0"/>
              </a:spcBef>
              <a:spcAft>
                <a:spcPts val="0"/>
              </a:spcAft>
              <a:buSzPts val="1500"/>
              <a:buFont typeface="Arial"/>
              <a:buChar char="●"/>
            </a:pPr>
            <a:r>
              <a:rPr b="1" lang="en" sz="1500"/>
              <a:t>Outliers:</a:t>
            </a:r>
            <a:r>
              <a:rPr lang="en" sz="1500"/>
              <a:t> Highlight the numerical variables with significant outliers and their potential impact on the analysis. Discuss whether outliers are valid or require further investigation.</a:t>
            </a:r>
            <a:endParaRPr sz="1500"/>
          </a:p>
          <a:p>
            <a:pPr indent="-323850" lvl="0" marL="457200" rtl="0" algn="l">
              <a:spcBef>
                <a:spcPts val="0"/>
              </a:spcBef>
              <a:spcAft>
                <a:spcPts val="0"/>
              </a:spcAft>
              <a:buSzPts val="1500"/>
              <a:buFont typeface="Arial"/>
              <a:buChar char="●"/>
            </a:pPr>
            <a:r>
              <a:rPr b="1" lang="en" sz="1500"/>
              <a:t>Data Imbalance:</a:t>
            </a:r>
            <a:r>
              <a:rPr lang="en" sz="1500"/>
              <a:t> Discuss the proportion of each class (e.g., Approved, Cancelled, Refused, Unused Offer) and its potential impact on model accuracy.</a:t>
            </a:r>
            <a:endParaRPr sz="1500"/>
          </a:p>
          <a:p>
            <a:pPr indent="-323850" lvl="0" marL="457200" rtl="0" algn="l">
              <a:spcBef>
                <a:spcPts val="0"/>
              </a:spcBef>
              <a:spcAft>
                <a:spcPts val="0"/>
              </a:spcAft>
              <a:buSzPts val="1500"/>
              <a:buFont typeface="Arial"/>
              <a:buChar char="●"/>
            </a:pPr>
            <a:r>
              <a:rPr b="1" lang="en" sz="1500"/>
              <a:t>Univariate Analysis:</a:t>
            </a:r>
            <a:r>
              <a:rPr lang="en" sz="1500"/>
              <a:t> Summarize insights from the distribution of individual variables. Identify any notable patterns or anomalies.</a:t>
            </a:r>
            <a:endParaRPr sz="1500"/>
          </a:p>
          <a:p>
            <a:pPr indent="-323850" lvl="0" marL="457200" rtl="0" algn="l">
              <a:spcBef>
                <a:spcPts val="0"/>
              </a:spcBef>
              <a:spcAft>
                <a:spcPts val="0"/>
              </a:spcAft>
              <a:buSzPts val="1500"/>
              <a:buFont typeface="Arial"/>
              <a:buChar char="●"/>
            </a:pPr>
            <a:r>
              <a:rPr b="1" lang="en" sz="1500"/>
              <a:t>Segmented Univariate Analysis:</a:t>
            </a:r>
            <a:r>
              <a:rPr lang="en" sz="1500"/>
              <a:t> Compare distributions across different scenarios to understand how attributes differ for various loan outcomes.</a:t>
            </a:r>
            <a:endParaRPr sz="1500"/>
          </a:p>
          <a:p>
            <a:pPr indent="-323850" lvl="0" marL="457200" rtl="0" algn="l">
              <a:spcBef>
                <a:spcPts val="0"/>
              </a:spcBef>
              <a:spcAft>
                <a:spcPts val="0"/>
              </a:spcAft>
              <a:buSzPts val="1500"/>
              <a:buFont typeface="Arial"/>
              <a:buChar char="●"/>
            </a:pPr>
            <a:r>
              <a:rPr b="1" lang="en" sz="1500"/>
              <a:t>Bivariate Analysis:</a:t>
            </a:r>
            <a:r>
              <a:rPr lang="en" sz="1500"/>
              <a:t> Explain the relationships between variables and loan default. Identify key factors that are strongly correlated with default.</a:t>
            </a:r>
            <a:endParaRPr b="1" sz="1500"/>
          </a:p>
        </p:txBody>
      </p:sp>
      <p:sp>
        <p:nvSpPr>
          <p:cNvPr id="406" name="Google Shape;406;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a:t>
            </a:r>
            <a:endParaRPr/>
          </a:p>
        </p:txBody>
      </p:sp>
      <p:sp>
        <p:nvSpPr>
          <p:cNvPr id="412" name="Google Shape;412;p6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rtl="0" algn="l">
              <a:spcBef>
                <a:spcPts val="1200"/>
              </a:spcBef>
              <a:spcAft>
                <a:spcPts val="0"/>
              </a:spcAft>
              <a:buSzPts val="1500"/>
              <a:buFont typeface="Arial"/>
              <a:buChar char="●"/>
            </a:pPr>
            <a:r>
              <a:rPr b="1" lang="en" sz="1500"/>
              <a:t>Decision-Making:</a:t>
            </a:r>
            <a:r>
              <a:rPr lang="en" sz="1500"/>
              <a:t> Provide recommendations based on the analysis. For example, suggest criteria for approving or denying loans based on risk factors identified.</a:t>
            </a:r>
            <a:endParaRPr sz="1500"/>
          </a:p>
          <a:p>
            <a:pPr indent="-323850" lvl="0" marL="457200" rtl="0" algn="l">
              <a:spcBef>
                <a:spcPts val="0"/>
              </a:spcBef>
              <a:spcAft>
                <a:spcPts val="0"/>
              </a:spcAft>
              <a:buSzPts val="1500"/>
              <a:buFont typeface="Arial"/>
              <a:buChar char="●"/>
            </a:pPr>
            <a:r>
              <a:rPr b="1" lang="en" sz="1500"/>
              <a:t>Risk Mitigation:</a:t>
            </a:r>
            <a:r>
              <a:rPr lang="en" sz="1500"/>
              <a:t> Offer strategies to reduce loan default risks, such as adjusting loan amounts, interest rates, or implementing stricter approval criteria for high-risk applicants.</a:t>
            </a:r>
            <a:endParaRPr sz="1500"/>
          </a:p>
          <a:p>
            <a:pPr indent="-323850" lvl="0" marL="457200" rtl="0" algn="l">
              <a:spcBef>
                <a:spcPts val="0"/>
              </a:spcBef>
              <a:spcAft>
                <a:spcPts val="0"/>
              </a:spcAft>
              <a:buSzPts val="1500"/>
              <a:buFont typeface="Arial"/>
              <a:buChar char="●"/>
            </a:pPr>
            <a:r>
              <a:rPr b="1" lang="en" sz="1500"/>
              <a:t>Model Improvement:</a:t>
            </a:r>
            <a:r>
              <a:rPr lang="en" sz="1500"/>
              <a:t> Discuss how the insights gained can be used to improve predictive models for loan default.</a:t>
            </a:r>
            <a:endParaRPr sz="1500"/>
          </a:p>
          <a:p>
            <a:pPr indent="0" lvl="0" marL="0" rtl="0" algn="l">
              <a:spcBef>
                <a:spcPts val="1200"/>
              </a:spcBef>
              <a:spcAft>
                <a:spcPts val="0"/>
              </a:spcAft>
              <a:buNone/>
            </a:pPr>
            <a:r>
              <a:rPr b="1" lang="en" sz="1500"/>
              <a:t>Impact:</a:t>
            </a:r>
            <a:endParaRPr b="1" sz="1500"/>
          </a:p>
          <a:p>
            <a:pPr indent="-323850" lvl="0" marL="457200" rtl="0" algn="l">
              <a:spcBef>
                <a:spcPts val="1200"/>
              </a:spcBef>
              <a:spcAft>
                <a:spcPts val="0"/>
              </a:spcAft>
              <a:buClr>
                <a:schemeClr val="dk2"/>
              </a:buClr>
              <a:buSzPts val="1500"/>
              <a:buFont typeface="Proxima Nova"/>
              <a:buChar char="●"/>
            </a:pPr>
            <a:r>
              <a:rPr lang="en" sz="1500"/>
              <a:t>Highlight how the analysis contributes to better decision-making and risk management in the finance company. Explain the potential business impact of implementing the recommendations.</a:t>
            </a:r>
            <a:endParaRPr sz="1500"/>
          </a:p>
        </p:txBody>
      </p:sp>
      <p:sp>
        <p:nvSpPr>
          <p:cNvPr id="413" name="Google Shape;413;p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2"/>
          <p:cNvSpPr txBox="1"/>
          <p:nvPr>
            <p:ph type="title"/>
          </p:nvPr>
        </p:nvSpPr>
        <p:spPr>
          <a:xfrm>
            <a:off x="321950" y="1182700"/>
            <a:ext cx="8114400" cy="20430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Video </a:t>
            </a:r>
            <a:endParaRPr/>
          </a:p>
          <a:p>
            <a:pPr indent="0" lvl="0" marL="0" rtl="0" algn="l">
              <a:spcBef>
                <a:spcPts val="0"/>
              </a:spcBef>
              <a:spcAft>
                <a:spcPts val="0"/>
              </a:spcAft>
              <a:buNone/>
            </a:pPr>
            <a:r>
              <a:rPr lang="en"/>
              <a:t>Presentation Link</a:t>
            </a:r>
            <a:endParaRPr/>
          </a:p>
        </p:txBody>
      </p:sp>
      <p:sp>
        <p:nvSpPr>
          <p:cNvPr id="419" name="Google Shape;419;p62"/>
          <p:cNvSpPr txBox="1"/>
          <p:nvPr>
            <p:ph idx="4294967295" type="body"/>
          </p:nvPr>
        </p:nvSpPr>
        <p:spPr>
          <a:xfrm>
            <a:off x="311700" y="3574775"/>
            <a:ext cx="8520600" cy="721200"/>
          </a:xfrm>
          <a:prstGeom prst="rect">
            <a:avLst/>
          </a:prstGeom>
        </p:spPr>
        <p:txBody>
          <a:bodyPr anchorCtr="0" anchor="t" bIns="91425" lIns="91425" spcFirstLastPara="1" rIns="91425" wrap="square" tIns="91425">
            <a:normAutofit fontScale="85000" lnSpcReduction="10000"/>
          </a:bodyPr>
          <a:lstStyle/>
          <a:p>
            <a:pPr indent="0" lvl="0" marL="0" rtl="0" algn="l">
              <a:lnSpc>
                <a:spcPct val="100000"/>
              </a:lnSpc>
              <a:spcBef>
                <a:spcPts val="0"/>
              </a:spcBef>
              <a:spcAft>
                <a:spcPts val="0"/>
              </a:spcAft>
              <a:buNone/>
            </a:pPr>
            <a:r>
              <a:rPr b="1" lang="en" sz="1400">
                <a:solidFill>
                  <a:schemeClr val="lt1"/>
                </a:solidFill>
              </a:rPr>
              <a:t>Please refer to this link for my video presentation:  </a:t>
            </a:r>
            <a:r>
              <a:rPr b="1" lang="en" sz="1400" u="sng">
                <a:solidFill>
                  <a:schemeClr val="hlink"/>
                </a:solidFill>
                <a:hlinkClick r:id="rId3"/>
              </a:rPr>
              <a:t>https://www.loom.com/share/0009676da9a44de6b3236e5efc715ea8?sid=8b68a7e0-6fdb-4cdd-a40c-1289ece4a6ed</a:t>
            </a:r>
            <a:r>
              <a:rPr b="1" lang="en" sz="1400">
                <a:solidFill>
                  <a:schemeClr val="lt1"/>
                </a:solidFill>
              </a:rPr>
              <a:t> </a:t>
            </a:r>
            <a:endParaRPr b="1" sz="1400">
              <a:solidFill>
                <a:schemeClr val="lt1"/>
              </a:solidFill>
            </a:endParaRPr>
          </a:p>
          <a:p>
            <a:pPr indent="0" lvl="0" marL="0" rtl="0" algn="l">
              <a:lnSpc>
                <a:spcPct val="100000"/>
              </a:lnSpc>
              <a:spcBef>
                <a:spcPts val="0"/>
              </a:spcBef>
              <a:spcAft>
                <a:spcPts val="0"/>
              </a:spcAft>
              <a:buNone/>
            </a:pPr>
            <a:r>
              <a:t/>
            </a:r>
            <a:endParaRPr b="1" sz="1400">
              <a:solidFill>
                <a:schemeClr val="lt1"/>
              </a:solidFill>
            </a:endParaRPr>
          </a:p>
        </p:txBody>
      </p:sp>
      <p:sp>
        <p:nvSpPr>
          <p:cNvPr id="420" name="Google Shape;420;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63"/>
          <p:cNvSpPr txBox="1"/>
          <p:nvPr>
            <p:ph type="ctrTitle"/>
          </p:nvPr>
        </p:nvSpPr>
        <p:spPr>
          <a:xfrm>
            <a:off x="311700" y="595975"/>
            <a:ext cx="8520600" cy="19578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Thank You</a:t>
            </a:r>
            <a:endParaRPr/>
          </a:p>
        </p:txBody>
      </p:sp>
      <p:sp>
        <p:nvSpPr>
          <p:cNvPr id="426" name="Google Shape;426;p63"/>
          <p:cNvSpPr txBox="1"/>
          <p:nvPr>
            <p:ph idx="1" type="subTitle"/>
          </p:nvPr>
        </p:nvSpPr>
        <p:spPr>
          <a:xfrm>
            <a:off x="311700" y="3165823"/>
            <a:ext cx="8520600" cy="733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Project by Gayatri Palkar</a:t>
            </a:r>
            <a:endParaRPr/>
          </a:p>
        </p:txBody>
      </p:sp>
    </p:spTree>
  </p:cSld>
  <p:clrMapOvr>
    <a:masterClrMapping/>
  </p:clrMapOvr>
</p:sld>
</file>

<file path=ppt/theme/theme1.xml><?xml version="1.0" encoding="utf-8"?>
<a:theme xmlns:a="http://schemas.openxmlformats.org/drawingml/2006/main" xmlns:r="http://schemas.openxmlformats.org/officeDocument/2006/relationships" name="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1C3AA9"/>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