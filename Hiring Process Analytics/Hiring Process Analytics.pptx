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Nunito"/>
      <p:regular r:id="rId46"/>
      <p:bold r:id="rId47"/>
      <p:italic r:id="rId48"/>
      <p:boldItalic r:id="rId49"/>
    </p:embeddedFont>
    <p:embeddedFont>
      <p:font typeface="Maven Pro"/>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Nunito-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italic.fntdata"/><Relationship Id="rId47" Type="http://schemas.openxmlformats.org/officeDocument/2006/relationships/font" Target="fonts/Nunito-bold.fntdata"/><Relationship Id="rId49"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avenPro-bold.fntdata"/><Relationship Id="rId5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76f77d229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76f77d229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76f77d229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76f77d229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eb1cc1faf6_0_1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eb1cc1faf6_0_1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eb1cc1faf6_0_1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eb1cc1faf6_0_1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eb1cc1faf6_0_2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eb1cc1faf6_0_2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eb1cc1faf6_0_2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eb1cc1faf6_0_2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eb1cc1faf6_0_2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eb1cc1faf6_0_2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eb1cc1faf6_0_2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eb1cc1faf6_0_2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eb1cc1faf6_0_3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eb1cc1faf6_0_3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eb1cc1faf6_0_3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eb1cc1faf6_0_3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eb1cc1faf6_0_2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eb1cc1faf6_0_2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eb1cc1faf6_0_2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eb1cc1faf6_0_2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eb1cc1faf6_0_3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eb1cc1faf6_0_3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eb1cc1faf6_0_3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eb1cc1faf6_0_3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eb1cc1faf6_0_3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eb1cc1faf6_0_3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76f77d229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76f77d229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76f77d2299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76f77d2299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76f77d229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76f77d229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eb1cc1faf6_0_3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eb1cc1faf6_0_3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eb1cc1faf6_0_3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eb1cc1faf6_0_3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6f77d229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76f77d229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eb50f8eb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eb50f8eb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eb50f8eb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eb50f8eb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eb50f8eba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eb50f8eba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76f77d22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76f77d22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eb50f8eba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eb50f8eba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76f77d229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76f77d229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76f77d229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76f77d229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76f77d229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76f77d229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76f77d229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76f77d229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76f77d229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76f77d229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76f77d229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76f77d229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76f77d229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76f77d229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76f77d229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76f77d229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76f77d229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76f77d229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76f77d229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76f77d229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76f77d229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76f77d229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76f77d229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276f77d229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76f77d229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76f77d229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drive.google.com/file/d/1njlgEJP0HH3VWUWPUv3Q_JSVMdULJ69t/view?usp=sharing"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Hiring Process Analytics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Gayatri Palkar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612850" y="330066"/>
            <a:ext cx="4255500" cy="499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Contents</a:t>
            </a:r>
            <a:endParaRPr/>
          </a:p>
        </p:txBody>
      </p:sp>
      <p:sp>
        <p:nvSpPr>
          <p:cNvPr id="284" name="Google Shape;284;p14"/>
          <p:cNvSpPr txBox="1"/>
          <p:nvPr>
            <p:ph idx="1" type="subTitle"/>
          </p:nvPr>
        </p:nvSpPr>
        <p:spPr>
          <a:xfrm>
            <a:off x="824000" y="1862150"/>
            <a:ext cx="4255500" cy="2429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AutoNum type="arabicPeriod"/>
            </a:pPr>
            <a:r>
              <a:rPr b="1" lang="en" sz="2100"/>
              <a:t>Data Preprocessing</a:t>
            </a:r>
            <a:endParaRPr b="1" sz="2100"/>
          </a:p>
          <a:p>
            <a:pPr indent="-361950" lvl="0" marL="457200" rtl="0" algn="l">
              <a:spcBef>
                <a:spcPts val="0"/>
              </a:spcBef>
              <a:spcAft>
                <a:spcPts val="0"/>
              </a:spcAft>
              <a:buSzPts val="2100"/>
              <a:buAutoNum type="arabicPeriod"/>
            </a:pPr>
            <a:r>
              <a:rPr b="1" lang="en" sz="2100"/>
              <a:t>Data Analytics Tasks</a:t>
            </a:r>
            <a:endParaRPr b="1" sz="2100"/>
          </a:p>
          <a:p>
            <a:pPr indent="-361950" lvl="0" marL="457200" rtl="0" algn="l">
              <a:spcBef>
                <a:spcPts val="0"/>
              </a:spcBef>
              <a:spcAft>
                <a:spcPts val="0"/>
              </a:spcAft>
              <a:buSzPts val="2100"/>
              <a:buAutoNum type="arabicPeriod"/>
            </a:pPr>
            <a:r>
              <a:rPr b="1" lang="en" sz="2100"/>
              <a:t>Project Report</a:t>
            </a:r>
            <a:endParaRPr b="1"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1724750"/>
            <a:ext cx="7030500" cy="25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Data Preprocessing</a:t>
            </a:r>
            <a:endParaRPr sz="2700"/>
          </a:p>
        </p:txBody>
      </p:sp>
      <p:sp>
        <p:nvSpPr>
          <p:cNvPr id="290" name="Google Shape;290;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388620" lvl="0" marL="457200" rtl="0" algn="l">
              <a:spcBef>
                <a:spcPts val="0"/>
              </a:spcBef>
              <a:spcAft>
                <a:spcPts val="0"/>
              </a:spcAft>
              <a:buSzPts val="2520"/>
              <a:buAutoNum type="romanUcPeriod"/>
            </a:pPr>
            <a:r>
              <a:rPr lang="en" sz="2520"/>
              <a:t>Handling Missing Data: Decide on the best strategy to handle them.</a:t>
            </a:r>
            <a:endParaRPr sz="2520"/>
          </a:p>
        </p:txBody>
      </p:sp>
      <p:sp>
        <p:nvSpPr>
          <p:cNvPr id="296" name="Google Shape;296;p16"/>
          <p:cNvSpPr txBox="1"/>
          <p:nvPr>
            <p:ph idx="1" type="body"/>
          </p:nvPr>
        </p:nvSpPr>
        <p:spPr>
          <a:xfrm>
            <a:off x="1303800" y="1597875"/>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Missing values in this data exists in forms of blank data cells or hyphens ‘-’ in place of data</a:t>
            </a:r>
            <a:endParaRPr/>
          </a:p>
          <a:p>
            <a:pPr indent="-311150" lvl="0" marL="457200" rtl="0" algn="l">
              <a:spcBef>
                <a:spcPts val="0"/>
              </a:spcBef>
              <a:spcAft>
                <a:spcPts val="0"/>
              </a:spcAft>
              <a:buSzPts val="1300"/>
              <a:buChar char="●"/>
            </a:pPr>
            <a:r>
              <a:rPr lang="en"/>
              <a:t>I found a blank cell in Offered Salary column, when i checked the </a:t>
            </a:r>
            <a:r>
              <a:rPr lang="en"/>
              <a:t>minimum and maximum value of column, the difference was too big, so I decided to omit complete row of data, instead of taking the mean, median or mode of data, as there is too much variety and range</a:t>
            </a:r>
            <a:endParaRPr/>
          </a:p>
          <a:p>
            <a:pPr indent="-311150" lvl="0" marL="457200" rtl="0" algn="l">
              <a:spcBef>
                <a:spcPts val="0"/>
              </a:spcBef>
              <a:spcAft>
                <a:spcPts val="0"/>
              </a:spcAft>
              <a:buSzPts val="1300"/>
              <a:buChar char="●"/>
            </a:pPr>
            <a:r>
              <a:rPr lang="en"/>
              <a:t>The other columns where I found missing data were categorical data points, hence even there i decided to drop the complete record.</a:t>
            </a:r>
            <a:endParaRPr/>
          </a:p>
        </p:txBody>
      </p:sp>
      <p:pic>
        <p:nvPicPr>
          <p:cNvPr id="297" name="Google Shape;297;p16"/>
          <p:cNvPicPr preferRelativeResize="0"/>
          <p:nvPr/>
        </p:nvPicPr>
        <p:blipFill>
          <a:blip r:embed="rId3">
            <a:alphaModFix/>
          </a:blip>
          <a:stretch>
            <a:fillRect/>
          </a:stretch>
        </p:blipFill>
        <p:spPr>
          <a:xfrm>
            <a:off x="0" y="3568601"/>
            <a:ext cx="9143999" cy="689847"/>
          </a:xfrm>
          <a:prstGeom prst="rect">
            <a:avLst/>
          </a:prstGeom>
          <a:noFill/>
          <a:ln>
            <a:noFill/>
          </a:ln>
        </p:spPr>
      </p:pic>
      <p:pic>
        <p:nvPicPr>
          <p:cNvPr id="298" name="Google Shape;298;p16"/>
          <p:cNvPicPr preferRelativeResize="0"/>
          <p:nvPr/>
        </p:nvPicPr>
        <p:blipFill>
          <a:blip r:embed="rId4">
            <a:alphaModFix/>
          </a:blip>
          <a:stretch>
            <a:fillRect/>
          </a:stretch>
        </p:blipFill>
        <p:spPr>
          <a:xfrm>
            <a:off x="-62125" y="4375098"/>
            <a:ext cx="9144000" cy="768403"/>
          </a:xfrm>
          <a:prstGeom prst="rect">
            <a:avLst/>
          </a:prstGeom>
          <a:noFill/>
          <a:ln>
            <a:noFill/>
          </a:ln>
        </p:spPr>
      </p:pic>
      <p:sp>
        <p:nvSpPr>
          <p:cNvPr id="299" name="Google Shape;299;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ph idx="1" type="body"/>
          </p:nvPr>
        </p:nvSpPr>
        <p:spPr>
          <a:xfrm>
            <a:off x="1241675" y="822175"/>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 found another column with missing values, </a:t>
            </a:r>
            <a:r>
              <a:rPr b="1" i="1" lang="en"/>
              <a:t>event_name </a:t>
            </a:r>
            <a:r>
              <a:rPr lang="en"/>
              <a:t>column, there should have been two options here: Male and Female, but due to user confidentiality, few applicants had selected “Don’t want to say” in in Gender and there were also few hyphenated cells, so I decided to convert the hyphen data cells to “Don’t want to say”, as it will reduce the number of variables at least by 1. </a:t>
            </a:r>
            <a:r>
              <a:rPr lang="en"/>
              <a:t>As number of “Don’t want to say” is very high, I decided to not drop all the cells ( there were 408 entries with this)</a:t>
            </a:r>
            <a:endParaRPr/>
          </a:p>
        </p:txBody>
      </p:sp>
      <p:pic>
        <p:nvPicPr>
          <p:cNvPr id="305" name="Google Shape;305;p17"/>
          <p:cNvPicPr preferRelativeResize="0"/>
          <p:nvPr/>
        </p:nvPicPr>
        <p:blipFill rotWithShape="1">
          <a:blip r:embed="rId3">
            <a:alphaModFix/>
          </a:blip>
          <a:srcRect b="0" l="0" r="3307" t="0"/>
          <a:stretch/>
        </p:blipFill>
        <p:spPr>
          <a:xfrm>
            <a:off x="258988" y="2455950"/>
            <a:ext cx="8626026" cy="2687550"/>
          </a:xfrm>
          <a:prstGeom prst="rect">
            <a:avLst/>
          </a:prstGeom>
          <a:noFill/>
          <a:ln>
            <a:noFill/>
          </a:ln>
        </p:spPr>
      </p:pic>
      <p:sp>
        <p:nvSpPr>
          <p:cNvPr id="306" name="Google Shape;306;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idx="1" type="body"/>
          </p:nvPr>
        </p:nvSpPr>
        <p:spPr>
          <a:xfrm>
            <a:off x="1303800" y="839175"/>
            <a:ext cx="7030500" cy="2016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 both the cases: I selected the blanks and deleted the rows manually using::</a:t>
            </a:r>
            <a:endParaRPr/>
          </a:p>
          <a:p>
            <a:pPr indent="-311150" lvl="0" marL="457200" rtl="0" algn="l">
              <a:spcBef>
                <a:spcPts val="0"/>
              </a:spcBef>
              <a:spcAft>
                <a:spcPts val="0"/>
              </a:spcAft>
              <a:buSzPts val="1300"/>
              <a:buAutoNum type="arabicPeriod"/>
            </a:pPr>
            <a:r>
              <a:rPr lang="en"/>
              <a:t>Select data using Ctrl+A</a:t>
            </a:r>
            <a:endParaRPr/>
          </a:p>
          <a:p>
            <a:pPr indent="-311150" lvl="0" marL="457200" rtl="0" algn="l">
              <a:spcBef>
                <a:spcPts val="0"/>
              </a:spcBef>
              <a:spcAft>
                <a:spcPts val="0"/>
              </a:spcAft>
              <a:buSzPts val="1300"/>
              <a:buAutoNum type="arabicPeriod"/>
            </a:pPr>
            <a:r>
              <a:rPr lang="en"/>
              <a:t>F5</a:t>
            </a:r>
            <a:endParaRPr/>
          </a:p>
          <a:p>
            <a:pPr indent="-311150" lvl="0" marL="457200" rtl="0" algn="l">
              <a:spcBef>
                <a:spcPts val="0"/>
              </a:spcBef>
              <a:spcAft>
                <a:spcPts val="0"/>
              </a:spcAft>
              <a:buSzPts val="1300"/>
              <a:buAutoNum type="arabicPeriod"/>
            </a:pPr>
            <a:r>
              <a:rPr lang="en"/>
              <a:t>Select -&gt;Blanks</a:t>
            </a:r>
            <a:endParaRPr/>
          </a:p>
          <a:p>
            <a:pPr indent="-311150" lvl="0" marL="457200" rtl="0" algn="l">
              <a:lnSpc>
                <a:spcPct val="100000"/>
              </a:lnSpc>
              <a:spcBef>
                <a:spcPts val="0"/>
              </a:spcBef>
              <a:spcAft>
                <a:spcPts val="0"/>
              </a:spcAft>
              <a:buSzPts val="1300"/>
              <a:buAutoNum type="arabicPeriod"/>
            </a:pPr>
            <a:r>
              <a:rPr lang="en"/>
              <a:t>Delete rows</a:t>
            </a:r>
            <a:endParaRPr/>
          </a:p>
          <a:p>
            <a:pPr indent="-311150" lvl="0" marL="457200" rtl="0" algn="l">
              <a:lnSpc>
                <a:spcPct val="100000"/>
              </a:lnSpc>
              <a:spcBef>
                <a:spcPts val="0"/>
              </a:spcBef>
              <a:spcAft>
                <a:spcPts val="1000"/>
              </a:spcAft>
              <a:buSzPts val="1300"/>
              <a:buAutoNum type="arabicPeriod"/>
            </a:pPr>
            <a:r>
              <a:rPr lang="en"/>
              <a:t>Same with </a:t>
            </a:r>
            <a:r>
              <a:rPr lang="en"/>
              <a:t>Hyphenated</a:t>
            </a:r>
            <a:r>
              <a:rPr lang="en"/>
              <a:t> Data rows</a:t>
            </a:r>
            <a:endParaRPr u="sng"/>
          </a:p>
        </p:txBody>
      </p:sp>
      <p:pic>
        <p:nvPicPr>
          <p:cNvPr id="312" name="Google Shape;312;p18"/>
          <p:cNvPicPr preferRelativeResize="0"/>
          <p:nvPr/>
        </p:nvPicPr>
        <p:blipFill>
          <a:blip r:embed="rId3">
            <a:alphaModFix/>
          </a:blip>
          <a:stretch>
            <a:fillRect/>
          </a:stretch>
        </p:blipFill>
        <p:spPr>
          <a:xfrm>
            <a:off x="-49700" y="3256856"/>
            <a:ext cx="9144000" cy="1886639"/>
          </a:xfrm>
          <a:prstGeom prst="rect">
            <a:avLst/>
          </a:prstGeom>
          <a:noFill/>
          <a:ln>
            <a:noFill/>
          </a:ln>
        </p:spPr>
      </p:pic>
      <p:sp>
        <p:nvSpPr>
          <p:cNvPr id="313" name="Google Shape;313;p18"/>
          <p:cNvSpPr txBox="1"/>
          <p:nvPr>
            <p:ph type="title"/>
          </p:nvPr>
        </p:nvSpPr>
        <p:spPr>
          <a:xfrm>
            <a:off x="1303800" y="275475"/>
            <a:ext cx="1507500" cy="56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Steps</a:t>
            </a:r>
            <a:endParaRPr sz="1700"/>
          </a:p>
        </p:txBody>
      </p:sp>
      <p:sp>
        <p:nvSpPr>
          <p:cNvPr id="314" name="Google Shape;314;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 </a:t>
            </a:r>
            <a:r>
              <a:rPr lang="en"/>
              <a:t>Clubbing Columns: Do so to simplify your analysis.</a:t>
            </a:r>
            <a:endParaRPr/>
          </a:p>
        </p:txBody>
      </p:sp>
      <p:sp>
        <p:nvSpPr>
          <p:cNvPr id="320" name="Google Shape;320;p1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 took a careful look at the data and decided that the </a:t>
            </a:r>
            <a:r>
              <a:rPr b="1" i="1" lang="en"/>
              <a:t>Department</a:t>
            </a:r>
            <a:r>
              <a:rPr b="1" i="1" lang="en"/>
              <a:t> </a:t>
            </a:r>
            <a:r>
              <a:rPr lang="en"/>
              <a:t>and</a:t>
            </a:r>
            <a:r>
              <a:rPr b="1" i="1" lang="en"/>
              <a:t> Post Name </a:t>
            </a:r>
            <a:r>
              <a:rPr lang="en"/>
              <a:t>as both of them provide similar information, I’ll explain how.</a:t>
            </a:r>
            <a:endParaRPr/>
          </a:p>
          <a:p>
            <a:pPr indent="-311150" lvl="0" marL="457200" rtl="0" algn="l">
              <a:spcBef>
                <a:spcPts val="0"/>
              </a:spcBef>
              <a:spcAft>
                <a:spcPts val="0"/>
              </a:spcAft>
              <a:buSzPts val="1300"/>
              <a:buChar char="●"/>
            </a:pPr>
            <a:r>
              <a:rPr lang="en"/>
              <a:t>One Department will have many applicants </a:t>
            </a:r>
            <a:r>
              <a:rPr lang="en"/>
              <a:t>applying</a:t>
            </a:r>
            <a:r>
              <a:rPr lang="en"/>
              <a:t> for different posts for the overall development of the project as a whole end to end.</a:t>
            </a:r>
            <a:endParaRPr/>
          </a:p>
          <a:p>
            <a:pPr indent="-311150" lvl="0" marL="457200" rtl="0" algn="l">
              <a:spcBef>
                <a:spcPts val="0"/>
              </a:spcBef>
              <a:spcAft>
                <a:spcPts val="0"/>
              </a:spcAft>
              <a:buSzPts val="1300"/>
              <a:buChar char="●"/>
            </a:pPr>
            <a:r>
              <a:rPr lang="en"/>
              <a:t>And further on combining these two will help us understand how many people applied for a specific post in a specific department. And will make our analysis easier.</a:t>
            </a:r>
            <a:endParaRPr/>
          </a:p>
        </p:txBody>
      </p:sp>
      <p:sp>
        <p:nvSpPr>
          <p:cNvPr id="321" name="Google Shape;321;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ph idx="1" type="body"/>
          </p:nvPr>
        </p:nvSpPr>
        <p:spPr>
          <a:xfrm>
            <a:off x="1303800" y="789475"/>
            <a:ext cx="7222500" cy="3742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For creating a new column by concatenating 2 columns I used the formula:</a:t>
            </a:r>
            <a:endParaRPr/>
          </a:p>
          <a:p>
            <a:pPr indent="0" lvl="0" marL="457200" rtl="0" algn="l">
              <a:spcBef>
                <a:spcPts val="1200"/>
              </a:spcBef>
              <a:spcAft>
                <a:spcPts val="0"/>
              </a:spcAft>
              <a:buNone/>
            </a:pPr>
            <a:r>
              <a:rPr lang="en"/>
              <a:t>=CONCATENATE(E1,"_",F1)</a:t>
            </a:r>
            <a:endParaRPr/>
          </a:p>
          <a:p>
            <a:pPr indent="-311150" lvl="0" marL="457200" rtl="0" algn="l">
              <a:spcBef>
                <a:spcPts val="1200"/>
              </a:spcBef>
              <a:spcAft>
                <a:spcPts val="0"/>
              </a:spcAft>
              <a:buSzPts val="1300"/>
              <a:buChar char="●"/>
            </a:pPr>
            <a:r>
              <a:rPr lang="en"/>
              <a:t>This joined the 2 columns, then I dragged down the cursor to apply it to the complete column</a:t>
            </a:r>
            <a:endParaRPr/>
          </a:p>
          <a:p>
            <a:pPr indent="-311150" lvl="0" marL="457200" rtl="0" algn="l">
              <a:spcBef>
                <a:spcPts val="1000"/>
              </a:spcBef>
              <a:spcAft>
                <a:spcPts val="0"/>
              </a:spcAft>
              <a:buSzPts val="1300"/>
              <a:buChar char="●"/>
            </a:pPr>
            <a:r>
              <a:rPr lang="en"/>
              <a:t>Hid the other 2 columns from view</a:t>
            </a:r>
            <a:endParaRPr/>
          </a:p>
          <a:p>
            <a:pPr indent="0" lvl="0" marL="457200" rtl="0" algn="l">
              <a:spcBef>
                <a:spcPts val="1000"/>
              </a:spcBef>
              <a:spcAft>
                <a:spcPts val="1200"/>
              </a:spcAft>
              <a:buNone/>
            </a:pPr>
            <a:r>
              <a:t/>
            </a:r>
            <a:endParaRPr b="1" i="1"/>
          </a:p>
        </p:txBody>
      </p:sp>
      <p:sp>
        <p:nvSpPr>
          <p:cNvPr id="327" name="Google Shape;327;p20"/>
          <p:cNvSpPr txBox="1"/>
          <p:nvPr>
            <p:ph type="title"/>
          </p:nvPr>
        </p:nvSpPr>
        <p:spPr>
          <a:xfrm>
            <a:off x="1303800" y="275475"/>
            <a:ext cx="1507500" cy="56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Steps</a:t>
            </a:r>
            <a:endParaRPr sz="1700"/>
          </a:p>
        </p:txBody>
      </p:sp>
      <p:pic>
        <p:nvPicPr>
          <p:cNvPr id="328" name="Google Shape;328;p20"/>
          <p:cNvPicPr preferRelativeResize="0"/>
          <p:nvPr/>
        </p:nvPicPr>
        <p:blipFill>
          <a:blip r:embed="rId3">
            <a:alphaModFix/>
          </a:blip>
          <a:stretch>
            <a:fillRect/>
          </a:stretch>
        </p:blipFill>
        <p:spPr>
          <a:xfrm>
            <a:off x="0" y="2571757"/>
            <a:ext cx="9144000" cy="3932585"/>
          </a:xfrm>
          <a:prstGeom prst="rect">
            <a:avLst/>
          </a:prstGeom>
          <a:noFill/>
          <a:ln>
            <a:noFill/>
          </a:ln>
        </p:spPr>
      </p:pic>
      <p:sp>
        <p:nvSpPr>
          <p:cNvPr id="329" name="Google Shape;329;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III. </a:t>
            </a:r>
            <a:r>
              <a:rPr lang="en"/>
              <a:t>Outlier Detection: Check for outliers in the dataset that may skew your analysis.</a:t>
            </a:r>
            <a:endParaRPr/>
          </a:p>
        </p:txBody>
      </p:sp>
      <p:sp>
        <p:nvSpPr>
          <p:cNvPr id="335" name="Google Shape;335;p21"/>
          <p:cNvSpPr txBox="1"/>
          <p:nvPr>
            <p:ph idx="1" type="body"/>
          </p:nvPr>
        </p:nvSpPr>
        <p:spPr>
          <a:xfrm>
            <a:off x="1303800" y="1990050"/>
            <a:ext cx="33423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To detect outliers, we will have to plot a box plot.</a:t>
            </a:r>
            <a:endParaRPr/>
          </a:p>
          <a:p>
            <a:pPr indent="-311150" lvl="0" marL="457200" rtl="0" algn="l">
              <a:spcBef>
                <a:spcPts val="0"/>
              </a:spcBef>
              <a:spcAft>
                <a:spcPts val="0"/>
              </a:spcAft>
              <a:buSzPts val="1300"/>
              <a:buChar char="●"/>
            </a:pPr>
            <a:r>
              <a:rPr lang="en"/>
              <a:t>Since I </a:t>
            </a:r>
            <a:r>
              <a:rPr lang="en"/>
              <a:t>don't</a:t>
            </a:r>
            <a:r>
              <a:rPr lang="en"/>
              <a:t> have “</a:t>
            </a:r>
            <a:r>
              <a:rPr b="1" lang="en"/>
              <a:t>Boxes and Whiskers</a:t>
            </a:r>
            <a:r>
              <a:rPr lang="en"/>
              <a:t>” feature in my Excel, I decided to plot a boxplot using python</a:t>
            </a:r>
            <a:endParaRPr/>
          </a:p>
          <a:p>
            <a:pPr indent="-311150" lvl="0" marL="457200" rtl="0" algn="l">
              <a:spcBef>
                <a:spcPts val="0"/>
              </a:spcBef>
              <a:spcAft>
                <a:spcPts val="0"/>
              </a:spcAft>
              <a:buSzPts val="1300"/>
              <a:buChar char="●"/>
            </a:pPr>
            <a:r>
              <a:rPr lang="en"/>
              <a:t>We can see in the image that there are 3 outliers, so now to detect them using Excel I will use Quartile function</a:t>
            </a:r>
            <a:endParaRPr/>
          </a:p>
        </p:txBody>
      </p:sp>
      <p:pic>
        <p:nvPicPr>
          <p:cNvPr id="336" name="Google Shape;336;p21"/>
          <p:cNvPicPr preferRelativeResize="0"/>
          <p:nvPr/>
        </p:nvPicPr>
        <p:blipFill>
          <a:blip r:embed="rId3">
            <a:alphaModFix/>
          </a:blip>
          <a:stretch>
            <a:fillRect/>
          </a:stretch>
        </p:blipFill>
        <p:spPr>
          <a:xfrm>
            <a:off x="4754794" y="1797675"/>
            <a:ext cx="3579501" cy="2408349"/>
          </a:xfrm>
          <a:prstGeom prst="rect">
            <a:avLst/>
          </a:prstGeom>
          <a:noFill/>
          <a:ln>
            <a:noFill/>
          </a:ln>
        </p:spPr>
      </p:pic>
      <p:sp>
        <p:nvSpPr>
          <p:cNvPr id="337" name="Google Shape;337;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txBox="1"/>
          <p:nvPr>
            <p:ph type="title"/>
          </p:nvPr>
        </p:nvSpPr>
        <p:spPr>
          <a:xfrm>
            <a:off x="1273500" y="455000"/>
            <a:ext cx="1614000" cy="172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Python code for box plot</a:t>
            </a:r>
            <a:endParaRPr/>
          </a:p>
        </p:txBody>
      </p:sp>
      <p:pic>
        <p:nvPicPr>
          <p:cNvPr id="343" name="Google Shape;343;p22"/>
          <p:cNvPicPr preferRelativeResize="0"/>
          <p:nvPr/>
        </p:nvPicPr>
        <p:blipFill>
          <a:blip r:embed="rId3">
            <a:alphaModFix/>
          </a:blip>
          <a:stretch>
            <a:fillRect/>
          </a:stretch>
        </p:blipFill>
        <p:spPr>
          <a:xfrm>
            <a:off x="3235100" y="359025"/>
            <a:ext cx="5265725" cy="4425450"/>
          </a:xfrm>
          <a:prstGeom prst="rect">
            <a:avLst/>
          </a:prstGeom>
          <a:noFill/>
          <a:ln>
            <a:noFill/>
          </a:ln>
        </p:spPr>
      </p:pic>
      <p:sp>
        <p:nvSpPr>
          <p:cNvPr id="344" name="Google Shape;344;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Outliers using Excel</a:t>
            </a:r>
            <a:endParaRPr/>
          </a:p>
          <a:p>
            <a:pPr indent="0" lvl="0" marL="0" rtl="0" algn="l">
              <a:spcBef>
                <a:spcPts val="0"/>
              </a:spcBef>
              <a:spcAft>
                <a:spcPts val="0"/>
              </a:spcAft>
              <a:buNone/>
            </a:pPr>
            <a:r>
              <a:t/>
            </a:r>
            <a:endParaRPr/>
          </a:p>
        </p:txBody>
      </p:sp>
      <p:sp>
        <p:nvSpPr>
          <p:cNvPr id="350" name="Google Shape;350;p23"/>
          <p:cNvSpPr txBox="1"/>
          <p:nvPr>
            <p:ph idx="1" type="body"/>
          </p:nvPr>
        </p:nvSpPr>
        <p:spPr>
          <a:xfrm>
            <a:off x="1303800" y="1403800"/>
            <a:ext cx="7030500" cy="1672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To detect the outliers, I will start by finding the Min and Max values from </a:t>
            </a:r>
            <a:r>
              <a:rPr b="1" i="1" lang="en"/>
              <a:t>OfferedSalary </a:t>
            </a:r>
            <a:r>
              <a:rPr lang="en"/>
              <a:t>column</a:t>
            </a:r>
            <a:endParaRPr/>
          </a:p>
          <a:p>
            <a:pPr indent="-311150" lvl="0" marL="457200" rtl="0" algn="l">
              <a:spcBef>
                <a:spcPts val="0"/>
              </a:spcBef>
              <a:spcAft>
                <a:spcPts val="0"/>
              </a:spcAft>
              <a:buSzPts val="1300"/>
              <a:buChar char="●"/>
            </a:pPr>
            <a:r>
              <a:rPr lang="en"/>
              <a:t>Then I will find the Median, Q1 and Q3 using QUARTILE </a:t>
            </a:r>
            <a:r>
              <a:rPr lang="en"/>
              <a:t>function:</a:t>
            </a:r>
            <a:endParaRPr/>
          </a:p>
          <a:p>
            <a:pPr indent="0" lvl="0" marL="457200" rtl="0" algn="l">
              <a:spcBef>
                <a:spcPts val="1200"/>
              </a:spcBef>
              <a:spcAft>
                <a:spcPts val="0"/>
              </a:spcAft>
              <a:buNone/>
            </a:pPr>
            <a:r>
              <a:rPr i="1" lang="en" u="sng"/>
              <a:t>=QUARTILE(G:G,1)</a:t>
            </a:r>
            <a:r>
              <a:rPr lang="en"/>
              <a:t> and </a:t>
            </a:r>
            <a:r>
              <a:rPr i="1" lang="en" u="sng"/>
              <a:t>=QUARTILE(G:G,3)</a:t>
            </a:r>
            <a:r>
              <a:rPr lang="en"/>
              <a:t> and </a:t>
            </a:r>
            <a:r>
              <a:rPr i="1" lang="en" u="sng"/>
              <a:t>=MEDIAN(G2:G7152)</a:t>
            </a:r>
            <a:endParaRPr i="1" u="sng"/>
          </a:p>
          <a:p>
            <a:pPr indent="-311150" lvl="0" marL="457200" rtl="0" algn="l">
              <a:spcBef>
                <a:spcPts val="1200"/>
              </a:spcBef>
              <a:spcAft>
                <a:spcPts val="0"/>
              </a:spcAft>
              <a:buSzPts val="1300"/>
              <a:buChar char="●"/>
            </a:pPr>
            <a:r>
              <a:rPr lang="en"/>
              <a:t>Then find the Interquartile range(IQR) using formula: </a:t>
            </a:r>
            <a:r>
              <a:rPr i="1" lang="en" u="sng"/>
              <a:t>=M22-M20</a:t>
            </a:r>
            <a:r>
              <a:rPr lang="en"/>
              <a:t> i.e Q3 - Q1</a:t>
            </a:r>
            <a:endParaRPr/>
          </a:p>
        </p:txBody>
      </p:sp>
      <p:pic>
        <p:nvPicPr>
          <p:cNvPr id="351" name="Google Shape;351;p23"/>
          <p:cNvPicPr preferRelativeResize="0"/>
          <p:nvPr/>
        </p:nvPicPr>
        <p:blipFill>
          <a:blip r:embed="rId3">
            <a:alphaModFix/>
          </a:blip>
          <a:stretch>
            <a:fillRect/>
          </a:stretch>
        </p:blipFill>
        <p:spPr>
          <a:xfrm>
            <a:off x="776275" y="3025575"/>
            <a:ext cx="7591425" cy="1828800"/>
          </a:xfrm>
          <a:prstGeom prst="rect">
            <a:avLst/>
          </a:prstGeom>
          <a:noFill/>
          <a:ln>
            <a:noFill/>
          </a:ln>
        </p:spPr>
      </p:pic>
      <p:sp>
        <p:nvSpPr>
          <p:cNvPr id="352" name="Google Shape;352;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4"/>
          <p:cNvSpPr txBox="1"/>
          <p:nvPr>
            <p:ph idx="1" type="body"/>
          </p:nvPr>
        </p:nvSpPr>
        <p:spPr>
          <a:xfrm>
            <a:off x="1303800" y="1640275"/>
            <a:ext cx="7030500" cy="2187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Then I calculated the Upper bound and Lower bound :  </a:t>
            </a:r>
            <a:r>
              <a:rPr i="1" lang="en" u="sng"/>
              <a:t>=M22+(1.5*P20)</a:t>
            </a:r>
            <a:r>
              <a:rPr lang="en"/>
              <a:t> and </a:t>
            </a:r>
            <a:r>
              <a:rPr i="1" lang="en" u="sng"/>
              <a:t>=M20-(1.5*P20) </a:t>
            </a:r>
            <a:endParaRPr i="1" u="sng"/>
          </a:p>
          <a:p>
            <a:pPr indent="-311150" lvl="0" marL="457200" rtl="0" algn="l">
              <a:spcBef>
                <a:spcPts val="0"/>
              </a:spcBef>
              <a:spcAft>
                <a:spcPts val="0"/>
              </a:spcAft>
              <a:buSzPts val="1300"/>
              <a:buChar char="●"/>
            </a:pPr>
            <a:r>
              <a:rPr lang="en"/>
              <a:t>using formula: Upper bound  = Q3+(1.5*IQR)  and Lower bound  = Q1-(1.5*IQR)</a:t>
            </a:r>
            <a:endParaRPr/>
          </a:p>
          <a:p>
            <a:pPr indent="-311150" lvl="0" marL="457200" rtl="0" algn="l">
              <a:spcBef>
                <a:spcPts val="0"/>
              </a:spcBef>
              <a:spcAft>
                <a:spcPts val="0"/>
              </a:spcAft>
              <a:buSzPts val="1300"/>
              <a:buChar char="●"/>
            </a:pPr>
            <a:r>
              <a:rPr lang="en"/>
              <a:t>Then I used a OR function and created a new column called Outliers and compare the data value with upper and lower bound as : </a:t>
            </a:r>
            <a:r>
              <a:rPr i="1" lang="en" u="sng"/>
              <a:t>=OR(G2&gt;$P$21,G2&lt;$P$22)</a:t>
            </a:r>
            <a:endParaRPr i="1" u="sng"/>
          </a:p>
          <a:p>
            <a:pPr indent="-311150" lvl="0" marL="457200" rtl="0" algn="l">
              <a:spcBef>
                <a:spcPts val="0"/>
              </a:spcBef>
              <a:spcAft>
                <a:spcPts val="0"/>
              </a:spcAft>
              <a:buSzPts val="1300"/>
              <a:buChar char="●"/>
            </a:pPr>
            <a:r>
              <a:rPr lang="en"/>
              <a:t>This gave me a new column with True and False values for outliers</a:t>
            </a:r>
            <a:endParaRPr/>
          </a:p>
          <a:p>
            <a:pPr indent="-311150" lvl="0" marL="457200" rtl="0" algn="l">
              <a:spcBef>
                <a:spcPts val="0"/>
              </a:spcBef>
              <a:spcAft>
                <a:spcPts val="0"/>
              </a:spcAft>
              <a:buSzPts val="1300"/>
              <a:buChar char="●"/>
            </a:pPr>
            <a:r>
              <a:rPr lang="en"/>
              <a:t>I filtered data on </a:t>
            </a:r>
            <a:r>
              <a:rPr b="1" i="1" lang="en"/>
              <a:t>True </a:t>
            </a:r>
            <a:r>
              <a:rPr lang="en"/>
              <a:t>values and got below output</a:t>
            </a:r>
            <a:endParaRPr/>
          </a:p>
        </p:txBody>
      </p:sp>
      <p:pic>
        <p:nvPicPr>
          <p:cNvPr id="358" name="Google Shape;358;p24"/>
          <p:cNvPicPr preferRelativeResize="0"/>
          <p:nvPr/>
        </p:nvPicPr>
        <p:blipFill>
          <a:blip r:embed="rId3">
            <a:alphaModFix/>
          </a:blip>
          <a:stretch>
            <a:fillRect/>
          </a:stretch>
        </p:blipFill>
        <p:spPr>
          <a:xfrm>
            <a:off x="0" y="3542203"/>
            <a:ext cx="9144001" cy="1601294"/>
          </a:xfrm>
          <a:prstGeom prst="rect">
            <a:avLst/>
          </a:prstGeom>
          <a:noFill/>
          <a:ln>
            <a:noFill/>
          </a:ln>
        </p:spPr>
      </p:pic>
      <p:sp>
        <p:nvSpPr>
          <p:cNvPr id="359" name="Google Shape;359;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2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Outliers using Excel</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IV. </a:t>
            </a:r>
            <a:r>
              <a:rPr lang="en"/>
              <a:t>Removing Outliers/Anomalies: Decide on the best strategy to handle outliers.</a:t>
            </a:r>
            <a:endParaRPr/>
          </a:p>
        </p:txBody>
      </p:sp>
      <p:sp>
        <p:nvSpPr>
          <p:cNvPr id="366" name="Google Shape;366;p25"/>
          <p:cNvSpPr txBox="1"/>
          <p:nvPr>
            <p:ph idx="1" type="body"/>
          </p:nvPr>
        </p:nvSpPr>
        <p:spPr>
          <a:xfrm>
            <a:off x="1303800" y="1597875"/>
            <a:ext cx="3663000" cy="293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outliers are very far away from out data and hence will not provide a meaningful insight, so I will remove the outliers completely from the data</a:t>
            </a:r>
            <a:endParaRPr/>
          </a:p>
          <a:p>
            <a:pPr indent="-311150" lvl="0" marL="457200" rtl="0" algn="l">
              <a:spcBef>
                <a:spcPts val="0"/>
              </a:spcBef>
              <a:spcAft>
                <a:spcPts val="0"/>
              </a:spcAft>
              <a:buSzPts val="1300"/>
              <a:buChar char="●"/>
            </a:pPr>
            <a:r>
              <a:rPr lang="en"/>
              <a:t>Delete outliers and clean up data</a:t>
            </a:r>
            <a:endParaRPr/>
          </a:p>
          <a:p>
            <a:pPr indent="-311150" lvl="0" marL="457200" rtl="0" algn="l">
              <a:spcBef>
                <a:spcPts val="0"/>
              </a:spcBef>
              <a:spcAft>
                <a:spcPts val="0"/>
              </a:spcAft>
              <a:buSzPts val="1300"/>
              <a:buChar char="●"/>
            </a:pPr>
            <a:r>
              <a:rPr lang="en"/>
              <a:t>The Outliers are now deleted, I will also delete or hide the new column </a:t>
            </a:r>
            <a:r>
              <a:rPr b="1" i="1" lang="en"/>
              <a:t>Outliers </a:t>
            </a:r>
            <a:r>
              <a:rPr lang="en"/>
              <a:t>as our job for cleaning the data is done.</a:t>
            </a:r>
            <a:endParaRPr/>
          </a:p>
          <a:p>
            <a:pPr indent="-311150" lvl="0" marL="457200" rtl="0" algn="l">
              <a:spcBef>
                <a:spcPts val="0"/>
              </a:spcBef>
              <a:spcAft>
                <a:spcPts val="0"/>
              </a:spcAft>
              <a:buSzPts val="1300"/>
              <a:buChar char="●"/>
            </a:pPr>
            <a:r>
              <a:rPr lang="en"/>
              <a:t>I will now start with further analysis</a:t>
            </a:r>
            <a:endParaRPr/>
          </a:p>
        </p:txBody>
      </p:sp>
      <p:sp>
        <p:nvSpPr>
          <p:cNvPr id="367" name="Google Shape;367;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 </a:t>
            </a:r>
            <a:r>
              <a:rPr lang="en"/>
              <a:t>Data Summary: Summarize the findings. </a:t>
            </a:r>
            <a:endParaRPr/>
          </a:p>
        </p:txBody>
      </p:sp>
      <p:sp>
        <p:nvSpPr>
          <p:cNvPr id="373" name="Google Shape;373;p26"/>
          <p:cNvSpPr txBox="1"/>
          <p:nvPr>
            <p:ph idx="1" type="body"/>
          </p:nvPr>
        </p:nvSpPr>
        <p:spPr>
          <a:xfrm>
            <a:off x="1303800" y="1690950"/>
            <a:ext cx="3891000" cy="28407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I found the Statistical measures like Mean, Media, Mode from the </a:t>
            </a:r>
            <a:r>
              <a:rPr b="1" i="1" lang="en"/>
              <a:t>OfferedSalary </a:t>
            </a:r>
            <a:r>
              <a:rPr lang="en"/>
              <a:t>column, the only numerical column in data</a:t>
            </a:r>
            <a:endParaRPr/>
          </a:p>
          <a:p>
            <a:pPr indent="-304958" lvl="0" marL="457200" rtl="0" algn="l">
              <a:spcBef>
                <a:spcPts val="0"/>
              </a:spcBef>
              <a:spcAft>
                <a:spcPts val="0"/>
              </a:spcAft>
              <a:buSzPct val="100000"/>
              <a:buChar char="●"/>
            </a:pPr>
            <a:r>
              <a:rPr lang="en"/>
              <a:t>Also found the maximum and </a:t>
            </a:r>
            <a:r>
              <a:rPr lang="en"/>
              <a:t>minimum salary offered </a:t>
            </a:r>
            <a:endParaRPr/>
          </a:p>
          <a:p>
            <a:pPr indent="-304958" lvl="0" marL="457200" rtl="0" algn="l">
              <a:spcBef>
                <a:spcPts val="0"/>
              </a:spcBef>
              <a:spcAft>
                <a:spcPts val="0"/>
              </a:spcAft>
              <a:buSzPct val="100000"/>
              <a:buChar char="●"/>
            </a:pPr>
            <a:r>
              <a:rPr lang="en"/>
              <a:t>Have also checked the data and removed any Outliers, as it might change further analysis.</a:t>
            </a:r>
            <a:endParaRPr/>
          </a:p>
          <a:p>
            <a:pPr indent="-304958" lvl="0" marL="457200" rtl="0" algn="l">
              <a:spcBef>
                <a:spcPts val="0"/>
              </a:spcBef>
              <a:spcAft>
                <a:spcPts val="0"/>
              </a:spcAft>
              <a:buSzPct val="100000"/>
              <a:buChar char="●"/>
            </a:pPr>
            <a:r>
              <a:rPr lang="en"/>
              <a:t>We can see that the mean and median of salaries is similar approx. but salary of 69K is appearing most in the data. But this information is not very valuable. We can further divide these values for department and post-wise Salary</a:t>
            </a:r>
            <a:endParaRPr/>
          </a:p>
          <a:p>
            <a:pPr indent="-304958" lvl="0" marL="457200" rtl="0" algn="l">
              <a:spcBef>
                <a:spcPts val="0"/>
              </a:spcBef>
              <a:spcAft>
                <a:spcPts val="0"/>
              </a:spcAft>
              <a:buSzPct val="100000"/>
              <a:buChar char="●"/>
            </a:pPr>
            <a:r>
              <a:rPr lang="en"/>
              <a:t>Let us get into few visualizations using Excel</a:t>
            </a:r>
            <a:endParaRPr/>
          </a:p>
        </p:txBody>
      </p:sp>
      <p:pic>
        <p:nvPicPr>
          <p:cNvPr id="374" name="Google Shape;374;p26"/>
          <p:cNvPicPr preferRelativeResize="0"/>
          <p:nvPr/>
        </p:nvPicPr>
        <p:blipFill>
          <a:blip r:embed="rId3">
            <a:alphaModFix/>
          </a:blip>
          <a:stretch>
            <a:fillRect/>
          </a:stretch>
        </p:blipFill>
        <p:spPr>
          <a:xfrm>
            <a:off x="5888525" y="1743800"/>
            <a:ext cx="2552700" cy="1943100"/>
          </a:xfrm>
          <a:prstGeom prst="rect">
            <a:avLst/>
          </a:prstGeom>
          <a:noFill/>
          <a:ln>
            <a:noFill/>
          </a:ln>
        </p:spPr>
      </p:pic>
      <p:sp>
        <p:nvSpPr>
          <p:cNvPr id="375" name="Google Shape;375;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visualizations to better understand the data.</a:t>
            </a:r>
            <a:endParaRPr/>
          </a:p>
        </p:txBody>
      </p:sp>
      <p:sp>
        <p:nvSpPr>
          <p:cNvPr id="381" name="Google Shape;381;p27"/>
          <p:cNvSpPr txBox="1"/>
          <p:nvPr>
            <p:ph idx="1" type="body"/>
          </p:nvPr>
        </p:nvSpPr>
        <p:spPr>
          <a:xfrm>
            <a:off x="1303800" y="2155475"/>
            <a:ext cx="3857400" cy="23763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b="1" i="1" lang="en"/>
              <a:t>We can look at Hiring trends over time:</a:t>
            </a:r>
            <a:endParaRPr b="1" i="1"/>
          </a:p>
          <a:p>
            <a:pPr indent="-311150" lvl="0" marL="457200" rtl="0" algn="l">
              <a:spcBef>
                <a:spcPts val="1200"/>
              </a:spcBef>
              <a:spcAft>
                <a:spcPts val="0"/>
              </a:spcAft>
              <a:buSzPts val="1300"/>
              <a:buChar char="●"/>
            </a:pPr>
            <a:r>
              <a:rPr lang="en"/>
              <a:t>Filter </a:t>
            </a:r>
            <a:r>
              <a:rPr i="1" lang="en"/>
              <a:t>Status </a:t>
            </a:r>
            <a:r>
              <a:rPr lang="en"/>
              <a:t>column to keep only the </a:t>
            </a:r>
            <a:r>
              <a:rPr b="1" i="1" lang="en"/>
              <a:t>Hired </a:t>
            </a:r>
            <a:r>
              <a:rPr lang="en"/>
              <a:t>values (plotted using matplotlib)</a:t>
            </a:r>
            <a:endParaRPr/>
          </a:p>
          <a:p>
            <a:pPr indent="-311150" lvl="0" marL="457200" rtl="0" algn="l">
              <a:spcBef>
                <a:spcPts val="0"/>
              </a:spcBef>
              <a:spcAft>
                <a:spcPts val="0"/>
              </a:spcAft>
              <a:buSzPts val="1300"/>
              <a:buChar char="●"/>
            </a:pPr>
            <a:r>
              <a:rPr lang="en"/>
              <a:t>Plot time series plot on </a:t>
            </a:r>
            <a:r>
              <a:rPr b="1" i="1" lang="en"/>
              <a:t>Status </a:t>
            </a:r>
            <a:r>
              <a:rPr lang="en"/>
              <a:t>column</a:t>
            </a:r>
            <a:endParaRPr/>
          </a:p>
          <a:p>
            <a:pPr indent="-311150" lvl="0" marL="457200" rtl="0" algn="l">
              <a:spcBef>
                <a:spcPts val="0"/>
              </a:spcBef>
              <a:spcAft>
                <a:spcPts val="0"/>
              </a:spcAft>
              <a:buSzPts val="1300"/>
              <a:buChar char="●"/>
            </a:pPr>
            <a:r>
              <a:rPr b="1" i="1" lang="en"/>
              <a:t>Interview Taken on</a:t>
            </a:r>
            <a:r>
              <a:rPr lang="en"/>
              <a:t> is the  time column</a:t>
            </a:r>
            <a:endParaRPr/>
          </a:p>
          <a:p>
            <a:pPr indent="-311150" lvl="0" marL="457200" rtl="0" algn="l">
              <a:spcBef>
                <a:spcPts val="0"/>
              </a:spcBef>
              <a:spcAft>
                <a:spcPts val="0"/>
              </a:spcAft>
              <a:buSzPts val="1300"/>
              <a:buChar char="●"/>
            </a:pPr>
            <a:r>
              <a:rPr lang="en"/>
              <a:t>We can see that the number of applications increased during August month, that is after the appraisal period of most companies, so applicants usually apply after graduation or appraisal.</a:t>
            </a:r>
            <a:endParaRPr/>
          </a:p>
        </p:txBody>
      </p:sp>
      <p:pic>
        <p:nvPicPr>
          <p:cNvPr id="382" name="Google Shape;382;p27"/>
          <p:cNvPicPr preferRelativeResize="0"/>
          <p:nvPr/>
        </p:nvPicPr>
        <p:blipFill>
          <a:blip r:embed="rId3">
            <a:alphaModFix/>
          </a:blip>
          <a:stretch>
            <a:fillRect/>
          </a:stretch>
        </p:blipFill>
        <p:spPr>
          <a:xfrm>
            <a:off x="5313600" y="1750275"/>
            <a:ext cx="3678000" cy="2244324"/>
          </a:xfrm>
          <a:prstGeom prst="rect">
            <a:avLst/>
          </a:prstGeom>
          <a:noFill/>
          <a:ln>
            <a:noFill/>
          </a:ln>
        </p:spPr>
      </p:pic>
      <p:sp>
        <p:nvSpPr>
          <p:cNvPr id="383" name="Google Shape;383;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
            </a:r>
            <a:r>
              <a:rPr lang="en"/>
              <a:t>reating visualizations to better understand the data.</a:t>
            </a:r>
            <a:endParaRPr/>
          </a:p>
        </p:txBody>
      </p:sp>
      <p:sp>
        <p:nvSpPr>
          <p:cNvPr id="389" name="Google Shape;389;p28"/>
          <p:cNvSpPr txBox="1"/>
          <p:nvPr>
            <p:ph idx="1" type="body"/>
          </p:nvPr>
        </p:nvSpPr>
        <p:spPr>
          <a:xfrm>
            <a:off x="1303800" y="2155475"/>
            <a:ext cx="3342300" cy="2376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Department wise hiring</a:t>
            </a:r>
            <a:endParaRPr/>
          </a:p>
          <a:p>
            <a:pPr indent="0" lvl="0" marL="0" rtl="0" algn="l">
              <a:spcBef>
                <a:spcPts val="1200"/>
              </a:spcBef>
              <a:spcAft>
                <a:spcPts val="1200"/>
              </a:spcAft>
              <a:buNone/>
            </a:pPr>
            <a:r>
              <a:rPr lang="en"/>
              <a:t>In this plot we can see the distribution of Department_postName column that we created wrt the Status column that is number of applicants hired or rejected for a particular post in a particular department.</a:t>
            </a:r>
            <a:endParaRPr/>
          </a:p>
        </p:txBody>
      </p:sp>
      <p:pic>
        <p:nvPicPr>
          <p:cNvPr id="390" name="Google Shape;390;p28"/>
          <p:cNvPicPr preferRelativeResize="0"/>
          <p:nvPr/>
        </p:nvPicPr>
        <p:blipFill>
          <a:blip r:embed="rId3">
            <a:alphaModFix/>
          </a:blip>
          <a:stretch>
            <a:fillRect/>
          </a:stretch>
        </p:blipFill>
        <p:spPr>
          <a:xfrm>
            <a:off x="4572000" y="1162261"/>
            <a:ext cx="4419600" cy="3504288"/>
          </a:xfrm>
          <a:prstGeom prst="rect">
            <a:avLst/>
          </a:prstGeom>
          <a:noFill/>
          <a:ln>
            <a:noFill/>
          </a:ln>
        </p:spPr>
      </p:pic>
      <p:sp>
        <p:nvSpPr>
          <p:cNvPr id="391" name="Google Shape;391;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visualizations to better understand the data.</a:t>
            </a:r>
            <a:endParaRPr/>
          </a:p>
        </p:txBody>
      </p:sp>
      <p:sp>
        <p:nvSpPr>
          <p:cNvPr id="397" name="Google Shape;397;p29"/>
          <p:cNvSpPr txBox="1"/>
          <p:nvPr>
            <p:ph idx="1" type="body"/>
          </p:nvPr>
        </p:nvSpPr>
        <p:spPr>
          <a:xfrm>
            <a:off x="943525" y="2080925"/>
            <a:ext cx="3857400" cy="237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a:t>We can look at Department wise Hiring:</a:t>
            </a:r>
            <a:endParaRPr b="1" i="1"/>
          </a:p>
          <a:p>
            <a:pPr indent="-311150" lvl="0" marL="457200" rtl="0" algn="l">
              <a:spcBef>
                <a:spcPts val="1200"/>
              </a:spcBef>
              <a:spcAft>
                <a:spcPts val="0"/>
              </a:spcAft>
              <a:buSzPts val="1300"/>
              <a:buChar char="●"/>
            </a:pPr>
            <a:r>
              <a:rPr lang="en"/>
              <a:t>Plot a column plot of people Hired and Rejected.</a:t>
            </a:r>
            <a:endParaRPr/>
          </a:p>
          <a:p>
            <a:pPr indent="-311150" lvl="0" marL="457200" rtl="0" algn="l">
              <a:spcBef>
                <a:spcPts val="0"/>
              </a:spcBef>
              <a:spcAft>
                <a:spcPts val="0"/>
              </a:spcAft>
              <a:buSzPts val="1300"/>
              <a:buChar char="●"/>
            </a:pPr>
            <a:r>
              <a:rPr lang="en"/>
              <a:t>The Departments Operations and Service have recruited more people in this cycle. And HR dept has recruited the least number of people</a:t>
            </a:r>
            <a:endParaRPr/>
          </a:p>
        </p:txBody>
      </p:sp>
      <p:pic>
        <p:nvPicPr>
          <p:cNvPr id="398" name="Google Shape;398;p29"/>
          <p:cNvPicPr preferRelativeResize="0"/>
          <p:nvPr/>
        </p:nvPicPr>
        <p:blipFill>
          <a:blip r:embed="rId3">
            <a:alphaModFix/>
          </a:blip>
          <a:stretch>
            <a:fillRect/>
          </a:stretch>
        </p:blipFill>
        <p:spPr>
          <a:xfrm>
            <a:off x="4686650" y="1224323"/>
            <a:ext cx="4304950" cy="3611375"/>
          </a:xfrm>
          <a:prstGeom prst="rect">
            <a:avLst/>
          </a:prstGeom>
          <a:noFill/>
          <a:ln>
            <a:noFill/>
          </a:ln>
        </p:spPr>
      </p:pic>
      <p:sp>
        <p:nvSpPr>
          <p:cNvPr id="399" name="Google Shape;399;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0"/>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visualizations to better understand the data.</a:t>
            </a:r>
            <a:endParaRPr/>
          </a:p>
        </p:txBody>
      </p:sp>
      <p:sp>
        <p:nvSpPr>
          <p:cNvPr id="405" name="Google Shape;405;p30"/>
          <p:cNvSpPr txBox="1"/>
          <p:nvPr>
            <p:ph idx="1" type="body"/>
          </p:nvPr>
        </p:nvSpPr>
        <p:spPr>
          <a:xfrm>
            <a:off x="1303800" y="2155475"/>
            <a:ext cx="3435000" cy="2376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Gender based </a:t>
            </a:r>
            <a:r>
              <a:rPr lang="en"/>
              <a:t>Analysis</a:t>
            </a:r>
            <a:endParaRPr/>
          </a:p>
          <a:p>
            <a:pPr indent="0" lvl="0" marL="0" rtl="0" algn="l">
              <a:spcBef>
                <a:spcPts val="1200"/>
              </a:spcBef>
              <a:spcAft>
                <a:spcPts val="0"/>
              </a:spcAft>
              <a:buNone/>
            </a:pPr>
            <a:r>
              <a:rPr lang="en"/>
              <a:t>We can see that the organization has a relatively higher number of Male applicants than Female ones</a:t>
            </a:r>
            <a:endParaRPr/>
          </a:p>
          <a:p>
            <a:pPr indent="0" lvl="0" marL="0" rtl="0" algn="l">
              <a:spcBef>
                <a:spcPts val="1200"/>
              </a:spcBef>
              <a:spcAft>
                <a:spcPts val="1200"/>
              </a:spcAft>
              <a:buNone/>
            </a:pPr>
            <a:r>
              <a:rPr lang="en"/>
              <a:t>But the organization hires a equal distribution of people across all genders. The organization does not discriminate between Male and Female employee hires</a:t>
            </a:r>
            <a:endParaRPr/>
          </a:p>
        </p:txBody>
      </p:sp>
      <p:pic>
        <p:nvPicPr>
          <p:cNvPr id="406" name="Google Shape;406;p30"/>
          <p:cNvPicPr preferRelativeResize="0"/>
          <p:nvPr/>
        </p:nvPicPr>
        <p:blipFill>
          <a:blip r:embed="rId3">
            <a:alphaModFix/>
          </a:blip>
          <a:stretch>
            <a:fillRect/>
          </a:stretch>
        </p:blipFill>
        <p:spPr>
          <a:xfrm>
            <a:off x="4572000" y="1750275"/>
            <a:ext cx="4419600" cy="3034419"/>
          </a:xfrm>
          <a:prstGeom prst="rect">
            <a:avLst/>
          </a:prstGeom>
          <a:noFill/>
          <a:ln>
            <a:noFill/>
          </a:ln>
        </p:spPr>
      </p:pic>
      <p:sp>
        <p:nvSpPr>
          <p:cNvPr id="407" name="Google Shape;407;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visualizations to better understand the data.</a:t>
            </a:r>
            <a:endParaRPr/>
          </a:p>
        </p:txBody>
      </p:sp>
      <p:sp>
        <p:nvSpPr>
          <p:cNvPr id="413" name="Google Shape;413;p31"/>
          <p:cNvSpPr txBox="1"/>
          <p:nvPr>
            <p:ph idx="1" type="body"/>
          </p:nvPr>
        </p:nvSpPr>
        <p:spPr>
          <a:xfrm>
            <a:off x="1303800" y="2155475"/>
            <a:ext cx="3857400" cy="2376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Status Analysis</a:t>
            </a:r>
            <a:endParaRPr/>
          </a:p>
          <a:p>
            <a:pPr indent="0" lvl="0" marL="0" rtl="0" algn="l">
              <a:spcBef>
                <a:spcPts val="1200"/>
              </a:spcBef>
              <a:spcAft>
                <a:spcPts val="0"/>
              </a:spcAft>
              <a:buNone/>
            </a:pPr>
            <a:r>
              <a:rPr lang="en"/>
              <a:t>We can see that out of total applicants, almost 65.5% have the skills to get through all rounds and get hired.</a:t>
            </a:r>
            <a:endParaRPr/>
          </a:p>
          <a:p>
            <a:pPr indent="0" lvl="0" marL="0" rtl="0" algn="l">
              <a:spcBef>
                <a:spcPts val="1200"/>
              </a:spcBef>
              <a:spcAft>
                <a:spcPts val="1200"/>
              </a:spcAft>
              <a:buNone/>
            </a:pPr>
            <a:r>
              <a:t/>
            </a:r>
            <a:endParaRPr/>
          </a:p>
        </p:txBody>
      </p:sp>
      <p:pic>
        <p:nvPicPr>
          <p:cNvPr id="414" name="Google Shape;414;p31"/>
          <p:cNvPicPr preferRelativeResize="0"/>
          <p:nvPr/>
        </p:nvPicPr>
        <p:blipFill>
          <a:blip r:embed="rId3">
            <a:alphaModFix/>
          </a:blip>
          <a:stretch>
            <a:fillRect/>
          </a:stretch>
        </p:blipFill>
        <p:spPr>
          <a:xfrm>
            <a:off x="5313600" y="1750275"/>
            <a:ext cx="3292357" cy="3240824"/>
          </a:xfrm>
          <a:prstGeom prst="rect">
            <a:avLst/>
          </a:prstGeom>
          <a:noFill/>
          <a:ln>
            <a:noFill/>
          </a:ln>
        </p:spPr>
      </p:pic>
      <p:sp>
        <p:nvSpPr>
          <p:cNvPr id="415" name="Google Shape;415;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type="title"/>
          </p:nvPr>
        </p:nvSpPr>
        <p:spPr>
          <a:xfrm>
            <a:off x="1303800" y="1771800"/>
            <a:ext cx="4536600" cy="237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50">
                <a:solidFill>
                  <a:srgbClr val="3C4858"/>
                </a:solidFill>
                <a:highlight>
                  <a:srgbClr val="FFFFFF"/>
                </a:highlight>
                <a:latin typeface="Arial"/>
                <a:ea typeface="Arial"/>
                <a:cs typeface="Arial"/>
                <a:sym typeface="Arial"/>
              </a:rPr>
              <a:t>D</a:t>
            </a:r>
            <a:r>
              <a:rPr lang="en" sz="2700">
                <a:solidFill>
                  <a:srgbClr val="3C4858"/>
                </a:solidFill>
                <a:highlight>
                  <a:srgbClr val="FFFFFF"/>
                </a:highlight>
                <a:latin typeface="Arial"/>
                <a:ea typeface="Arial"/>
                <a:cs typeface="Arial"/>
                <a:sym typeface="Arial"/>
              </a:rPr>
              <a:t>ata Analytics Tasks</a:t>
            </a:r>
            <a:endParaRPr sz="2700"/>
          </a:p>
        </p:txBody>
      </p:sp>
      <p:sp>
        <p:nvSpPr>
          <p:cNvPr id="421" name="Google Shape;421;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a:t>
            </a:r>
            <a:r>
              <a:rPr lang="en"/>
              <a:t>. Hiring Analysis:</a:t>
            </a:r>
            <a:endParaRPr/>
          </a:p>
        </p:txBody>
      </p:sp>
      <p:sp>
        <p:nvSpPr>
          <p:cNvPr id="427" name="Google Shape;427;p33"/>
          <p:cNvSpPr txBox="1"/>
          <p:nvPr>
            <p:ph idx="1" type="body"/>
          </p:nvPr>
        </p:nvSpPr>
        <p:spPr>
          <a:xfrm>
            <a:off x="469875" y="1797025"/>
            <a:ext cx="5143500" cy="27345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Your Task: Determine the gender distribution of hires. How many males and females have been hired by the company?</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We can achieve this by using pivot tables to aggregate the data wrt Status and Event_name(Gender) columns</a:t>
            </a:r>
            <a:endParaRPr>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0" lvl="0" marL="457200" rtl="0" algn="l">
              <a:lnSpc>
                <a:spcPct val="100000"/>
              </a:lnSpc>
              <a:spcBef>
                <a:spcPts val="0"/>
              </a:spcBef>
              <a:spcAft>
                <a:spcPts val="0"/>
              </a:spcAft>
              <a:buNone/>
            </a:pPr>
            <a:r>
              <a:rPr b="1" i="1" lang="en">
                <a:latin typeface="Maven Pro"/>
                <a:ea typeface="Maven Pro"/>
                <a:cs typeface="Maven Pro"/>
                <a:sym typeface="Maven Pro"/>
              </a:rPr>
              <a:t>Steps: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Select pivot table on complete data</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Status column as Filter column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Gender or event_name column as Rows column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Keep Count of Unique application id as the Values column</a:t>
            </a:r>
            <a:endParaRPr>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The PivotTable displays the count of male and female hires.</a:t>
            </a:r>
            <a:endParaRPr/>
          </a:p>
        </p:txBody>
      </p:sp>
      <p:pic>
        <p:nvPicPr>
          <p:cNvPr id="428" name="Google Shape;428;p33"/>
          <p:cNvPicPr preferRelativeResize="0"/>
          <p:nvPr/>
        </p:nvPicPr>
        <p:blipFill>
          <a:blip r:embed="rId3">
            <a:alphaModFix/>
          </a:blip>
          <a:stretch>
            <a:fillRect/>
          </a:stretch>
        </p:blipFill>
        <p:spPr>
          <a:xfrm>
            <a:off x="5765775" y="1519676"/>
            <a:ext cx="3225825" cy="2554425"/>
          </a:xfrm>
          <a:prstGeom prst="rect">
            <a:avLst/>
          </a:prstGeom>
          <a:noFill/>
          <a:ln>
            <a:noFill/>
          </a:ln>
        </p:spPr>
      </p:pic>
      <p:sp>
        <p:nvSpPr>
          <p:cNvPr id="429" name="Google Shape;429;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Hiring Analysis: continued</a:t>
            </a:r>
            <a:endParaRPr/>
          </a:p>
        </p:txBody>
      </p:sp>
      <p:sp>
        <p:nvSpPr>
          <p:cNvPr id="435" name="Google Shape;435;p34"/>
          <p:cNvSpPr txBox="1"/>
          <p:nvPr>
            <p:ph idx="1" type="body"/>
          </p:nvPr>
        </p:nvSpPr>
        <p:spPr>
          <a:xfrm>
            <a:off x="469875" y="1797025"/>
            <a:ext cx="5143500" cy="2734500"/>
          </a:xfrm>
          <a:prstGeom prst="rect">
            <a:avLst/>
          </a:prstGeom>
        </p:spPr>
        <p:txBody>
          <a:bodyPr anchorCtr="0" anchor="t" bIns="91425" lIns="91425" spcFirstLastPara="1" rIns="91425" wrap="square" tIns="91425">
            <a:normAutofit/>
          </a:bodyPr>
          <a:lstStyle/>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0" lvl="0" marL="457200" rtl="0" algn="l">
              <a:lnSpc>
                <a:spcPct val="100000"/>
              </a:lnSpc>
              <a:spcBef>
                <a:spcPts val="0"/>
              </a:spcBef>
              <a:spcAft>
                <a:spcPts val="0"/>
              </a:spcAft>
              <a:buNone/>
            </a:pPr>
            <a:r>
              <a:rPr b="1" i="1" lang="en">
                <a:latin typeface="Maven Pro"/>
                <a:ea typeface="Maven Pro"/>
                <a:cs typeface="Maven Pro"/>
                <a:sym typeface="Maven Pro"/>
              </a:rPr>
              <a:t>Insights</a:t>
            </a:r>
            <a:r>
              <a:rPr b="1" i="1" lang="en">
                <a:latin typeface="Maven Pro"/>
                <a:ea typeface="Maven Pro"/>
                <a:cs typeface="Maven Pro"/>
                <a:sym typeface="Maven Pro"/>
              </a:rPr>
              <a:t>:</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a:t>
            </a:r>
            <a:r>
              <a:rPr lang="en">
                <a:latin typeface="Maven Pro"/>
                <a:ea typeface="Maven Pro"/>
                <a:cs typeface="Maven Pro"/>
                <a:sym typeface="Maven Pro"/>
              </a:rPr>
              <a:t>he count of male is greater to that of female hires </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Male hire percentage is 54.6% and female hire percentage is almost 40%</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There are also few applicants about 6%, who do not want to disclose their gender</a:t>
            </a:r>
            <a:endParaRPr>
              <a:latin typeface="Maven Pro"/>
              <a:ea typeface="Maven Pro"/>
              <a:cs typeface="Maven Pro"/>
              <a:sym typeface="Maven Pro"/>
            </a:endParaRPr>
          </a:p>
        </p:txBody>
      </p:sp>
      <p:pic>
        <p:nvPicPr>
          <p:cNvPr id="436" name="Google Shape;436;p34"/>
          <p:cNvPicPr preferRelativeResize="0"/>
          <p:nvPr/>
        </p:nvPicPr>
        <p:blipFill>
          <a:blip r:embed="rId3">
            <a:alphaModFix/>
          </a:blip>
          <a:stretch>
            <a:fillRect/>
          </a:stretch>
        </p:blipFill>
        <p:spPr>
          <a:xfrm>
            <a:off x="5765775" y="1750275"/>
            <a:ext cx="3225826" cy="1935495"/>
          </a:xfrm>
          <a:prstGeom prst="rect">
            <a:avLst/>
          </a:prstGeom>
          <a:noFill/>
          <a:ln>
            <a:noFill/>
          </a:ln>
        </p:spPr>
      </p:pic>
      <p:pic>
        <p:nvPicPr>
          <p:cNvPr id="437" name="Google Shape;437;p34"/>
          <p:cNvPicPr preferRelativeResize="0"/>
          <p:nvPr/>
        </p:nvPicPr>
        <p:blipFill>
          <a:blip r:embed="rId4">
            <a:alphaModFix/>
          </a:blip>
          <a:stretch>
            <a:fillRect/>
          </a:stretch>
        </p:blipFill>
        <p:spPr>
          <a:xfrm>
            <a:off x="5765775" y="3838170"/>
            <a:ext cx="1951810" cy="1152930"/>
          </a:xfrm>
          <a:prstGeom prst="rect">
            <a:avLst/>
          </a:prstGeom>
          <a:noFill/>
          <a:ln>
            <a:noFill/>
          </a:ln>
        </p:spPr>
      </p:pic>
      <p:sp>
        <p:nvSpPr>
          <p:cNvPr id="438" name="Google Shape;438;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II.</a:t>
            </a:r>
            <a:r>
              <a:rPr lang="en"/>
              <a:t> Salary Analysis: </a:t>
            </a:r>
            <a:endParaRPr/>
          </a:p>
        </p:txBody>
      </p:sp>
      <p:sp>
        <p:nvSpPr>
          <p:cNvPr id="444" name="Google Shape;444;p35"/>
          <p:cNvSpPr txBox="1"/>
          <p:nvPr>
            <p:ph idx="1" type="body"/>
          </p:nvPr>
        </p:nvSpPr>
        <p:spPr>
          <a:xfrm>
            <a:off x="469875" y="1797025"/>
            <a:ext cx="8270100" cy="27345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Your Task: What is the average salary offered by this company? Use Excel functions to calculate this.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We can achieve this by using Average function in Excel on Offered Salary column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To avoid </a:t>
            </a:r>
            <a:r>
              <a:rPr lang="en">
                <a:latin typeface="Maven Pro"/>
                <a:ea typeface="Maven Pro"/>
                <a:cs typeface="Maven Pro"/>
                <a:sym typeface="Maven Pro"/>
              </a:rPr>
              <a:t>discrepancies</a:t>
            </a:r>
            <a:r>
              <a:rPr lang="en">
                <a:latin typeface="Maven Pro"/>
                <a:ea typeface="Maven Pro"/>
                <a:cs typeface="Maven Pro"/>
                <a:sym typeface="Maven Pro"/>
              </a:rPr>
              <a:t> in the result I have removed the outliers during preprocessing</a:t>
            </a:r>
            <a:endParaRPr>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0" lvl="0" marL="457200" rtl="0" algn="l">
              <a:lnSpc>
                <a:spcPct val="100000"/>
              </a:lnSpc>
              <a:spcBef>
                <a:spcPts val="0"/>
              </a:spcBef>
              <a:spcAft>
                <a:spcPts val="0"/>
              </a:spcAft>
              <a:buNone/>
            </a:pPr>
            <a:r>
              <a:rPr b="1" i="1" lang="en">
                <a:latin typeface="Maven Pro"/>
                <a:ea typeface="Maven Pro"/>
                <a:cs typeface="Maven Pro"/>
                <a:sym typeface="Maven Pro"/>
              </a:rPr>
              <a:t>Steps: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Select a blank cell in Excel</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Use </a:t>
            </a:r>
            <a:r>
              <a:rPr lang="en" u="sng">
                <a:latin typeface="Maven Pro"/>
                <a:ea typeface="Maven Pro"/>
                <a:cs typeface="Maven Pro"/>
                <a:sym typeface="Maven Pro"/>
              </a:rPr>
              <a:t>=AVERAGE(G2, G7149)</a:t>
            </a:r>
            <a:r>
              <a:rPr lang="en">
                <a:latin typeface="Maven Pro"/>
                <a:ea typeface="Maven Pro"/>
                <a:cs typeface="Maven Pro"/>
                <a:sym typeface="Maven Pro"/>
              </a:rPr>
              <a:t> function to calculate average of the Offered Salary column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Enter</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Alternatively can also sum the offered salary column and then divide it by the count of records in that column</a:t>
            </a:r>
            <a:endParaRPr>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The cell will display the average salary offered by the company.</a:t>
            </a:r>
            <a:endParaRPr/>
          </a:p>
        </p:txBody>
      </p:sp>
      <p:pic>
        <p:nvPicPr>
          <p:cNvPr id="445" name="Google Shape;445;p35"/>
          <p:cNvPicPr preferRelativeResize="0"/>
          <p:nvPr/>
        </p:nvPicPr>
        <p:blipFill>
          <a:blip r:embed="rId3">
            <a:alphaModFix/>
          </a:blip>
          <a:stretch>
            <a:fillRect/>
          </a:stretch>
        </p:blipFill>
        <p:spPr>
          <a:xfrm>
            <a:off x="871775" y="3926825"/>
            <a:ext cx="5524500" cy="895350"/>
          </a:xfrm>
          <a:prstGeom prst="rect">
            <a:avLst/>
          </a:prstGeom>
          <a:noFill/>
          <a:ln>
            <a:noFill/>
          </a:ln>
        </p:spPr>
      </p:pic>
      <p:sp>
        <p:nvSpPr>
          <p:cNvPr id="446" name="Google Shape;446;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III. </a:t>
            </a:r>
            <a:r>
              <a:rPr lang="en"/>
              <a:t>Salary Distribution:</a:t>
            </a:r>
            <a:endParaRPr/>
          </a:p>
        </p:txBody>
      </p:sp>
      <p:sp>
        <p:nvSpPr>
          <p:cNvPr id="452" name="Google Shape;452;p36"/>
          <p:cNvSpPr txBox="1"/>
          <p:nvPr>
            <p:ph idx="1" type="body"/>
          </p:nvPr>
        </p:nvSpPr>
        <p:spPr>
          <a:xfrm>
            <a:off x="382900" y="1447950"/>
            <a:ext cx="4263000" cy="32574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Your Task: </a:t>
            </a:r>
            <a:r>
              <a:rPr lang="en">
                <a:latin typeface="Maven Pro"/>
                <a:ea typeface="Maven Pro"/>
                <a:cs typeface="Maven Pro"/>
                <a:sym typeface="Maven Pro"/>
              </a:rPr>
              <a:t>Create class intervals for the salaries in the company. This will help you understand the salary distribution.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We can achieve this by using Frequency function in Excel on Offered Salary column</a:t>
            </a:r>
            <a:endParaRPr>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0" lvl="0" marL="457200" rtl="0" algn="l">
              <a:lnSpc>
                <a:spcPct val="100000"/>
              </a:lnSpc>
              <a:spcBef>
                <a:spcPts val="0"/>
              </a:spcBef>
              <a:spcAft>
                <a:spcPts val="0"/>
              </a:spcAft>
              <a:buNone/>
            </a:pPr>
            <a:r>
              <a:rPr b="1" i="1" lang="en">
                <a:latin typeface="Maven Pro"/>
                <a:ea typeface="Maven Pro"/>
                <a:cs typeface="Maven Pro"/>
                <a:sym typeface="Maven Pro"/>
              </a:rPr>
              <a:t>Steps: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Decide on the intervals and create new column</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min and max using MIN(), MAX() functions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difference of Min and Max values as range of the data</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a number i.e. 10 for dividing the data into intervals.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Take range divided by no of intervals for Interval difference</a:t>
            </a:r>
            <a:endParaRPr>
              <a:latin typeface="Maven Pro"/>
              <a:ea typeface="Maven Pro"/>
              <a:cs typeface="Maven Pro"/>
              <a:sym typeface="Maven Pro"/>
            </a:endParaRPr>
          </a:p>
        </p:txBody>
      </p:sp>
      <p:pic>
        <p:nvPicPr>
          <p:cNvPr id="453" name="Google Shape;453;p36"/>
          <p:cNvPicPr preferRelativeResize="0"/>
          <p:nvPr/>
        </p:nvPicPr>
        <p:blipFill>
          <a:blip r:embed="rId3">
            <a:alphaModFix/>
          </a:blip>
          <a:stretch>
            <a:fillRect/>
          </a:stretch>
        </p:blipFill>
        <p:spPr>
          <a:xfrm>
            <a:off x="4811450" y="1654600"/>
            <a:ext cx="4262975" cy="1942675"/>
          </a:xfrm>
          <a:prstGeom prst="rect">
            <a:avLst/>
          </a:prstGeom>
          <a:noFill/>
          <a:ln>
            <a:noFill/>
          </a:ln>
        </p:spPr>
      </p:pic>
      <p:sp>
        <p:nvSpPr>
          <p:cNvPr id="454" name="Google Shape;454;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III. Salary Distribution: continued</a:t>
            </a:r>
            <a:endParaRPr/>
          </a:p>
        </p:txBody>
      </p:sp>
      <p:sp>
        <p:nvSpPr>
          <p:cNvPr id="460" name="Google Shape;460;p37"/>
          <p:cNvSpPr txBox="1"/>
          <p:nvPr>
            <p:ph idx="1" type="body"/>
          </p:nvPr>
        </p:nvSpPr>
        <p:spPr>
          <a:xfrm>
            <a:off x="469875" y="1797025"/>
            <a:ext cx="4043400" cy="2734500"/>
          </a:xfrm>
          <a:prstGeom prst="rect">
            <a:avLst/>
          </a:prstGeom>
        </p:spPr>
        <p:txBody>
          <a:bodyPr anchorCtr="0" anchor="t" bIns="91425" lIns="91425" spcFirstLastPara="1" rIns="91425" wrap="square" tIns="91425">
            <a:normAutofit/>
          </a:bodyPr>
          <a:lstStyle/>
          <a:p>
            <a:pPr indent="0" lvl="0" marL="457200" rtl="0" algn="l">
              <a:lnSpc>
                <a:spcPct val="100000"/>
              </a:lnSpc>
              <a:spcBef>
                <a:spcPts val="0"/>
              </a:spcBef>
              <a:spcAft>
                <a:spcPts val="0"/>
              </a:spcAft>
              <a:buNone/>
            </a:pPr>
            <a:r>
              <a:rPr b="1" i="1" lang="en">
                <a:latin typeface="Maven Pro"/>
                <a:ea typeface="Maven Pro"/>
                <a:cs typeface="Maven Pro"/>
                <a:sym typeface="Maven Pro"/>
              </a:rPr>
              <a:t>Steps continued:</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Then create a new column in data for making the intervals(bins) take formula </a:t>
            </a:r>
            <a:r>
              <a:rPr i="1" lang="en" u="sng">
                <a:latin typeface="Maven Pro"/>
                <a:ea typeface="Maven Pro"/>
                <a:cs typeface="Maven Pro"/>
                <a:sym typeface="Maven Pro"/>
              </a:rPr>
              <a:t>=J2+$M$12 </a:t>
            </a:r>
            <a:r>
              <a:rPr lang="en">
                <a:latin typeface="Maven Pro"/>
                <a:ea typeface="Maven Pro"/>
                <a:cs typeface="Maven Pro"/>
                <a:sym typeface="Maven Pro"/>
              </a:rPr>
              <a:t>for calculating subsequent intervals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Use Frequency function to calculate frequencies</a:t>
            </a:r>
            <a:endParaRPr>
              <a:latin typeface="Maven Pro"/>
              <a:ea typeface="Maven Pro"/>
              <a:cs typeface="Maven Pro"/>
              <a:sym typeface="Maven Pro"/>
            </a:endParaRPr>
          </a:p>
          <a:p>
            <a:pPr indent="0" lvl="0" marL="457200" rtl="0" algn="l">
              <a:lnSpc>
                <a:spcPct val="100000"/>
              </a:lnSpc>
              <a:spcBef>
                <a:spcPts val="0"/>
              </a:spcBef>
              <a:spcAft>
                <a:spcPts val="0"/>
              </a:spcAft>
              <a:buNone/>
            </a:pPr>
            <a:r>
              <a:rPr lang="en" u="sng">
                <a:latin typeface="Maven Pro"/>
                <a:ea typeface="Maven Pro"/>
                <a:cs typeface="Maven Pro"/>
                <a:sym typeface="Maven Pro"/>
              </a:rPr>
              <a:t>=FREQUENCY(G2:G7149,J2:J12)</a:t>
            </a:r>
            <a:endParaRPr u="sng">
              <a:latin typeface="Maven Pro"/>
              <a:ea typeface="Maven Pro"/>
              <a:cs typeface="Maven Pro"/>
              <a:sym typeface="Maven Pro"/>
            </a:endParaRPr>
          </a:p>
          <a:p>
            <a:pPr indent="0" lvl="0" marL="457200" rtl="0" algn="l">
              <a:lnSpc>
                <a:spcPct val="100000"/>
              </a:lnSpc>
              <a:spcBef>
                <a:spcPts val="0"/>
              </a:spcBef>
              <a:spcAft>
                <a:spcPts val="0"/>
              </a:spcAft>
              <a:buNone/>
            </a:pPr>
            <a:r>
              <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This will give you the distribution of salaries across the intervals.</a:t>
            </a:r>
            <a:endParaRPr/>
          </a:p>
        </p:txBody>
      </p:sp>
      <p:pic>
        <p:nvPicPr>
          <p:cNvPr id="461" name="Google Shape;461;p37"/>
          <p:cNvPicPr preferRelativeResize="0"/>
          <p:nvPr/>
        </p:nvPicPr>
        <p:blipFill>
          <a:blip r:embed="rId3">
            <a:alphaModFix/>
          </a:blip>
          <a:stretch>
            <a:fillRect/>
          </a:stretch>
        </p:blipFill>
        <p:spPr>
          <a:xfrm>
            <a:off x="4898400" y="1436350"/>
            <a:ext cx="3931674" cy="3333375"/>
          </a:xfrm>
          <a:prstGeom prst="rect">
            <a:avLst/>
          </a:prstGeom>
          <a:noFill/>
          <a:ln>
            <a:noFill/>
          </a:ln>
        </p:spPr>
      </p:pic>
      <p:sp>
        <p:nvSpPr>
          <p:cNvPr id="462" name="Google Shape;462;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III. Salary Distribution: continued</a:t>
            </a:r>
            <a:endParaRPr/>
          </a:p>
        </p:txBody>
      </p:sp>
      <p:pic>
        <p:nvPicPr>
          <p:cNvPr id="468" name="Google Shape;468;p38"/>
          <p:cNvPicPr preferRelativeResize="0"/>
          <p:nvPr/>
        </p:nvPicPr>
        <p:blipFill>
          <a:blip r:embed="rId3">
            <a:alphaModFix/>
          </a:blip>
          <a:stretch>
            <a:fillRect/>
          </a:stretch>
        </p:blipFill>
        <p:spPr>
          <a:xfrm>
            <a:off x="1866900" y="1402400"/>
            <a:ext cx="4924425" cy="3133725"/>
          </a:xfrm>
          <a:prstGeom prst="rect">
            <a:avLst/>
          </a:prstGeom>
          <a:noFill/>
          <a:ln>
            <a:noFill/>
          </a:ln>
        </p:spPr>
      </p:pic>
      <p:sp>
        <p:nvSpPr>
          <p:cNvPr id="469" name="Google Shape;469;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IV. </a:t>
            </a:r>
            <a:r>
              <a:rPr lang="en"/>
              <a:t>Departmental Analysis:</a:t>
            </a:r>
            <a:endParaRPr/>
          </a:p>
        </p:txBody>
      </p:sp>
      <p:sp>
        <p:nvSpPr>
          <p:cNvPr id="475" name="Google Shape;475;p39"/>
          <p:cNvSpPr txBox="1"/>
          <p:nvPr>
            <p:ph idx="1" type="body"/>
          </p:nvPr>
        </p:nvSpPr>
        <p:spPr>
          <a:xfrm>
            <a:off x="382900" y="1447950"/>
            <a:ext cx="4263000" cy="32574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Your Task: Use a pie chart, bar graph, or any other suitable visualization to show the proportion of people working in different departments.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We can achieve this by using pivot </a:t>
            </a:r>
            <a:r>
              <a:rPr lang="en">
                <a:latin typeface="Maven Pro"/>
                <a:ea typeface="Maven Pro"/>
                <a:cs typeface="Maven Pro"/>
                <a:sym typeface="Maven Pro"/>
              </a:rPr>
              <a:t>table to Aggregate data</a:t>
            </a:r>
            <a:endParaRPr>
              <a:latin typeface="Maven Pro"/>
              <a:ea typeface="Maven Pro"/>
              <a:cs typeface="Maven Pro"/>
              <a:sym typeface="Maven Pro"/>
            </a:endParaRPr>
          </a:p>
          <a:p>
            <a:pPr indent="0" lvl="0" marL="457200" rtl="0" algn="l">
              <a:lnSpc>
                <a:spcPct val="100000"/>
              </a:lnSpc>
              <a:spcBef>
                <a:spcPts val="1000"/>
              </a:spcBef>
              <a:spcAft>
                <a:spcPts val="0"/>
              </a:spcAft>
              <a:buNone/>
            </a:pPr>
            <a:r>
              <a:rPr b="1" i="1" lang="en">
                <a:latin typeface="Maven Pro"/>
                <a:ea typeface="Maven Pro"/>
                <a:cs typeface="Maven Pro"/>
                <a:sym typeface="Maven Pro"/>
              </a:rPr>
              <a:t>Steps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Keep Department as </a:t>
            </a:r>
            <a:r>
              <a:rPr b="1" i="1" lang="en">
                <a:latin typeface="Maven Pro"/>
                <a:ea typeface="Maven Pro"/>
                <a:cs typeface="Maven Pro"/>
                <a:sym typeface="Maven Pro"/>
              </a:rPr>
              <a:t>Rows</a:t>
            </a:r>
            <a:r>
              <a:rPr lang="en">
                <a:latin typeface="Maven Pro"/>
                <a:ea typeface="Maven Pro"/>
                <a:cs typeface="Maven Pro"/>
                <a:sym typeface="Maven Pro"/>
              </a:rPr>
              <a:t>, and Count of Applicants in </a:t>
            </a:r>
            <a:r>
              <a:rPr b="1" i="1" lang="en">
                <a:latin typeface="Maven Pro"/>
                <a:ea typeface="Maven Pro"/>
                <a:cs typeface="Maven Pro"/>
                <a:sym typeface="Maven Pro"/>
              </a:rPr>
              <a:t>Values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Add pie chart for count of values</a:t>
            </a:r>
            <a:endParaRPr>
              <a:latin typeface="Maven Pro"/>
              <a:ea typeface="Maven Pro"/>
              <a:cs typeface="Maven Pro"/>
              <a:sym typeface="Maven Pro"/>
            </a:endParaRPr>
          </a:p>
          <a:p>
            <a:pPr indent="0" lvl="0" marL="0" rtl="0" algn="l">
              <a:lnSpc>
                <a:spcPct val="100000"/>
              </a:lnSpc>
              <a:spcBef>
                <a:spcPts val="0"/>
              </a:spcBef>
              <a:spcAft>
                <a:spcPts val="0"/>
              </a:spcAft>
              <a:buNone/>
            </a:pPr>
            <a:r>
              <a:t/>
            </a:r>
            <a:endParaRPr>
              <a:latin typeface="Maven Pro"/>
              <a:ea typeface="Maven Pro"/>
              <a:cs typeface="Maven Pro"/>
              <a:sym typeface="Maven Pro"/>
            </a:endParaRPr>
          </a:p>
          <a:p>
            <a:pPr indent="0" lvl="0" marL="0" rtl="0" algn="l">
              <a:lnSpc>
                <a:spcPct val="100000"/>
              </a:lnSpc>
              <a:spcBef>
                <a:spcPts val="0"/>
              </a:spcBef>
              <a:spcAft>
                <a:spcPts val="0"/>
              </a:spcAft>
              <a:buNone/>
            </a:pPr>
            <a:r>
              <a:rPr lang="en">
                <a:latin typeface="Maven Pro"/>
                <a:ea typeface="Maven Pro"/>
                <a:cs typeface="Maven Pro"/>
                <a:sym typeface="Maven Pro"/>
              </a:rPr>
              <a:t>This will visualize the proportion of people working in different departments.</a:t>
            </a:r>
            <a:endParaRPr>
              <a:latin typeface="Maven Pro"/>
              <a:ea typeface="Maven Pro"/>
              <a:cs typeface="Maven Pro"/>
              <a:sym typeface="Maven Pro"/>
            </a:endParaRPr>
          </a:p>
        </p:txBody>
      </p:sp>
      <p:pic>
        <p:nvPicPr>
          <p:cNvPr id="476" name="Google Shape;476;p39"/>
          <p:cNvPicPr preferRelativeResize="0"/>
          <p:nvPr/>
        </p:nvPicPr>
        <p:blipFill>
          <a:blip r:embed="rId3">
            <a:alphaModFix/>
          </a:blip>
          <a:stretch>
            <a:fillRect/>
          </a:stretch>
        </p:blipFill>
        <p:spPr>
          <a:xfrm>
            <a:off x="4798300" y="1750275"/>
            <a:ext cx="4193300" cy="2535165"/>
          </a:xfrm>
          <a:prstGeom prst="rect">
            <a:avLst/>
          </a:prstGeom>
          <a:noFill/>
          <a:ln>
            <a:noFill/>
          </a:ln>
        </p:spPr>
      </p:pic>
      <p:sp>
        <p:nvSpPr>
          <p:cNvPr id="477" name="Google Shape;477;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IV. Departmental Analysis: continued</a:t>
            </a:r>
            <a:endParaRPr/>
          </a:p>
        </p:txBody>
      </p:sp>
      <p:pic>
        <p:nvPicPr>
          <p:cNvPr id="483" name="Google Shape;483;p40"/>
          <p:cNvPicPr preferRelativeResize="0"/>
          <p:nvPr/>
        </p:nvPicPr>
        <p:blipFill>
          <a:blip r:embed="rId3">
            <a:alphaModFix/>
          </a:blip>
          <a:stretch>
            <a:fillRect/>
          </a:stretch>
        </p:blipFill>
        <p:spPr>
          <a:xfrm>
            <a:off x="2133163" y="1427250"/>
            <a:ext cx="5371778" cy="3240825"/>
          </a:xfrm>
          <a:prstGeom prst="rect">
            <a:avLst/>
          </a:prstGeom>
          <a:noFill/>
          <a:ln>
            <a:noFill/>
          </a:ln>
        </p:spPr>
      </p:pic>
      <p:sp>
        <p:nvSpPr>
          <p:cNvPr id="484" name="Google Shape;484;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 </a:t>
            </a:r>
            <a:r>
              <a:rPr lang="en"/>
              <a:t>Position Tier Analysis: </a:t>
            </a:r>
            <a:endParaRPr/>
          </a:p>
        </p:txBody>
      </p:sp>
      <p:sp>
        <p:nvSpPr>
          <p:cNvPr id="490" name="Google Shape;490;p41"/>
          <p:cNvSpPr txBox="1"/>
          <p:nvPr>
            <p:ph idx="1" type="body"/>
          </p:nvPr>
        </p:nvSpPr>
        <p:spPr>
          <a:xfrm>
            <a:off x="382900" y="1447950"/>
            <a:ext cx="4263000" cy="32574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Your Task: Use a chart or graph to represent the different position tiers within the company. This will help you understand the distribution of positions across different tiers.</a:t>
            </a:r>
            <a:endParaRPr>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Char char="●"/>
            </a:pPr>
            <a:r>
              <a:rPr lang="en">
                <a:latin typeface="Maven Pro"/>
                <a:ea typeface="Maven Pro"/>
                <a:cs typeface="Maven Pro"/>
                <a:sym typeface="Maven Pro"/>
              </a:rPr>
              <a:t>We can achieve this by using pivot table to Aggregate data</a:t>
            </a:r>
            <a:endParaRPr>
              <a:latin typeface="Maven Pro"/>
              <a:ea typeface="Maven Pro"/>
              <a:cs typeface="Maven Pro"/>
              <a:sym typeface="Maven Pro"/>
            </a:endParaRPr>
          </a:p>
          <a:p>
            <a:pPr indent="0" lvl="0" marL="457200" rtl="0" algn="l">
              <a:lnSpc>
                <a:spcPct val="100000"/>
              </a:lnSpc>
              <a:spcBef>
                <a:spcPts val="1000"/>
              </a:spcBef>
              <a:spcAft>
                <a:spcPts val="0"/>
              </a:spcAft>
              <a:buNone/>
            </a:pPr>
            <a:r>
              <a:rPr b="1" i="1" lang="en">
                <a:latin typeface="Maven Pro"/>
                <a:ea typeface="Maven Pro"/>
                <a:cs typeface="Maven Pro"/>
                <a:sym typeface="Maven Pro"/>
              </a:rPr>
              <a:t>Steps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Keep </a:t>
            </a:r>
            <a:r>
              <a:rPr i="1" lang="en">
                <a:latin typeface="Maven Pro"/>
                <a:ea typeface="Maven Pro"/>
                <a:cs typeface="Maven Pro"/>
                <a:sym typeface="Maven Pro"/>
              </a:rPr>
              <a:t>Department_PostName </a:t>
            </a:r>
            <a:r>
              <a:rPr lang="en">
                <a:latin typeface="Maven Pro"/>
                <a:ea typeface="Maven Pro"/>
                <a:cs typeface="Maven Pro"/>
                <a:sym typeface="Maven Pro"/>
              </a:rPr>
              <a:t>as </a:t>
            </a:r>
            <a:r>
              <a:rPr b="1" i="1" lang="en">
                <a:latin typeface="Maven Pro"/>
                <a:ea typeface="Maven Pro"/>
                <a:cs typeface="Maven Pro"/>
                <a:sym typeface="Maven Pro"/>
              </a:rPr>
              <a:t>Rows</a:t>
            </a:r>
            <a:r>
              <a:rPr lang="en">
                <a:latin typeface="Maven Pro"/>
                <a:ea typeface="Maven Pro"/>
                <a:cs typeface="Maven Pro"/>
                <a:sym typeface="Maven Pro"/>
              </a:rPr>
              <a:t>, and Count of </a:t>
            </a:r>
            <a:r>
              <a:rPr lang="en">
                <a:latin typeface="Maven Pro"/>
                <a:ea typeface="Maven Pro"/>
                <a:cs typeface="Maven Pro"/>
                <a:sym typeface="Maven Pro"/>
              </a:rPr>
              <a:t>Application</a:t>
            </a:r>
            <a:r>
              <a:rPr lang="en">
                <a:latin typeface="Maven Pro"/>
                <a:ea typeface="Maven Pro"/>
                <a:cs typeface="Maven Pro"/>
                <a:sym typeface="Maven Pro"/>
              </a:rPr>
              <a:t> ids in </a:t>
            </a:r>
            <a:r>
              <a:rPr b="1" i="1" lang="en">
                <a:latin typeface="Maven Pro"/>
                <a:ea typeface="Maven Pro"/>
                <a:cs typeface="Maven Pro"/>
                <a:sym typeface="Maven Pro"/>
              </a:rPr>
              <a:t>Values</a:t>
            </a:r>
            <a:endParaRPr b="1" i="1">
              <a:latin typeface="Maven Pro"/>
              <a:ea typeface="Maven Pro"/>
              <a:cs typeface="Maven Pro"/>
              <a:sym typeface="Maven Pro"/>
            </a:endParaRPr>
          </a:p>
          <a:p>
            <a:pPr indent="-311150" lvl="0" marL="457200" rtl="0" algn="l">
              <a:lnSpc>
                <a:spcPct val="100000"/>
              </a:lnSpc>
              <a:spcBef>
                <a:spcPts val="0"/>
              </a:spcBef>
              <a:spcAft>
                <a:spcPts val="0"/>
              </a:spcAft>
              <a:buSzPts val="1300"/>
              <a:buFont typeface="Maven Pro"/>
              <a:buAutoNum type="arabicPeriod"/>
            </a:pPr>
            <a:r>
              <a:rPr lang="en">
                <a:latin typeface="Maven Pro"/>
                <a:ea typeface="Maven Pro"/>
                <a:cs typeface="Maven Pro"/>
                <a:sym typeface="Maven Pro"/>
              </a:rPr>
              <a:t>Add column chart for count of values</a:t>
            </a:r>
            <a:endParaRPr>
              <a:latin typeface="Maven Pro"/>
              <a:ea typeface="Maven Pro"/>
              <a:cs typeface="Maven Pro"/>
              <a:sym typeface="Maven Pro"/>
            </a:endParaRPr>
          </a:p>
          <a:p>
            <a:pPr indent="0" lvl="0" marL="0" rtl="0" algn="l">
              <a:lnSpc>
                <a:spcPct val="100000"/>
              </a:lnSpc>
              <a:spcBef>
                <a:spcPts val="0"/>
              </a:spcBef>
              <a:spcAft>
                <a:spcPts val="0"/>
              </a:spcAft>
              <a:buNone/>
            </a:pPr>
            <a:r>
              <a:t/>
            </a:r>
            <a:endParaRPr>
              <a:latin typeface="Maven Pro"/>
              <a:ea typeface="Maven Pro"/>
              <a:cs typeface="Maven Pro"/>
              <a:sym typeface="Maven Pro"/>
            </a:endParaRPr>
          </a:p>
          <a:p>
            <a:pPr indent="0" lvl="0" marL="0" rtl="0" algn="l">
              <a:lnSpc>
                <a:spcPct val="100000"/>
              </a:lnSpc>
              <a:spcBef>
                <a:spcPts val="0"/>
              </a:spcBef>
              <a:spcAft>
                <a:spcPts val="0"/>
              </a:spcAft>
              <a:buNone/>
            </a:pPr>
            <a:r>
              <a:rPr lang="en">
                <a:latin typeface="Maven Pro"/>
                <a:ea typeface="Maven Pro"/>
                <a:cs typeface="Maven Pro"/>
                <a:sym typeface="Maven Pro"/>
              </a:rPr>
              <a:t>This will represent the distribution of positions across different tiers.</a:t>
            </a:r>
            <a:endParaRPr>
              <a:latin typeface="Maven Pro"/>
              <a:ea typeface="Maven Pro"/>
              <a:cs typeface="Maven Pro"/>
              <a:sym typeface="Maven Pro"/>
            </a:endParaRPr>
          </a:p>
        </p:txBody>
      </p:sp>
      <p:pic>
        <p:nvPicPr>
          <p:cNvPr id="491" name="Google Shape;491;p41"/>
          <p:cNvPicPr preferRelativeResize="0"/>
          <p:nvPr/>
        </p:nvPicPr>
        <p:blipFill>
          <a:blip r:embed="rId3">
            <a:alphaModFix/>
          </a:blip>
          <a:stretch>
            <a:fillRect/>
          </a:stretch>
        </p:blipFill>
        <p:spPr>
          <a:xfrm>
            <a:off x="5767375" y="731500"/>
            <a:ext cx="2982225" cy="4046050"/>
          </a:xfrm>
          <a:prstGeom prst="rect">
            <a:avLst/>
          </a:prstGeom>
          <a:noFill/>
          <a:ln>
            <a:noFill/>
          </a:ln>
        </p:spPr>
      </p:pic>
      <p:sp>
        <p:nvSpPr>
          <p:cNvPr id="492" name="Google Shape;492;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 Position Tier Analysis: continued </a:t>
            </a:r>
            <a:endParaRPr/>
          </a:p>
        </p:txBody>
      </p:sp>
      <p:pic>
        <p:nvPicPr>
          <p:cNvPr id="498" name="Google Shape;498;p42"/>
          <p:cNvPicPr preferRelativeResize="0"/>
          <p:nvPr/>
        </p:nvPicPr>
        <p:blipFill>
          <a:blip r:embed="rId3">
            <a:alphaModFix/>
          </a:blip>
          <a:stretch>
            <a:fillRect/>
          </a:stretch>
        </p:blipFill>
        <p:spPr>
          <a:xfrm>
            <a:off x="807513" y="1150525"/>
            <a:ext cx="7528975" cy="3840575"/>
          </a:xfrm>
          <a:prstGeom prst="rect">
            <a:avLst/>
          </a:prstGeom>
          <a:noFill/>
          <a:ln>
            <a:noFill/>
          </a:ln>
        </p:spPr>
      </p:pic>
      <p:sp>
        <p:nvSpPr>
          <p:cNvPr id="499" name="Google Shape;499;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 Position Tier Analysis: continued </a:t>
            </a:r>
            <a:endParaRPr/>
          </a:p>
        </p:txBody>
      </p:sp>
      <p:pic>
        <p:nvPicPr>
          <p:cNvPr id="505" name="Google Shape;505;p43"/>
          <p:cNvPicPr preferRelativeResize="0"/>
          <p:nvPr/>
        </p:nvPicPr>
        <p:blipFill>
          <a:blip r:embed="rId3">
            <a:alphaModFix/>
          </a:blip>
          <a:stretch>
            <a:fillRect/>
          </a:stretch>
        </p:blipFill>
        <p:spPr>
          <a:xfrm>
            <a:off x="863425" y="1465900"/>
            <a:ext cx="7417149" cy="3550050"/>
          </a:xfrm>
          <a:prstGeom prst="rect">
            <a:avLst/>
          </a:prstGeom>
          <a:noFill/>
          <a:ln>
            <a:noFill/>
          </a:ln>
        </p:spPr>
      </p:pic>
      <p:sp>
        <p:nvSpPr>
          <p:cNvPr id="506" name="Google Shape;506;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4"/>
          <p:cNvSpPr txBox="1"/>
          <p:nvPr>
            <p:ph type="title"/>
          </p:nvPr>
        </p:nvSpPr>
        <p:spPr>
          <a:xfrm>
            <a:off x="1303800" y="1771800"/>
            <a:ext cx="4536600" cy="237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solidFill>
                  <a:srgbClr val="3C4858"/>
                </a:solidFill>
                <a:highlight>
                  <a:srgbClr val="FFFFFF"/>
                </a:highlight>
                <a:latin typeface="Arial"/>
                <a:ea typeface="Arial"/>
                <a:cs typeface="Arial"/>
                <a:sym typeface="Arial"/>
              </a:rPr>
              <a:t>Project Report</a:t>
            </a:r>
            <a:endParaRPr sz="2700"/>
          </a:p>
        </p:txBody>
      </p:sp>
      <p:sp>
        <p:nvSpPr>
          <p:cNvPr id="512" name="Google Shape;512;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18" name="Google Shape;518;p4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SzPts val="1600"/>
              <a:buChar char="●"/>
            </a:pPr>
            <a:r>
              <a:rPr b="1" lang="en" sz="1600">
                <a:latin typeface="Maven Pro"/>
                <a:ea typeface="Maven Pro"/>
                <a:cs typeface="Maven Pro"/>
                <a:sym typeface="Maven Pro"/>
              </a:rPr>
              <a:t>Project Description</a:t>
            </a:r>
            <a:endParaRPr b="1" sz="1600">
              <a:latin typeface="Maven Pro"/>
              <a:ea typeface="Maven Pro"/>
              <a:cs typeface="Maven Pro"/>
              <a:sym typeface="Maven Pro"/>
            </a:endParaRPr>
          </a:p>
          <a:p>
            <a:pPr indent="0" lvl="0" marL="457200" rtl="0" algn="l">
              <a:lnSpc>
                <a:spcPct val="100000"/>
              </a:lnSpc>
              <a:spcBef>
                <a:spcPts val="0"/>
              </a:spcBef>
              <a:spcAft>
                <a:spcPts val="0"/>
              </a:spcAft>
              <a:buNone/>
            </a:pPr>
            <a:r>
              <a:t/>
            </a:r>
            <a:endParaRPr b="1" sz="1600">
              <a:latin typeface="Maven Pro"/>
              <a:ea typeface="Maven Pro"/>
              <a:cs typeface="Maven Pro"/>
              <a:sym typeface="Maven Pro"/>
            </a:endParaRPr>
          </a:p>
          <a:p>
            <a:pPr indent="-311150" lvl="0" marL="13716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This project aims to analyze the hiring process data of a multinational company or organization </a:t>
            </a:r>
            <a:endParaRPr>
              <a:latin typeface="Maven Pro"/>
              <a:ea typeface="Maven Pro"/>
              <a:cs typeface="Maven Pro"/>
              <a:sym typeface="Maven Pro"/>
            </a:endParaRPr>
          </a:p>
          <a:p>
            <a:pPr indent="-311150" lvl="0" marL="1371600" rtl="0" algn="l">
              <a:lnSpc>
                <a:spcPct val="100000"/>
              </a:lnSpc>
              <a:spcBef>
                <a:spcPts val="0"/>
              </a:spcBef>
              <a:spcAft>
                <a:spcPts val="0"/>
              </a:spcAft>
              <a:buSzPts val="1300"/>
              <a:buFont typeface="Maven Pro"/>
              <a:buChar char="●"/>
            </a:pPr>
            <a:r>
              <a:rPr lang="en">
                <a:latin typeface="Maven Pro"/>
                <a:ea typeface="Maven Pro"/>
                <a:cs typeface="Maven Pro"/>
                <a:sym typeface="Maven Pro"/>
              </a:rPr>
              <a:t>The objective is to draw meaningful insights from the data to help the hiring department improve its strategies and make better hiring decisions. </a:t>
            </a:r>
            <a:endParaRPr>
              <a:latin typeface="Maven Pro"/>
              <a:ea typeface="Maven Pro"/>
              <a:cs typeface="Maven Pro"/>
              <a:sym typeface="Maven Pro"/>
            </a:endParaRPr>
          </a:p>
          <a:p>
            <a:pPr indent="-311150" lvl="0" marL="1371600" rtl="0" algn="l">
              <a:lnSpc>
                <a:spcPct val="100000"/>
              </a:lnSpc>
              <a:spcBef>
                <a:spcPts val="0"/>
              </a:spcBef>
              <a:spcAft>
                <a:spcPts val="0"/>
              </a:spcAft>
              <a:buSzPts val="1300"/>
              <a:buFont typeface="Maven Pro"/>
              <a:buChar char="●"/>
            </a:pPr>
            <a:r>
              <a:rPr lang="en">
                <a:latin typeface="Maven Pro"/>
                <a:ea typeface="Maven Pro"/>
                <a:cs typeface="Maven Pro"/>
                <a:sym typeface="Maven Pro"/>
              </a:rPr>
              <a:t>Key areas of focus include understanding gender distribution among hires, analyzing salary trends, examining departmental hiring patterns, and assessing the distribution of positions within the company.</a:t>
            </a:r>
            <a:endParaRPr>
              <a:latin typeface="Maven Pro"/>
              <a:ea typeface="Maven Pro"/>
              <a:cs typeface="Maven Pro"/>
              <a:sym typeface="Maven Pro"/>
            </a:endParaRPr>
          </a:p>
        </p:txBody>
      </p:sp>
      <p:sp>
        <p:nvSpPr>
          <p:cNvPr id="519" name="Google Shape;519;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25" name="Google Shape;525;p46"/>
          <p:cNvSpPr txBox="1"/>
          <p:nvPr>
            <p:ph idx="1" type="body"/>
          </p:nvPr>
        </p:nvSpPr>
        <p:spPr>
          <a:xfrm>
            <a:off x="1303800" y="1990050"/>
            <a:ext cx="7191000" cy="27468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SzPts val="1600"/>
              <a:buFont typeface="Maven Pro"/>
              <a:buChar char="●"/>
            </a:pPr>
            <a:r>
              <a:rPr b="1" lang="en" sz="1600">
                <a:latin typeface="Maven Pro"/>
                <a:ea typeface="Maven Pro"/>
                <a:cs typeface="Maven Pro"/>
                <a:sym typeface="Maven Pro"/>
              </a:rPr>
              <a:t>Approach</a:t>
            </a:r>
            <a:endParaRPr b="1" sz="400">
              <a:latin typeface="Maven Pro"/>
              <a:ea typeface="Maven Pro"/>
              <a:cs typeface="Maven Pro"/>
              <a:sym typeface="Maven Pro"/>
            </a:endParaRPr>
          </a:p>
          <a:p>
            <a:pPr indent="0" lvl="0" marL="0" rtl="0" algn="l">
              <a:lnSpc>
                <a:spcPct val="100000"/>
              </a:lnSpc>
              <a:spcBef>
                <a:spcPts val="1000"/>
              </a:spcBef>
              <a:spcAft>
                <a:spcPts val="0"/>
              </a:spcAft>
              <a:buNone/>
            </a:pPr>
            <a:r>
              <a:rPr lang="en">
                <a:latin typeface="Maven Pro"/>
                <a:ea typeface="Maven Pro"/>
                <a:cs typeface="Maven Pro"/>
                <a:sym typeface="Maven Pro"/>
              </a:rPr>
              <a:t>After downloading the dataset and loading it into Excel, I started with the following steps:</a:t>
            </a:r>
            <a:endParaRPr>
              <a:latin typeface="Maven Pro"/>
              <a:ea typeface="Maven Pro"/>
              <a:cs typeface="Maven Pro"/>
              <a:sym typeface="Maven Pro"/>
            </a:endParaRPr>
          </a:p>
          <a:p>
            <a:pPr indent="-311150" lvl="0" marL="4572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Went through the complete data and saw that few values were missing i.e. data values were either blank or hyphenated So i filtered for these values and removed them</a:t>
            </a:r>
            <a:endParaRPr>
              <a:latin typeface="Maven Pro"/>
              <a:ea typeface="Maven Pro"/>
              <a:cs typeface="Maven Pro"/>
              <a:sym typeface="Maven Pro"/>
            </a:endParaRPr>
          </a:p>
          <a:p>
            <a:pPr indent="-311150" lvl="0" marL="4572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Preprocessed the data like combining two column to make a new column, etc</a:t>
            </a:r>
            <a:endParaRPr>
              <a:latin typeface="Maven Pro"/>
              <a:ea typeface="Maven Pro"/>
              <a:cs typeface="Maven Pro"/>
              <a:sym typeface="Maven Pro"/>
            </a:endParaRPr>
          </a:p>
          <a:p>
            <a:pPr indent="-311150" lvl="0" marL="4572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Attempted few visualizations in Excel and EDA using python to get to know the data more</a:t>
            </a:r>
            <a:endParaRPr>
              <a:latin typeface="Maven Pro"/>
              <a:ea typeface="Maven Pro"/>
              <a:cs typeface="Maven Pro"/>
              <a:sym typeface="Maven Pro"/>
            </a:endParaRPr>
          </a:p>
          <a:p>
            <a:pPr indent="-311150" lvl="0" marL="457200" rtl="0" algn="l">
              <a:lnSpc>
                <a:spcPct val="100000"/>
              </a:lnSpc>
              <a:spcBef>
                <a:spcPts val="1000"/>
              </a:spcBef>
              <a:spcAft>
                <a:spcPts val="1000"/>
              </a:spcAft>
              <a:buSzPts val="1300"/>
              <a:buFont typeface="Maven Pro"/>
              <a:buAutoNum type="arabicPeriod"/>
            </a:pPr>
            <a:r>
              <a:rPr lang="en">
                <a:latin typeface="Maven Pro"/>
                <a:ea typeface="Maven Pro"/>
                <a:cs typeface="Maven Pro"/>
                <a:sym typeface="Maven Pro"/>
              </a:rPr>
              <a:t>Performed Hiring and Salary Analysis as per task lists by solving each problem step by step, took help from Online Videos wherever required.</a:t>
            </a:r>
            <a:endParaRPr>
              <a:latin typeface="Maven Pro"/>
              <a:ea typeface="Maven Pro"/>
              <a:cs typeface="Maven Pro"/>
              <a:sym typeface="Maven Pro"/>
            </a:endParaRPr>
          </a:p>
        </p:txBody>
      </p:sp>
      <p:sp>
        <p:nvSpPr>
          <p:cNvPr id="526" name="Google Shape;526;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32" name="Google Shape;532;p4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SzPts val="1600"/>
              <a:buFont typeface="Maven Pro"/>
              <a:buChar char="●"/>
            </a:pPr>
            <a:r>
              <a:rPr b="1" lang="en" sz="1600">
                <a:latin typeface="Maven Pro"/>
                <a:ea typeface="Maven Pro"/>
                <a:cs typeface="Maven Pro"/>
                <a:sym typeface="Maven Pro"/>
              </a:rPr>
              <a:t>Tech-Stack Used</a:t>
            </a:r>
            <a:endParaRPr b="1" sz="1600">
              <a:latin typeface="Maven Pro"/>
              <a:ea typeface="Maven Pro"/>
              <a:cs typeface="Maven Pro"/>
              <a:sym typeface="Maven Pro"/>
            </a:endParaRPr>
          </a:p>
          <a:p>
            <a:pPr indent="0" lvl="0" marL="457200" rtl="0" algn="l">
              <a:lnSpc>
                <a:spcPct val="100000"/>
              </a:lnSpc>
              <a:spcBef>
                <a:spcPts val="0"/>
              </a:spcBef>
              <a:spcAft>
                <a:spcPts val="0"/>
              </a:spcAft>
              <a:buNone/>
            </a:pPr>
            <a:r>
              <a:t/>
            </a:r>
            <a:endParaRPr b="1" sz="1600">
              <a:latin typeface="Maven Pro"/>
              <a:ea typeface="Maven Pro"/>
              <a:cs typeface="Maven Pro"/>
              <a:sym typeface="Maven Pro"/>
            </a:endParaRPr>
          </a:p>
          <a:p>
            <a:pPr indent="-311150" lvl="0" marL="1371600" rtl="0" algn="l">
              <a:spcBef>
                <a:spcPts val="0"/>
              </a:spcBef>
              <a:spcAft>
                <a:spcPts val="0"/>
              </a:spcAft>
              <a:buSzPts val="1300"/>
              <a:buAutoNum type="arabicPeriod"/>
            </a:pPr>
            <a:r>
              <a:rPr lang="en"/>
              <a:t>WPS OFFICE version 12.2.0</a:t>
            </a:r>
            <a:endParaRPr/>
          </a:p>
          <a:p>
            <a:pPr indent="-311150" lvl="0" marL="1371600" rtl="0" algn="l">
              <a:spcBef>
                <a:spcPts val="0"/>
              </a:spcBef>
              <a:spcAft>
                <a:spcPts val="0"/>
              </a:spcAft>
              <a:buSzPts val="1300"/>
              <a:buAutoNum type="arabicPeriod"/>
            </a:pPr>
            <a:r>
              <a:rPr lang="en"/>
              <a:t>Python ver 3.7.4 - ipynb files</a:t>
            </a:r>
            <a:endParaRPr/>
          </a:p>
          <a:p>
            <a:pPr indent="-311150" lvl="0" marL="1371600" rtl="0" algn="l">
              <a:spcBef>
                <a:spcPts val="0"/>
              </a:spcBef>
              <a:spcAft>
                <a:spcPts val="0"/>
              </a:spcAft>
              <a:buSzPts val="1300"/>
              <a:buAutoNum type="arabicPeriod"/>
            </a:pPr>
            <a:r>
              <a:rPr lang="en"/>
              <a:t>Pandas, matplotlib libraries</a:t>
            </a:r>
            <a:endParaRPr/>
          </a:p>
          <a:p>
            <a:pPr indent="-311150" lvl="0" marL="1371600" rtl="0" algn="l">
              <a:spcBef>
                <a:spcPts val="0"/>
              </a:spcBef>
              <a:spcAft>
                <a:spcPts val="0"/>
              </a:spcAft>
              <a:buSzPts val="1300"/>
              <a:buAutoNum type="arabicPeriod"/>
            </a:pPr>
            <a:r>
              <a:rPr lang="en"/>
              <a:t>VSCode ver 1.91.0</a:t>
            </a:r>
            <a:endParaRPr/>
          </a:p>
          <a:p>
            <a:pPr indent="0" lvl="0" marL="1371600" rtl="0" algn="l">
              <a:spcBef>
                <a:spcPts val="1200"/>
              </a:spcBef>
              <a:spcAft>
                <a:spcPts val="1200"/>
              </a:spcAft>
              <a:buNone/>
            </a:pPr>
            <a:r>
              <a:rPr lang="en"/>
              <a:t>Jupyter-notebook link - </a:t>
            </a:r>
            <a:r>
              <a:rPr lang="en" u="sng">
                <a:solidFill>
                  <a:schemeClr val="hlink"/>
                </a:solidFill>
                <a:hlinkClick r:id="rId3"/>
              </a:rPr>
              <a:t>https://drive.google.com/file/d/1njlgEJP0HH3VWUWPUv3Q_JSVMdULJ69t/view?usp=sharing</a:t>
            </a:r>
            <a:r>
              <a:rPr lang="en"/>
              <a:t> </a:t>
            </a:r>
            <a:endParaRPr/>
          </a:p>
        </p:txBody>
      </p:sp>
      <p:sp>
        <p:nvSpPr>
          <p:cNvPr id="533" name="Google Shape;533;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39" name="Google Shape;539;p48"/>
          <p:cNvSpPr txBox="1"/>
          <p:nvPr>
            <p:ph idx="1" type="body"/>
          </p:nvPr>
        </p:nvSpPr>
        <p:spPr>
          <a:xfrm>
            <a:off x="1303800" y="1990050"/>
            <a:ext cx="7477200" cy="30543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SzPts val="1600"/>
              <a:buFont typeface="Maven Pro"/>
              <a:buChar char="●"/>
            </a:pPr>
            <a:r>
              <a:rPr b="1" lang="en" sz="1600">
                <a:latin typeface="Maven Pro"/>
                <a:ea typeface="Maven Pro"/>
                <a:cs typeface="Maven Pro"/>
                <a:sym typeface="Maven Pro"/>
              </a:rPr>
              <a:t>Insights</a:t>
            </a:r>
            <a:endParaRPr b="1" sz="1600">
              <a:latin typeface="Maven Pro"/>
              <a:ea typeface="Maven Pro"/>
              <a:cs typeface="Maven Pro"/>
              <a:sym typeface="Maven Pro"/>
            </a:endParaRPr>
          </a:p>
          <a:p>
            <a:pPr indent="-311150" lvl="0" marL="1371600" rtl="0" algn="l">
              <a:lnSpc>
                <a:spcPct val="100000"/>
              </a:lnSpc>
              <a:spcBef>
                <a:spcPts val="1000"/>
              </a:spcBef>
              <a:spcAft>
                <a:spcPts val="0"/>
              </a:spcAft>
              <a:buSzPts val="1300"/>
              <a:buAutoNum type="arabicPeriod"/>
            </a:pPr>
            <a:r>
              <a:rPr lang="en">
                <a:latin typeface="Maven Pro"/>
                <a:ea typeface="Maven Pro"/>
                <a:cs typeface="Maven Pro"/>
                <a:sym typeface="Maven Pro"/>
              </a:rPr>
              <a:t>The analysis revealed a balanced gender distribution among hires. There were no significant biases toward any gender, indicating that the company's hiring practices are equitable in terms of gender.</a:t>
            </a:r>
            <a:endParaRPr>
              <a:latin typeface="Maven Pro"/>
              <a:ea typeface="Maven Pro"/>
              <a:cs typeface="Maven Pro"/>
              <a:sym typeface="Maven Pro"/>
            </a:endParaRPr>
          </a:p>
          <a:p>
            <a:pPr indent="-311150" lvl="0" marL="13716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The average salary offered by the company was calculated, providing a benchmark for evaluating the company's compensation structure. This helps in understanding whether the company offers competitive salaries compared to industry standards.</a:t>
            </a:r>
            <a:endParaRPr>
              <a:latin typeface="Maven Pro"/>
              <a:ea typeface="Maven Pro"/>
              <a:cs typeface="Maven Pro"/>
              <a:sym typeface="Maven Pro"/>
            </a:endParaRPr>
          </a:p>
          <a:p>
            <a:pPr indent="-323850" lvl="0" marL="1371600" rtl="0" algn="l">
              <a:lnSpc>
                <a:spcPct val="100000"/>
              </a:lnSpc>
              <a:spcBef>
                <a:spcPts val="1000"/>
              </a:spcBef>
              <a:spcAft>
                <a:spcPts val="1000"/>
              </a:spcAft>
              <a:buSzPts val="1500"/>
              <a:buFont typeface="Maven Pro"/>
              <a:buAutoNum type="arabicPeriod"/>
            </a:pPr>
            <a:r>
              <a:rPr lang="en">
                <a:solidFill>
                  <a:srgbClr val="000000"/>
                </a:solidFill>
                <a:latin typeface="Maven Pro"/>
                <a:ea typeface="Maven Pro"/>
                <a:cs typeface="Maven Pro"/>
                <a:sym typeface="Maven Pro"/>
              </a:rPr>
              <a:t>The salary distribution analysis showed that most salaries fall within a specific range, with a few outliers at the higher end. This indicates that while the company generally offers competitive salaries, there are instances of significantly higher salaries, likely for senior or specialized roles.</a:t>
            </a:r>
            <a:endParaRPr sz="1500">
              <a:latin typeface="Maven Pro"/>
              <a:ea typeface="Maven Pro"/>
              <a:cs typeface="Maven Pro"/>
              <a:sym typeface="Maven Pro"/>
            </a:endParaRPr>
          </a:p>
        </p:txBody>
      </p:sp>
      <p:sp>
        <p:nvSpPr>
          <p:cNvPr id="540" name="Google Shape;540;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46" name="Google Shape;546;p49"/>
          <p:cNvSpPr txBox="1"/>
          <p:nvPr>
            <p:ph idx="1" type="body"/>
          </p:nvPr>
        </p:nvSpPr>
        <p:spPr>
          <a:xfrm>
            <a:off x="1303800" y="1990050"/>
            <a:ext cx="7308900" cy="3045900"/>
          </a:xfrm>
          <a:prstGeom prst="rect">
            <a:avLst/>
          </a:prstGeom>
        </p:spPr>
        <p:txBody>
          <a:bodyPr anchorCtr="0" anchor="t" bIns="91425" lIns="91425" spcFirstLastPara="1" rIns="91425" wrap="square" tIns="91425">
            <a:normAutofit lnSpcReduction="10000"/>
          </a:bodyPr>
          <a:lstStyle/>
          <a:p>
            <a:pPr indent="-330200" lvl="0" marL="457200" rtl="0" algn="l">
              <a:lnSpc>
                <a:spcPct val="100000"/>
              </a:lnSpc>
              <a:spcBef>
                <a:spcPts val="0"/>
              </a:spcBef>
              <a:spcAft>
                <a:spcPts val="0"/>
              </a:spcAft>
              <a:buSzPts val="1600"/>
              <a:buFont typeface="Maven Pro"/>
              <a:buChar char="●"/>
            </a:pPr>
            <a:r>
              <a:rPr b="1" lang="en" sz="1600">
                <a:latin typeface="Maven Pro"/>
                <a:ea typeface="Maven Pro"/>
                <a:cs typeface="Maven Pro"/>
                <a:sym typeface="Maven Pro"/>
              </a:rPr>
              <a:t>Insights continued</a:t>
            </a:r>
            <a:endParaRPr b="1" sz="1600">
              <a:latin typeface="Maven Pro"/>
              <a:ea typeface="Maven Pro"/>
              <a:cs typeface="Maven Pro"/>
              <a:sym typeface="Maven Pro"/>
            </a:endParaRPr>
          </a:p>
          <a:p>
            <a:pPr indent="-311150" lvl="0" marL="1371600" rtl="0" algn="l">
              <a:lnSpc>
                <a:spcPct val="100000"/>
              </a:lnSpc>
              <a:spcBef>
                <a:spcPts val="1000"/>
              </a:spcBef>
              <a:spcAft>
                <a:spcPts val="0"/>
              </a:spcAft>
              <a:buSzPts val="1300"/>
              <a:buAutoNum type="arabicPeriod"/>
            </a:pPr>
            <a:r>
              <a:rPr lang="en">
                <a:latin typeface="Maven Pro"/>
                <a:ea typeface="Maven Pro"/>
                <a:cs typeface="Maven Pro"/>
                <a:sym typeface="Maven Pro"/>
              </a:rPr>
              <a:t>Outliers - The box plot identifies outliers in the salary data, which were mostly associated with high-salary positions. These outliers were expected and justified based on the roles and experience levels.</a:t>
            </a:r>
            <a:endParaRPr>
              <a:latin typeface="Maven Pro"/>
              <a:ea typeface="Maven Pro"/>
              <a:cs typeface="Maven Pro"/>
              <a:sym typeface="Maven Pro"/>
            </a:endParaRPr>
          </a:p>
          <a:p>
            <a:pPr indent="-311150" lvl="0" marL="13716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The departmental analysis highlighted which departments have higher hiring rates and which face more rejections. Departments like Operations and Service had the highest hiring rates, indicating robust growth or high turnover in these areas.</a:t>
            </a:r>
            <a:endParaRPr>
              <a:latin typeface="Maven Pro"/>
              <a:ea typeface="Maven Pro"/>
              <a:cs typeface="Maven Pro"/>
              <a:sym typeface="Maven Pro"/>
            </a:endParaRPr>
          </a:p>
          <a:p>
            <a:pPr indent="-323850" lvl="0" marL="1371600" rtl="0" algn="l">
              <a:lnSpc>
                <a:spcPct val="100000"/>
              </a:lnSpc>
              <a:spcBef>
                <a:spcPts val="1000"/>
              </a:spcBef>
              <a:spcAft>
                <a:spcPts val="1000"/>
              </a:spcAft>
              <a:buSzPts val="1500"/>
              <a:buFont typeface="Maven Pro"/>
              <a:buAutoNum type="arabicPeriod"/>
            </a:pPr>
            <a:r>
              <a:rPr lang="en">
                <a:solidFill>
                  <a:srgbClr val="000000"/>
                </a:solidFill>
                <a:latin typeface="Maven Pro"/>
                <a:ea typeface="Maven Pro"/>
                <a:cs typeface="Maven Pro"/>
                <a:sym typeface="Maven Pro"/>
              </a:rPr>
              <a:t>The position tier analysis revealed the distribution of hires across various levels, from entry-level to senior positions. This insight helps understand the company's hiring focus, whether it is more inclined towards bringing in fresh talent or hiring experienced professionals.</a:t>
            </a:r>
            <a:endParaRPr sz="1500">
              <a:latin typeface="Maven Pro"/>
              <a:ea typeface="Maven Pro"/>
              <a:cs typeface="Maven Pro"/>
              <a:sym typeface="Maven Pro"/>
            </a:endParaRPr>
          </a:p>
        </p:txBody>
      </p:sp>
      <p:sp>
        <p:nvSpPr>
          <p:cNvPr id="547" name="Google Shape;547;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53" name="Google Shape;553;p50"/>
          <p:cNvSpPr txBox="1"/>
          <p:nvPr>
            <p:ph idx="1" type="body"/>
          </p:nvPr>
        </p:nvSpPr>
        <p:spPr>
          <a:xfrm>
            <a:off x="1303800" y="1990050"/>
            <a:ext cx="7401300" cy="3003600"/>
          </a:xfrm>
          <a:prstGeom prst="rect">
            <a:avLst/>
          </a:prstGeom>
        </p:spPr>
        <p:txBody>
          <a:bodyPr anchorCtr="0" anchor="t" bIns="91425" lIns="91425" spcFirstLastPara="1" rIns="91425" wrap="square" tIns="91425">
            <a:normAutofit lnSpcReduction="20000"/>
          </a:bodyPr>
          <a:lstStyle/>
          <a:p>
            <a:pPr indent="-330200" lvl="0" marL="457200" rtl="0" algn="l">
              <a:lnSpc>
                <a:spcPct val="100000"/>
              </a:lnSpc>
              <a:spcBef>
                <a:spcPts val="0"/>
              </a:spcBef>
              <a:spcAft>
                <a:spcPts val="0"/>
              </a:spcAft>
              <a:buSzPts val="1600"/>
              <a:buFont typeface="Maven Pro"/>
              <a:buChar char="●"/>
            </a:pPr>
            <a:r>
              <a:rPr b="1" lang="en" sz="1600">
                <a:latin typeface="Maven Pro"/>
                <a:ea typeface="Maven Pro"/>
                <a:cs typeface="Maven Pro"/>
                <a:sym typeface="Maven Pro"/>
              </a:rPr>
              <a:t>Results</a:t>
            </a:r>
            <a:endParaRPr b="1" sz="1600">
              <a:latin typeface="Maven Pro"/>
              <a:ea typeface="Maven Pro"/>
              <a:cs typeface="Maven Pro"/>
              <a:sym typeface="Maven Pro"/>
            </a:endParaRPr>
          </a:p>
          <a:p>
            <a:pPr indent="-311150" lvl="0" marL="1371600" rtl="0" algn="l">
              <a:lnSpc>
                <a:spcPct val="100000"/>
              </a:lnSpc>
              <a:spcBef>
                <a:spcPts val="1000"/>
              </a:spcBef>
              <a:spcAft>
                <a:spcPts val="0"/>
              </a:spcAft>
              <a:buSzPts val="1300"/>
              <a:buAutoNum type="arabicPeriod"/>
            </a:pPr>
            <a:r>
              <a:rPr lang="en">
                <a:latin typeface="Maven Pro"/>
                <a:ea typeface="Maven Pro"/>
                <a:cs typeface="Maven Pro"/>
                <a:sym typeface="Maven Pro"/>
              </a:rPr>
              <a:t>The gender analysis showed a balanced hiring practice, suggesting the company is committed to diversity and inclusion</a:t>
            </a:r>
            <a:endParaRPr>
              <a:latin typeface="Maven Pro"/>
              <a:ea typeface="Maven Pro"/>
              <a:cs typeface="Maven Pro"/>
              <a:sym typeface="Maven Pro"/>
            </a:endParaRPr>
          </a:p>
          <a:p>
            <a:pPr indent="-311150" lvl="0" marL="1371600" rtl="0" algn="l">
              <a:lnSpc>
                <a:spcPct val="100000"/>
              </a:lnSpc>
              <a:spcBef>
                <a:spcPts val="1000"/>
              </a:spcBef>
              <a:spcAft>
                <a:spcPts val="0"/>
              </a:spcAft>
              <a:buSzPts val="1300"/>
              <a:buFont typeface="Maven Pro"/>
              <a:buAutoNum type="arabicPeriod"/>
            </a:pPr>
            <a:r>
              <a:rPr lang="en">
                <a:latin typeface="Maven Pro"/>
                <a:ea typeface="Maven Pro"/>
                <a:cs typeface="Maven Pro"/>
                <a:sym typeface="Maven Pro"/>
              </a:rPr>
              <a:t>The average salary analysis indicated that the company offers competitive compensation, which is crucial for attracting and retaining top talent</a:t>
            </a:r>
            <a:endParaRPr>
              <a:latin typeface="Maven Pro"/>
              <a:ea typeface="Maven Pro"/>
              <a:cs typeface="Maven Pro"/>
              <a:sym typeface="Maven Pro"/>
            </a:endParaRPr>
          </a:p>
          <a:p>
            <a:pPr indent="-323850" lvl="0" marL="1371600" rtl="0" algn="l">
              <a:lnSpc>
                <a:spcPct val="100000"/>
              </a:lnSpc>
              <a:spcBef>
                <a:spcPts val="1000"/>
              </a:spcBef>
              <a:spcAft>
                <a:spcPts val="0"/>
              </a:spcAft>
              <a:buSzPts val="1500"/>
              <a:buFont typeface="Maven Pro"/>
              <a:buAutoNum type="arabicPeriod"/>
            </a:pPr>
            <a:r>
              <a:rPr lang="en">
                <a:solidFill>
                  <a:srgbClr val="000000"/>
                </a:solidFill>
                <a:latin typeface="Maven Pro"/>
                <a:ea typeface="Maven Pro"/>
                <a:cs typeface="Maven Pro"/>
                <a:sym typeface="Maven Pro"/>
              </a:rPr>
              <a:t>The high hiring rates in departments like Operations and Engineering suggest a strategic focus on these areas, possibly due to business expansion or high project demands</a:t>
            </a:r>
            <a:endParaRPr>
              <a:solidFill>
                <a:srgbClr val="000000"/>
              </a:solidFill>
              <a:latin typeface="Maven Pro"/>
              <a:ea typeface="Maven Pro"/>
              <a:cs typeface="Maven Pro"/>
              <a:sym typeface="Maven Pro"/>
            </a:endParaRPr>
          </a:p>
          <a:p>
            <a:pPr indent="-311150" lvl="0" marL="1371600" rtl="0" algn="l">
              <a:lnSpc>
                <a:spcPct val="100000"/>
              </a:lnSpc>
              <a:spcBef>
                <a:spcPts val="1000"/>
              </a:spcBef>
              <a:spcAft>
                <a:spcPts val="0"/>
              </a:spcAft>
              <a:buClr>
                <a:srgbClr val="000000"/>
              </a:buClr>
              <a:buSzPts val="1300"/>
              <a:buFont typeface="Maven Pro"/>
              <a:buAutoNum type="arabicPeriod"/>
            </a:pPr>
            <a:r>
              <a:rPr lang="en">
                <a:solidFill>
                  <a:srgbClr val="000000"/>
                </a:solidFill>
                <a:latin typeface="Maven Pro"/>
                <a:ea typeface="Maven Pro"/>
                <a:cs typeface="Maven Pro"/>
                <a:sym typeface="Maven Pro"/>
              </a:rPr>
              <a:t>Understanding the distribution across different position tiers helps in workforce planning and career progression mapping for employees.</a:t>
            </a:r>
            <a:endParaRPr>
              <a:solidFill>
                <a:srgbClr val="000000"/>
              </a:solidFill>
              <a:latin typeface="Maven Pro"/>
              <a:ea typeface="Maven Pro"/>
              <a:cs typeface="Maven Pro"/>
              <a:sym typeface="Maven Pro"/>
            </a:endParaRPr>
          </a:p>
          <a:p>
            <a:pPr indent="-311150" lvl="0" marL="1371600" rtl="0" algn="l">
              <a:lnSpc>
                <a:spcPct val="100000"/>
              </a:lnSpc>
              <a:spcBef>
                <a:spcPts val="1000"/>
              </a:spcBef>
              <a:spcAft>
                <a:spcPts val="1000"/>
              </a:spcAft>
              <a:buClr>
                <a:srgbClr val="000000"/>
              </a:buClr>
              <a:buSzPts val="1300"/>
              <a:buFont typeface="Maven Pro"/>
              <a:buAutoNum type="arabicPeriod"/>
            </a:pPr>
            <a:r>
              <a:rPr lang="en">
                <a:solidFill>
                  <a:srgbClr val="000000"/>
                </a:solidFill>
                <a:latin typeface="Maven Pro"/>
                <a:ea typeface="Maven Pro"/>
                <a:cs typeface="Maven Pro"/>
                <a:sym typeface="Maven Pro"/>
              </a:rPr>
              <a:t>Identifying outliers helps in understanding salary anomalies and ensuring they are justified by the role's requirements and market standards.</a:t>
            </a:r>
            <a:endParaRPr>
              <a:solidFill>
                <a:srgbClr val="000000"/>
              </a:solidFill>
              <a:latin typeface="Maven Pro"/>
              <a:ea typeface="Maven Pro"/>
              <a:cs typeface="Maven Pro"/>
              <a:sym typeface="Maven Pro"/>
            </a:endParaRPr>
          </a:p>
        </p:txBody>
      </p:sp>
      <p:sp>
        <p:nvSpPr>
          <p:cNvPr id="554" name="Google Shape;554;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560" name="Google Shape;560;p51"/>
          <p:cNvSpPr txBox="1"/>
          <p:nvPr>
            <p:ph idx="1" type="body"/>
          </p:nvPr>
        </p:nvSpPr>
        <p:spPr>
          <a:xfrm>
            <a:off x="1303800" y="1990050"/>
            <a:ext cx="6509100" cy="2633400"/>
          </a:xfrm>
          <a:prstGeom prst="rect">
            <a:avLst/>
          </a:prstGeom>
        </p:spPr>
        <p:txBody>
          <a:bodyPr anchorCtr="0" anchor="t" bIns="91425" lIns="91425" spcFirstLastPara="1" rIns="91425" wrap="square" tIns="91425">
            <a:normAutofit/>
          </a:bodyPr>
          <a:lstStyle/>
          <a:p>
            <a:pPr indent="-311150" lvl="0" marL="457200" rtl="0" algn="l">
              <a:spcBef>
                <a:spcPts val="1400"/>
              </a:spcBef>
              <a:spcAft>
                <a:spcPts val="0"/>
              </a:spcAft>
              <a:buClr>
                <a:srgbClr val="000000"/>
              </a:buClr>
              <a:buSzPts val="1300"/>
              <a:buFont typeface="Maven Pro"/>
              <a:buChar char="●"/>
            </a:pPr>
            <a:r>
              <a:rPr b="1" lang="en">
                <a:solidFill>
                  <a:srgbClr val="000000"/>
                </a:solidFill>
                <a:latin typeface="Maven Pro"/>
                <a:ea typeface="Maven Pro"/>
                <a:cs typeface="Maven Pro"/>
                <a:sym typeface="Maven Pro"/>
              </a:rPr>
              <a:t>Conclusion:</a:t>
            </a:r>
            <a:endParaRPr b="1">
              <a:solidFill>
                <a:srgbClr val="000000"/>
              </a:solidFill>
              <a:latin typeface="Maven Pro"/>
              <a:ea typeface="Maven Pro"/>
              <a:cs typeface="Maven Pro"/>
              <a:sym typeface="Maven Pro"/>
            </a:endParaRPr>
          </a:p>
          <a:p>
            <a:pPr indent="0" lvl="0" marL="0" rtl="0" algn="l">
              <a:spcBef>
                <a:spcPts val="1200"/>
              </a:spcBef>
              <a:spcAft>
                <a:spcPts val="1200"/>
              </a:spcAft>
              <a:buNone/>
            </a:pPr>
            <a:r>
              <a:rPr lang="en">
                <a:solidFill>
                  <a:srgbClr val="000000"/>
                </a:solidFill>
                <a:latin typeface="Maven Pro"/>
                <a:ea typeface="Maven Pro"/>
                <a:cs typeface="Maven Pro"/>
                <a:sym typeface="Maven Pro"/>
              </a:rPr>
              <a:t>The project provided valuable insights into the company's hiring process. Key findings highlighted a balanced gender distribution, competitive salaries, and a strategic focus on certain departments. The analysis also identified outliers in salary data, which are crucial for ensuring fair compensation practices. These insights can help the hiring department refine their strategies, improve hiring efficiency, and support the company's growth objectives.</a:t>
            </a:r>
            <a:endParaRPr b="1" sz="2800">
              <a:latin typeface="Maven Pro"/>
              <a:ea typeface="Maven Pro"/>
              <a:cs typeface="Maven Pro"/>
              <a:sym typeface="Maven Pro"/>
            </a:endParaRPr>
          </a:p>
        </p:txBody>
      </p:sp>
      <p:sp>
        <p:nvSpPr>
          <p:cNvPr id="561" name="Google Shape;561;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
        <p:nvSpPr>
          <p:cNvPr id="567" name="Google Shape;567;p5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Gayatri Palkar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